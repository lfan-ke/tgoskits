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4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5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6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7A859C"/>
                </a:solidFill>
                <a:latin typeface="HarmonyOS Sans SC"/>
              </a:defRPr>
            </a:pPr>
            <a:r>
              <a:rPr sz="1200" b="0" i="0" u="none" strike="noStrike">
                <a:solidFill>
                  <a:srgbClr val="7A859C"/>
                </a:solidFill>
                <a:latin typeface="HarmonyOS Sans SC"/>
              </a:rPr>
              <a:t>单次往返（µs）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µs</c:v>
                </c:pt>
              </c:strCache>
            </c:strRef>
          </c:tx>
          <c:spPr>
            <a:solidFill>
              <a:srgbClr val="E2604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340"/>
                    </a:solidFill>
                    <a:latin typeface="JetBrains Mon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2604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A89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A859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修复前</c:v>
                  </c:pt>
                  <c:pt idx="1">
                    <c:v>修复后</c:v>
                  </c:pt>
                  <c:pt idx="2">
                    <c:v>Linux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415.7</c:v>
                </c:pt>
                <c:pt idx="1">
                  <c:v>129.9</c:v>
                </c:pt>
                <c:pt idx="2">
                  <c:v>34.3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B2340"/>
                  </a:solidFill>
                  <a:latin typeface="JetBrains Mon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340"/>
                </a:solidFill>
                <a:latin typeface="HarmonyOS Sans S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7A859C"/>
                </a:solidFill>
                <a:latin typeface="HarmonyOS Sans SC"/>
              </a:defRPr>
            </a:pPr>
            <a:r>
              <a:rPr sz="1200" b="0" i="0" u="none" strike="noStrike">
                <a:solidFill>
                  <a:srgbClr val="7A859C"/>
                </a:solidFill>
                <a:latin typeface="HarmonyOS Sans SC"/>
              </a:rPr>
              <a:t>单次等待（µs）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µs</c:v>
                </c:pt>
              </c:strCache>
            </c:strRef>
          </c:tx>
          <c:spPr>
            <a:solidFill>
              <a:srgbClr val="E2604F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340"/>
                    </a:solidFill>
                    <a:latin typeface="JetBrains Mon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2604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A89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A859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修复前</c:v>
                  </c:pt>
                  <c:pt idx="1">
                    <c:v>修复后</c:v>
                  </c:pt>
                  <c:pt idx="2">
                    <c:v>Linux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499.9</c:v>
                </c:pt>
                <c:pt idx="1">
                  <c:v>37</c:v>
                </c:pt>
                <c:pt idx="2">
                  <c:v>0.56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B2340"/>
                  </a:solidFill>
                  <a:latin typeface="JetBrains Mon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340"/>
                </a:solidFill>
                <a:latin typeface="HarmonyOS Sans S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7A859C"/>
                </a:solidFill>
                <a:latin typeface="HarmonyOS Sans SC"/>
              </a:defRPr>
            </a:pPr>
            <a:r>
              <a:rPr sz="1200" b="0" i="0" u="none" strike="noStrike">
                <a:solidFill>
                  <a:srgbClr val="7A859C"/>
                </a:solidFill>
                <a:latin typeface="HarmonyOS Sans SC"/>
              </a:rPr>
              <a:t>单次 fork（ms）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ms</c:v>
                </c:pt>
              </c:strCache>
            </c:strRef>
          </c:tx>
          <c:spPr>
            <a:solidFill>
              <a:srgbClr val="E2604F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340"/>
                    </a:solidFill>
                    <a:latin typeface="JetBrains Mon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2604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A89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A859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修复前</c:v>
                  </c:pt>
                  <c:pt idx="1">
                    <c:v>修复后</c:v>
                  </c:pt>
                  <c:pt idx="2">
                    <c:v>Linux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84.5</c:v>
                </c:pt>
                <c:pt idx="1">
                  <c:v>14</c:v>
                </c:pt>
                <c:pt idx="2">
                  <c:v>0.17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B2340"/>
                  </a:solidFill>
                  <a:latin typeface="JetBrains Mon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340"/>
                </a:solidFill>
                <a:latin typeface="HarmonyOS Sans S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7A859C"/>
                </a:solidFill>
                <a:latin typeface="HarmonyOS Sans SC"/>
              </a:defRPr>
            </a:pPr>
            <a:r>
              <a:rPr sz="1200" b="0" i="0" u="none" strike="noStrike">
                <a:solidFill>
                  <a:srgbClr val="7A859C"/>
                </a:solidFill>
                <a:latin typeface="HarmonyOS Sans SC"/>
              </a:rPr>
              <a:t>单次 open 加 close（µs）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µs</c:v>
                </c:pt>
              </c:strCache>
            </c:strRef>
          </c:tx>
          <c:spPr>
            <a:solidFill>
              <a:srgbClr val="E2604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340"/>
                    </a:solidFill>
                    <a:latin typeface="JetBrains Mon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2604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A89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A859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修复前</c:v>
                  </c:pt>
                  <c:pt idx="1">
                    <c:v>修复后</c:v>
                  </c:pt>
                  <c:pt idx="2">
                    <c:v>Linux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19.8</c:v>
                </c:pt>
                <c:pt idx="1">
                  <c:v>3.2</c:v>
                </c:pt>
                <c:pt idx="2">
                  <c:v>2.3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B2340"/>
                  </a:solidFill>
                  <a:latin typeface="JetBrains Mon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340"/>
                </a:solidFill>
                <a:latin typeface="HarmonyOS Sans S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7A859C"/>
                </a:solidFill>
                <a:latin typeface="HarmonyOS Sans SC"/>
              </a:defRPr>
            </a:pPr>
            <a:r>
              <a:rPr sz="1200" b="0" i="0" u="none" strike="noStrike">
                <a:solidFill>
                  <a:srgbClr val="7A859C"/>
                </a:solidFill>
                <a:latin typeface="HarmonyOS Sans SC"/>
              </a:rPr>
              <a:t>单次 mmap（µs）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µs</c:v>
                </c:pt>
              </c:strCache>
            </c:strRef>
          </c:tx>
          <c:spPr>
            <a:solidFill>
              <a:srgbClr val="E2604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340"/>
                    </a:solidFill>
                    <a:latin typeface="JetBrains Mon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2604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A89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A859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修复前</c:v>
                  </c:pt>
                  <c:pt idx="1">
                    <c:v>修复后</c:v>
                  </c:pt>
                  <c:pt idx="2">
                    <c:v>Linux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246.1</c:v>
                </c:pt>
                <c:pt idx="1">
                  <c:v>207.3</c:v>
                </c:pt>
                <c:pt idx="2">
                  <c:v>4.4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B2340"/>
                  </a:solidFill>
                  <a:latin typeface="JetBrains Mon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340"/>
                </a:solidFill>
                <a:latin typeface="HarmonyOS Sans S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7A859C"/>
                </a:solidFill>
                <a:latin typeface="HarmonyOS Sans SC"/>
              </a:defRPr>
            </a:pPr>
            <a:r>
              <a:rPr sz="1200" b="0" i="0" u="none" strike="noStrike">
                <a:solidFill>
                  <a:srgbClr val="7A859C"/>
                </a:solidFill>
                <a:latin typeface="HarmonyOS Sans SC"/>
              </a:rPr>
              <a:t>启动到导航（秒，3 轮均值）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秒</c:v>
                </c:pt>
              </c:strCache>
            </c:strRef>
          </c:tx>
          <c:spPr>
            <a:solidFill>
              <a:srgbClr val="E2604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2340"/>
                    </a:solidFill>
                    <a:latin typeface="JetBrains Mon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2604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A89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A859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09.16</c:v>
                  </c:pt>
                  <c:pt idx="1">
                    <c:v>09.28</c:v>
                  </c:pt>
                  <c:pt idx="2">
                    <c:v>Linux 6.12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59.2</c:v>
                </c:pt>
                <c:pt idx="1">
                  <c:v>42.4</c:v>
                </c:pt>
                <c:pt idx="2">
                  <c:v>22.5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B2340"/>
                  </a:solidFill>
                  <a:latin typeface="JetBrains Mon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2340"/>
                </a:solidFill>
                <a:latin typeface="HarmonyOS Sans S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1005840"/>
            <a:ext cx="2011680" cy="2011680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881360" y="2926080"/>
            <a:ext cx="640080" cy="640080"/>
          </a:xfrm>
          <a:prstGeom prst="star4">
            <a:avLst/>
          </a:prstGeom>
          <a:solidFill>
            <a:srgbClr val="C9D2EA"/>
          </a:solidFill>
          <a:ln w="12700">
            <a:solidFill>
              <a:srgbClr val="C9D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138160" y="3291840"/>
            <a:ext cx="365760" cy="365760"/>
          </a:xfrm>
          <a:prstGeom prst="star4">
            <a:avLst/>
          </a:prstGeom>
          <a:solidFill>
            <a:srgbClr val="C9D2EA"/>
          </a:solidFill>
          <a:ln w="12700">
            <a:solidFill>
              <a:srgbClr val="C9D2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0" y="4206240"/>
            <a:ext cx="274320" cy="274320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9456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48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StarryOS 实习总结</a:t>
            </a:r>
            <a:endParaRPr lang="zh-CN" sz="4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dirty="0">
                <a:solidFill>
                  <a:srgbClr val="C9D2EA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应用测试 · 浏览器对照 Linux · Personality</a:t>
            </a:r>
            <a:endParaRPr lang="zh-CN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53949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C9D2EA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程柯雷　2026.07.07 – 2026.10</a:t>
            </a:r>
            <a:endParaRPr lang="zh-CN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概览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三个月，三段工作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endParaRPr lang="zh-CN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48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82</a:t>
            </a:r>
            <a:endParaRPr lang="zh-CN" sz="4800" dirty="0"/>
          </a:p>
        </p:txBody>
      </p:sp>
      <p:sp>
        <p:nvSpPr>
          <p:cNvPr id="7" name="Text 5"/>
          <p:cNvSpPr/>
          <p:nvPr/>
        </p:nvSpPr>
        <p:spPr>
          <a:xfrm>
            <a:off x="640080" y="2651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提交的 PR</a:t>
            </a:r>
            <a:endParaRPr lang="zh-CN" sz="1400" dirty="0"/>
          </a:p>
        </p:txBody>
      </p:sp>
      <p:sp>
        <p:nvSpPr>
          <p:cNvPr id="8" name="Text 6"/>
          <p:cNvSpPr/>
          <p:nvPr/>
        </p:nvSpPr>
        <p:spPr>
          <a:xfrm>
            <a:off x="2468880" y="178308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48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34</a:t>
            </a:r>
            <a:endParaRPr lang="zh-CN" sz="4800" dirty="0"/>
          </a:p>
        </p:txBody>
      </p:sp>
      <p:sp>
        <p:nvSpPr>
          <p:cNvPr id="9" name="Text 7"/>
          <p:cNvSpPr/>
          <p:nvPr/>
        </p:nvSpPr>
        <p:spPr>
          <a:xfrm>
            <a:off x="2468880" y="2651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已合入</a:t>
            </a:r>
            <a:endParaRPr lang="zh-CN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178308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48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zh-CN" sz="4800" dirty="0"/>
          </a:p>
        </p:txBody>
      </p:sp>
      <p:sp>
        <p:nvSpPr>
          <p:cNvPr id="11" name="Text 9"/>
          <p:cNvSpPr/>
          <p:nvPr/>
        </p:nvSpPr>
        <p:spPr>
          <a:xfrm>
            <a:off x="4297680" y="2651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评审中</a:t>
            </a:r>
            <a:endParaRPr lang="zh-CN" sz="1400" dirty="0"/>
          </a:p>
        </p:txBody>
      </p:sp>
      <p:sp>
        <p:nvSpPr>
          <p:cNvPr id="12" name="Text 10"/>
          <p:cNvSpPr/>
          <p:nvPr/>
        </p:nvSpPr>
        <p:spPr>
          <a:xfrm>
            <a:off x="6766560" y="1874520"/>
            <a:ext cx="47850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只讲 07.07 实习开始后提交的工作。其余多为计算与渲染用例，不验证内核语义，已撤下。</a:t>
            </a:r>
            <a:endParaRPr lang="zh-CN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3474720"/>
            <a:ext cx="2036003" cy="2514600"/>
          </a:xfrm>
          <a:prstGeom prst="roundRect">
            <a:avLst>
              <a:gd name="adj" fmla="val 5389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3675888"/>
            <a:ext cx="868680" cy="310896"/>
          </a:xfrm>
          <a:prstGeom prst="roundRect">
            <a:avLst>
              <a:gd name="adj" fmla="val 23529"/>
            </a:avLst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67588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0B1437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7 月</a:t>
            </a:r>
            <a:endParaRPr lang="zh-CN" sz="1100" dirty="0"/>
          </a:p>
        </p:txBody>
      </p:sp>
      <p:sp>
        <p:nvSpPr>
          <p:cNvPr id="16" name="Text 14"/>
          <p:cNvSpPr/>
          <p:nvPr/>
        </p:nvSpPr>
        <p:spPr>
          <a:xfrm>
            <a:off x="822960" y="4160520"/>
            <a:ext cx="167024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应用测试与子系统补全</a:t>
            </a:r>
            <a:endParaRPr lang="zh-CN" sz="1700" dirty="0"/>
          </a:p>
        </p:txBody>
      </p:sp>
      <p:sp>
        <p:nvSpPr>
          <p:cNvPr id="17" name="Text 15"/>
          <p:cNvSpPr/>
          <p:nvPr/>
        </p:nvSpPr>
        <p:spPr>
          <a:xfrm>
            <a:off x="822960" y="4892040"/>
            <a:ext cx="167024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真实软件装进镜像跑，跑不通就对照 Linux 补内核</a:t>
            </a:r>
            <a:endParaRPr lang="zh-CN" sz="1300" dirty="0"/>
          </a:p>
        </p:txBody>
      </p:sp>
      <p:sp>
        <p:nvSpPr>
          <p:cNvPr id="18" name="Shape 16"/>
          <p:cNvSpPr/>
          <p:nvPr/>
        </p:nvSpPr>
        <p:spPr>
          <a:xfrm>
            <a:off x="2858963" y="3474720"/>
            <a:ext cx="2036003" cy="2514600"/>
          </a:xfrm>
          <a:prstGeom prst="roundRect">
            <a:avLst>
              <a:gd name="adj" fmla="val 5389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041843" y="3675888"/>
            <a:ext cx="868680" cy="310896"/>
          </a:xfrm>
          <a:prstGeom prst="roundRect">
            <a:avLst>
              <a:gd name="adj" fmla="val 23529"/>
            </a:avLst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1843" y="367588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0B1437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8 月</a:t>
            </a:r>
            <a:endParaRPr lang="zh-CN" sz="1100" dirty="0"/>
          </a:p>
        </p:txBody>
      </p:sp>
      <p:sp>
        <p:nvSpPr>
          <p:cNvPr id="21" name="Text 19"/>
          <p:cNvSpPr/>
          <p:nvPr/>
        </p:nvSpPr>
        <p:spPr>
          <a:xfrm>
            <a:off x="3041843" y="4160520"/>
            <a:ext cx="167024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图形栈到浏览器</a:t>
            </a:r>
            <a:endParaRPr lang="zh-CN" sz="1700" dirty="0"/>
          </a:p>
        </p:txBody>
      </p:sp>
      <p:sp>
        <p:nvSpPr>
          <p:cNvPr id="22" name="Text 20"/>
          <p:cNvSpPr/>
          <p:nvPr/>
        </p:nvSpPr>
        <p:spPr>
          <a:xfrm>
            <a:off x="3041843" y="4892040"/>
            <a:ext cx="167024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NetSurf、Firefox 经 Weston 出画面</a:t>
            </a:r>
            <a:endParaRPr lang="zh-CN" sz="1300" dirty="0"/>
          </a:p>
        </p:txBody>
      </p:sp>
      <p:sp>
        <p:nvSpPr>
          <p:cNvPr id="23" name="Shape 21"/>
          <p:cNvSpPr/>
          <p:nvPr/>
        </p:nvSpPr>
        <p:spPr>
          <a:xfrm>
            <a:off x="5077846" y="3474720"/>
            <a:ext cx="2036003" cy="2514600"/>
          </a:xfrm>
          <a:prstGeom prst="roundRect">
            <a:avLst>
              <a:gd name="adj" fmla="val 5389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260726" y="3675888"/>
            <a:ext cx="868680" cy="310896"/>
          </a:xfrm>
          <a:prstGeom prst="roundRect">
            <a:avLst>
              <a:gd name="adj" fmla="val 23529"/>
            </a:avLst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260726" y="367588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0B1437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8 月底</a:t>
            </a:r>
            <a:endParaRPr lang="zh-CN" sz="1100" dirty="0"/>
          </a:p>
        </p:txBody>
      </p:sp>
      <p:sp>
        <p:nvSpPr>
          <p:cNvPr id="26" name="Text 24"/>
          <p:cNvSpPr/>
          <p:nvPr/>
        </p:nvSpPr>
        <p:spPr>
          <a:xfrm>
            <a:off x="5260726" y="4160520"/>
            <a:ext cx="167024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Personality</a:t>
            </a:r>
            <a:endParaRPr lang="zh-CN" sz="1700" dirty="0"/>
          </a:p>
        </p:txBody>
      </p:sp>
      <p:sp>
        <p:nvSpPr>
          <p:cNvPr id="27" name="Text 25"/>
          <p:cNvSpPr/>
          <p:nvPr/>
        </p:nvSpPr>
        <p:spPr>
          <a:xfrm>
            <a:off x="5260726" y="4892040"/>
            <a:ext cx="167024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系统调用从内核拆成可替换的包</a:t>
            </a:r>
            <a:endParaRPr lang="zh-CN" sz="1300" dirty="0"/>
          </a:p>
        </p:txBody>
      </p:sp>
      <p:sp>
        <p:nvSpPr>
          <p:cNvPr id="28" name="Shape 26"/>
          <p:cNvSpPr/>
          <p:nvPr/>
        </p:nvSpPr>
        <p:spPr>
          <a:xfrm>
            <a:off x="7296729" y="3474720"/>
            <a:ext cx="2036003" cy="2514600"/>
          </a:xfrm>
          <a:prstGeom prst="roundRect">
            <a:avLst>
              <a:gd name="adj" fmla="val 5389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479609" y="3675888"/>
            <a:ext cx="868680" cy="310896"/>
          </a:xfrm>
          <a:prstGeom prst="roundRect">
            <a:avLst>
              <a:gd name="adj" fmla="val 23529"/>
            </a:avLst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79609" y="367588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0B1437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9 月</a:t>
            </a:r>
            <a:endParaRPr lang="zh-CN" sz="1100" dirty="0"/>
          </a:p>
        </p:txBody>
      </p:sp>
      <p:sp>
        <p:nvSpPr>
          <p:cNvPr id="31" name="Text 29"/>
          <p:cNvSpPr/>
          <p:nvPr/>
        </p:nvSpPr>
        <p:spPr>
          <a:xfrm>
            <a:off x="7479609" y="4160520"/>
            <a:ext cx="167024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对照 Linux 提速</a:t>
            </a:r>
            <a:endParaRPr lang="zh-CN" sz="1700" dirty="0"/>
          </a:p>
        </p:txBody>
      </p:sp>
      <p:sp>
        <p:nvSpPr>
          <p:cNvPr id="32" name="Text 30"/>
          <p:cNvSpPr/>
          <p:nvPr/>
        </p:nvSpPr>
        <p:spPr>
          <a:xfrm>
            <a:off x="7479609" y="4892040"/>
            <a:ext cx="167024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同环境只换内核，逐项量差距再修</a:t>
            </a:r>
            <a:endParaRPr lang="zh-CN" sz="1300" dirty="0"/>
          </a:p>
        </p:txBody>
      </p:sp>
      <p:sp>
        <p:nvSpPr>
          <p:cNvPr id="33" name="Shape 31"/>
          <p:cNvSpPr/>
          <p:nvPr/>
        </p:nvSpPr>
        <p:spPr>
          <a:xfrm>
            <a:off x="9515612" y="3474720"/>
            <a:ext cx="2036003" cy="2514600"/>
          </a:xfrm>
          <a:prstGeom prst="roundRect">
            <a:avLst>
              <a:gd name="adj" fmla="val 5389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98492" y="3675888"/>
            <a:ext cx="868680" cy="310896"/>
          </a:xfrm>
          <a:prstGeom prst="roundRect">
            <a:avLst>
              <a:gd name="adj" fmla="val 23529"/>
            </a:avLst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98492" y="367588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0B1437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10 月</a:t>
            </a:r>
            <a:endParaRPr lang="zh-CN" sz="1100" dirty="0"/>
          </a:p>
        </p:txBody>
      </p:sp>
      <p:sp>
        <p:nvSpPr>
          <p:cNvPr id="36" name="Text 34"/>
          <p:cNvSpPr/>
          <p:nvPr/>
        </p:nvSpPr>
        <p:spPr>
          <a:xfrm>
            <a:off x="9698492" y="4160520"/>
            <a:ext cx="167024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溯源</a:t>
            </a:r>
            <a:endParaRPr lang="zh-CN" sz="1700" dirty="0"/>
          </a:p>
        </p:txBody>
      </p:sp>
      <p:sp>
        <p:nvSpPr>
          <p:cNvPr id="37" name="Text 35"/>
          <p:cNvSpPr/>
          <p:nvPr/>
        </p:nvSpPr>
        <p:spPr>
          <a:xfrm>
            <a:off x="9698492" y="4892040"/>
            <a:ext cx="167024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76 个内核补丁逐个对到 Linux 源码与 man 原文</a:t>
            </a:r>
            <a:endParaRPr lang="zh-CN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1188720"/>
            <a:ext cx="1371600" cy="1371600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00" y="2743200"/>
            <a:ext cx="457200" cy="457200"/>
          </a:xfrm>
          <a:prstGeom prst="star4">
            <a:avLst/>
          </a:prstGeom>
          <a:solidFill>
            <a:srgbClr val="C9D2EA"/>
          </a:solidFill>
          <a:ln w="12700">
            <a:solidFill>
              <a:srgbClr val="C9D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3108960"/>
            <a:ext cx="274320" cy="274320"/>
          </a:xfrm>
          <a:prstGeom prst="star4">
            <a:avLst/>
          </a:prstGeom>
          <a:solidFill>
            <a:srgbClr val="C9D2EA"/>
          </a:solidFill>
          <a:ln w="12700">
            <a:solidFill>
              <a:srgbClr val="C9D2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1031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6600" b="1" dirty="0">
                <a:solidFill>
                  <a:srgbClr val="F2B4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zh-CN" sz="660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8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应用测试与子系统补全</a:t>
            </a:r>
            <a:endParaRPr lang="zh-CN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C9D2EA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真实应用当负载，跑不通就补内核，补完留回归用例</a:t>
            </a:r>
            <a:endParaRPr lang="zh-CN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01 应用测试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装进镜像的应用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2556434" cy="1691640"/>
          </a:xfrm>
          <a:prstGeom prst="roundRect">
            <a:avLst>
              <a:gd name="adj" fmla="val 6486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2084832"/>
            <a:ext cx="182880" cy="182880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15568" y="2011680"/>
            <a:ext cx="19163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dropbear</a:t>
            </a:r>
            <a:endParaRPr lang="zh-CN" sz="1700" dirty="0"/>
          </a:p>
        </p:txBody>
      </p:sp>
      <p:sp>
        <p:nvSpPr>
          <p:cNvPr id="9" name="Text 7"/>
          <p:cNvSpPr/>
          <p:nvPr/>
        </p:nvSpPr>
        <p:spPr>
          <a:xfrm>
            <a:off x="841248" y="2560320"/>
            <a:ext cx="21540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SSH 登录、密钥、端口转发</a:t>
            </a:r>
            <a:endParaRPr lang="zh-CN" sz="1400" dirty="0"/>
          </a:p>
        </p:txBody>
      </p:sp>
      <p:sp>
        <p:nvSpPr>
          <p:cNvPr id="10" name="Shape 8"/>
          <p:cNvSpPr/>
          <p:nvPr/>
        </p:nvSpPr>
        <p:spPr>
          <a:xfrm>
            <a:off x="3425114" y="1828800"/>
            <a:ext cx="2556434" cy="1691640"/>
          </a:xfrm>
          <a:prstGeom prst="roundRect">
            <a:avLst>
              <a:gd name="adj" fmla="val 6486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26282" y="2084832"/>
            <a:ext cx="182880" cy="182880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00602" y="2011680"/>
            <a:ext cx="19163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dnsmasq</a:t>
            </a:r>
            <a:endParaRPr lang="zh-CN" sz="1700" dirty="0"/>
          </a:p>
        </p:txBody>
      </p:sp>
      <p:sp>
        <p:nvSpPr>
          <p:cNvPr id="13" name="Text 11"/>
          <p:cNvSpPr/>
          <p:nvPr/>
        </p:nvSpPr>
        <p:spPr>
          <a:xfrm>
            <a:off x="3626282" y="2560320"/>
            <a:ext cx="21540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DNS、DHCP、TFTP 传文件</a:t>
            </a:r>
            <a:endParaRPr lang="zh-CN" sz="1400" dirty="0"/>
          </a:p>
        </p:txBody>
      </p:sp>
      <p:sp>
        <p:nvSpPr>
          <p:cNvPr id="14" name="Shape 12"/>
          <p:cNvSpPr/>
          <p:nvPr/>
        </p:nvSpPr>
        <p:spPr>
          <a:xfrm>
            <a:off x="6210148" y="1828800"/>
            <a:ext cx="2556434" cy="1691640"/>
          </a:xfrm>
          <a:prstGeom prst="roundRect">
            <a:avLst>
              <a:gd name="adj" fmla="val 6486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11316" y="2084832"/>
            <a:ext cx="182880" cy="182880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85636" y="2011680"/>
            <a:ext cx="19163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监控栈</a:t>
            </a:r>
            <a:endParaRPr lang="zh-CN" sz="1700" dirty="0"/>
          </a:p>
        </p:txBody>
      </p:sp>
      <p:sp>
        <p:nvSpPr>
          <p:cNvPr id="17" name="Text 15"/>
          <p:cNvSpPr/>
          <p:nvPr/>
        </p:nvSpPr>
        <p:spPr>
          <a:xfrm>
            <a:off x="6411316" y="2560320"/>
            <a:ext cx="21540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glances、node_exporter 读 /proc</a:t>
            </a:r>
            <a:endParaRPr lang="zh-CN" sz="1400" dirty="0"/>
          </a:p>
        </p:txBody>
      </p:sp>
      <p:sp>
        <p:nvSpPr>
          <p:cNvPr id="18" name="Shape 16"/>
          <p:cNvSpPr/>
          <p:nvPr/>
        </p:nvSpPr>
        <p:spPr>
          <a:xfrm>
            <a:off x="8995181" y="1828800"/>
            <a:ext cx="2556434" cy="1691640"/>
          </a:xfrm>
          <a:prstGeom prst="roundRect">
            <a:avLst>
              <a:gd name="adj" fmla="val 6486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96349" y="2084832"/>
            <a:ext cx="182880" cy="182880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70669" y="2011680"/>
            <a:ext cx="19163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科学计算与机器学习</a:t>
            </a:r>
            <a:endParaRPr lang="zh-CN" sz="1700" dirty="0"/>
          </a:p>
        </p:txBody>
      </p:sp>
      <p:sp>
        <p:nvSpPr>
          <p:cNvPr id="21" name="Text 19"/>
          <p:cNvSpPr/>
          <p:nvPr/>
        </p:nvSpPr>
        <p:spPr>
          <a:xfrm>
            <a:off x="9196349" y="2560320"/>
            <a:ext cx="21540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SciPy、SymPy、Numba、scikit-learn</a:t>
            </a:r>
            <a:endParaRPr lang="zh-CN" sz="1400" dirty="0"/>
          </a:p>
        </p:txBody>
      </p:sp>
      <p:sp>
        <p:nvSpPr>
          <p:cNvPr id="22" name="Shape 20"/>
          <p:cNvSpPr/>
          <p:nvPr/>
        </p:nvSpPr>
        <p:spPr>
          <a:xfrm>
            <a:off x="640080" y="3749040"/>
            <a:ext cx="2556434" cy="1691640"/>
          </a:xfrm>
          <a:prstGeom prst="roundRect">
            <a:avLst>
              <a:gd name="adj" fmla="val 6486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1248" y="4005072"/>
            <a:ext cx="182880" cy="182880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15568" y="3931920"/>
            <a:ext cx="19163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多媒体与流媒体</a:t>
            </a:r>
            <a:endParaRPr lang="zh-CN" sz="1700" dirty="0"/>
          </a:p>
        </p:txBody>
      </p:sp>
      <p:sp>
        <p:nvSpPr>
          <p:cNvPr id="25" name="Text 23"/>
          <p:cNvSpPr/>
          <p:nvPr/>
        </p:nvSpPr>
        <p:spPr>
          <a:xfrm>
            <a:off x="841248" y="4480560"/>
            <a:ext cx="21540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x264、dav1d 等编解码与封装</a:t>
            </a:r>
            <a:endParaRPr lang="zh-CN" sz="1400" dirty="0"/>
          </a:p>
        </p:txBody>
      </p:sp>
      <p:sp>
        <p:nvSpPr>
          <p:cNvPr id="26" name="Shape 24"/>
          <p:cNvSpPr/>
          <p:nvPr/>
        </p:nvSpPr>
        <p:spPr>
          <a:xfrm>
            <a:off x="3425114" y="3749040"/>
            <a:ext cx="2556434" cy="1691640"/>
          </a:xfrm>
          <a:prstGeom prst="roundRect">
            <a:avLst>
              <a:gd name="adj" fmla="val 6486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26282" y="4005072"/>
            <a:ext cx="182880" cy="182880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900602" y="3931920"/>
            <a:ext cx="19163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单核并发</a:t>
            </a:r>
            <a:endParaRPr lang="zh-CN" sz="1700" dirty="0"/>
          </a:p>
        </p:txBody>
      </p:sp>
      <p:sp>
        <p:nvSpPr>
          <p:cNvPr id="29" name="Text 27"/>
          <p:cNvSpPr/>
          <p:nvPr/>
        </p:nvSpPr>
        <p:spPr>
          <a:xfrm>
            <a:off x="3626282" y="4480560"/>
            <a:ext cx="21540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clone、futex 与调度的确定性对照</a:t>
            </a:r>
            <a:endParaRPr lang="zh-CN" sz="1400" dirty="0"/>
          </a:p>
        </p:txBody>
      </p:sp>
      <p:sp>
        <p:nvSpPr>
          <p:cNvPr id="30" name="Shape 28"/>
          <p:cNvSpPr/>
          <p:nvPr/>
        </p:nvSpPr>
        <p:spPr>
          <a:xfrm>
            <a:off x="6210148" y="3749040"/>
            <a:ext cx="2556434" cy="1691640"/>
          </a:xfrm>
          <a:prstGeom prst="roundRect">
            <a:avLst>
              <a:gd name="adj" fmla="val 6486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11316" y="4005072"/>
            <a:ext cx="182880" cy="182880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85636" y="3931920"/>
            <a:ext cx="19163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StarryWRT</a:t>
            </a:r>
            <a:endParaRPr lang="zh-CN" sz="1700" dirty="0"/>
          </a:p>
        </p:txBody>
      </p:sp>
      <p:sp>
        <p:nvSpPr>
          <p:cNvPr id="33" name="Text 31"/>
          <p:cNvSpPr/>
          <p:nvPr/>
        </p:nvSpPr>
        <p:spPr>
          <a:xfrm>
            <a:off x="6411316" y="4480560"/>
            <a:ext cx="21540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OpenWrt 用户态：uci、opkg</a:t>
            </a:r>
            <a:endParaRPr lang="zh-CN" sz="1400" dirty="0"/>
          </a:p>
        </p:txBody>
      </p:sp>
      <p:sp>
        <p:nvSpPr>
          <p:cNvPr id="34" name="Shape 32"/>
          <p:cNvSpPr/>
          <p:nvPr/>
        </p:nvSpPr>
        <p:spPr>
          <a:xfrm>
            <a:off x="8995181" y="3749040"/>
            <a:ext cx="2556434" cy="1691640"/>
          </a:xfrm>
          <a:prstGeom prst="roundRect">
            <a:avLst>
              <a:gd name="adj" fmla="val 6486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196349" y="4005072"/>
            <a:ext cx="182880" cy="182880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470669" y="3931920"/>
            <a:ext cx="19163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POSIX 消息队列</a:t>
            </a:r>
            <a:endParaRPr lang="zh-CN" sz="1700" dirty="0"/>
          </a:p>
        </p:txBody>
      </p:sp>
      <p:sp>
        <p:nvSpPr>
          <p:cNvPr id="37" name="Text 35"/>
          <p:cNvSpPr/>
          <p:nvPr/>
        </p:nvSpPr>
        <p:spPr>
          <a:xfrm>
            <a:off x="9196349" y="4480560"/>
            <a:ext cx="21540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Open POSIX 一致性套件</a:t>
            </a:r>
            <a:endParaRPr lang="zh-CN" sz="1400" dirty="0"/>
          </a:p>
        </p:txBody>
      </p:sp>
      <p:sp>
        <p:nvSpPr>
          <p:cNvPr id="38" name="Text 36"/>
          <p:cNvSpPr/>
          <p:nvPr/>
        </p:nvSpPr>
        <p:spPr>
          <a:xfrm>
            <a:off x="640080" y="5806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四架构：x86_64、aarch64、riscv64、loongarch64</a:t>
            </a:r>
            <a:endParaRPr lang="zh-CN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01 应用测试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负载暴露的缺口，补上的子系统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</a:t>
            </a:r>
            <a:endParaRPr lang="zh-CN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69494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840480"/>
                <a:gridCol w="1463040"/>
              </a:tblGrid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400" b="1" dirty="0">
                          <a:solidFill>
                            <a:srgbClr val="FFFFFF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负载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400" b="1" dirty="0">
                          <a:solidFill>
                            <a:srgbClr val="FFFFFF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补上的内核缺口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400" b="1" dirty="0">
                          <a:solidFill>
                            <a:srgbClr val="FFFFFF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PR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37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4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监控栈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4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/proc/vmstat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4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#1525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4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Envoy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4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/proc/pid/comm 的填充；非阻塞 TCP 部分发送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4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#1558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4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dnsmasq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4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IP_MTU_DISCOVER；UDP 关闭前冲刷；SIOCGIFNAME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4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#1568 #1707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4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浏览器前置依赖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4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一批系统调用对齐 Linux；同步故障信号优先投递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4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#1569 #1700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4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每次关机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4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卸载根文件系统必然失败，改为尽力而为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4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#1711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955280" y="1783080"/>
            <a:ext cx="3596335" cy="1783080"/>
          </a:xfrm>
          <a:prstGeom prst="roundRect">
            <a:avLst>
              <a:gd name="adj" fmla="val 6154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156448" y="1938528"/>
            <a:ext cx="859536" cy="310896"/>
          </a:xfrm>
          <a:prstGeom prst="roundRect">
            <a:avLst>
              <a:gd name="adj" fmla="val 23529"/>
            </a:avLst>
          </a:prstGeom>
          <a:solidFill>
            <a:srgbClr val="1FA896"/>
          </a:solidFill>
          <a:ln w="12700">
            <a:solidFill>
              <a:srgbClr val="1FA89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56448" y="1938528"/>
            <a:ext cx="859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新实现</a:t>
            </a:r>
            <a:endParaRPr lang="zh-CN" sz="1100" dirty="0"/>
          </a:p>
        </p:txBody>
      </p:sp>
      <p:sp>
        <p:nvSpPr>
          <p:cNvPr id="10" name="Text 7"/>
          <p:cNvSpPr/>
          <p:nvPr/>
        </p:nvSpPr>
        <p:spPr>
          <a:xfrm>
            <a:off x="8156448" y="2395728"/>
            <a:ext cx="319399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POSIX 消息队列　#1564 #1565</a:t>
            </a:r>
            <a:endParaRPr lang="zh-CN" sz="1500" dirty="0"/>
          </a:p>
          <a:p>
            <a:pPr indent="0" marL="0">
              <a:spcAft>
                <a:spcPts val="600"/>
              </a:spcAft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TUN/TAP 设备　#1566 #1567</a:t>
            </a:r>
            <a:endParaRPr lang="zh-CN" sz="1500" dirty="0"/>
          </a:p>
        </p:txBody>
      </p:sp>
      <p:sp>
        <p:nvSpPr>
          <p:cNvPr id="11" name="Shape 8"/>
          <p:cNvSpPr/>
          <p:nvPr/>
        </p:nvSpPr>
        <p:spPr>
          <a:xfrm>
            <a:off x="7955280" y="3749040"/>
            <a:ext cx="3596335" cy="2093976"/>
          </a:xfrm>
          <a:prstGeom prst="roundRect">
            <a:avLst>
              <a:gd name="adj" fmla="val 524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156448" y="3904488"/>
            <a:ext cx="1714500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156448" y="3904488"/>
            <a:ext cx="17145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对照 Linux 改正</a:t>
            </a:r>
            <a:endParaRPr lang="zh-CN" sz="1100" dirty="0"/>
          </a:p>
        </p:txBody>
      </p:sp>
      <p:sp>
        <p:nvSpPr>
          <p:cNvPr id="14" name="Text 11"/>
          <p:cNvSpPr/>
          <p:nvPr/>
        </p:nvSpPr>
        <p:spPr>
          <a:xfrm>
            <a:off x="8156448" y="4361688"/>
            <a:ext cx="3193999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times、select、arch_prctl</a:t>
            </a:r>
            <a:endParaRPr lang="zh-CN" sz="1500" dirty="0"/>
          </a:p>
          <a:p>
            <a:pPr indent="0" marL="0">
              <a:spcAft>
                <a:spcPts val="400"/>
              </a:spcAft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#2263 #2260 #2259</a:t>
            </a:r>
            <a:endParaRPr lang="zh-CN" sz="1500" dirty="0"/>
          </a:p>
          <a:p>
            <a:pPr indent="0" marL="0">
              <a:spcAft>
                <a:spcPts val="400"/>
              </a:spcAft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setns 与 id 映射的特权只认初始 user namespace</a:t>
            </a:r>
            <a:endParaRPr lang="zh-CN" sz="1500" dirty="0"/>
          </a:p>
          <a:p>
            <a:pPr indent="0" marL="0">
              <a:spcAft>
                <a:spcPts val="400"/>
              </a:spcAft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#2266</a:t>
            </a:r>
            <a:endParaRPr lang="zh-CN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1188720"/>
            <a:ext cx="1371600" cy="1371600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00" y="2743200"/>
            <a:ext cx="457200" cy="457200"/>
          </a:xfrm>
          <a:prstGeom prst="star4">
            <a:avLst/>
          </a:prstGeom>
          <a:solidFill>
            <a:srgbClr val="C9D2EA"/>
          </a:solidFill>
          <a:ln w="12700">
            <a:solidFill>
              <a:srgbClr val="C9D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3108960"/>
            <a:ext cx="274320" cy="274320"/>
          </a:xfrm>
          <a:prstGeom prst="star4">
            <a:avLst/>
          </a:prstGeom>
          <a:solidFill>
            <a:srgbClr val="C9D2EA"/>
          </a:solidFill>
          <a:ln w="12700">
            <a:solidFill>
              <a:srgbClr val="C9D2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1031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6600" b="1" dirty="0">
                <a:solidFill>
                  <a:srgbClr val="F2B4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zh-CN" sz="660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8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浏览器启动与优化</a:t>
            </a:r>
            <a:endParaRPr lang="zh-CN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C9D2EA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把 Firefox 跑起来，再与 Linux 逐项对照</a:t>
            </a:r>
            <a:endParaRPr lang="zh-CN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02 浏览器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从出图到打开真实站点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1993392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856232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NetSurf</a:t>
            </a:r>
            <a:endParaRPr lang="zh-CN" sz="1700" dirty="0"/>
          </a:p>
        </p:txBody>
      </p:sp>
      <p:sp>
        <p:nvSpPr>
          <p:cNvPr id="8" name="Text 6"/>
          <p:cNvSpPr/>
          <p:nvPr/>
        </p:nvSpPr>
        <p:spPr>
          <a:xfrm>
            <a:off x="804672" y="2304288"/>
            <a:ext cx="1664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四架构出图；只到 CSS 2.1，撑不起现代站点</a:t>
            </a:r>
            <a:endParaRPr lang="zh-CN" sz="1300" dirty="0"/>
          </a:p>
        </p:txBody>
      </p:sp>
      <p:sp>
        <p:nvSpPr>
          <p:cNvPr id="9" name="Shape 7"/>
          <p:cNvSpPr/>
          <p:nvPr/>
        </p:nvSpPr>
        <p:spPr>
          <a:xfrm>
            <a:off x="2660904" y="2377440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71216" y="1737360"/>
            <a:ext cx="1993392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35808" y="1856232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Firefox</a:t>
            </a:r>
            <a:endParaRPr lang="zh-CN" sz="1700" dirty="0"/>
          </a:p>
        </p:txBody>
      </p:sp>
      <p:sp>
        <p:nvSpPr>
          <p:cNvPr id="12" name="Text 10"/>
          <p:cNvSpPr/>
          <p:nvPr/>
        </p:nvSpPr>
        <p:spPr>
          <a:xfrm>
            <a:off x="3035808" y="2304288"/>
            <a:ext cx="1664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经 Weston 显示到 virtio-gpu</a:t>
            </a:r>
            <a:endParaRPr lang="zh-CN" sz="1300" dirty="0"/>
          </a:p>
        </p:txBody>
      </p:sp>
      <p:sp>
        <p:nvSpPr>
          <p:cNvPr id="13" name="Shape 11"/>
          <p:cNvSpPr/>
          <p:nvPr/>
        </p:nvSpPr>
        <p:spPr>
          <a:xfrm>
            <a:off x="4892040" y="2377440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102352" y="1737360"/>
            <a:ext cx="1993392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66944" y="1856232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HTTPS</a:t>
            </a:r>
            <a:endParaRPr lang="zh-CN" sz="1700" dirty="0"/>
          </a:p>
        </p:txBody>
      </p:sp>
      <p:sp>
        <p:nvSpPr>
          <p:cNvPr id="16" name="Text 14"/>
          <p:cNvSpPr/>
          <p:nvPr/>
        </p:nvSpPr>
        <p:spPr>
          <a:xfrm>
            <a:off x="5266944" y="2304288"/>
            <a:ext cx="1664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经宿主代理从 4399 的服务器取回页面</a:t>
            </a:r>
            <a:endParaRPr lang="zh-CN" sz="1300" dirty="0"/>
          </a:p>
        </p:txBody>
      </p:sp>
      <p:sp>
        <p:nvSpPr>
          <p:cNvPr id="17" name="Shape 15"/>
          <p:cNvSpPr/>
          <p:nvPr/>
        </p:nvSpPr>
        <p:spPr>
          <a:xfrm>
            <a:off x="7123176" y="2377440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1737360"/>
            <a:ext cx="1993392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0" y="1856232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软件与 virgl</a:t>
            </a:r>
            <a:endParaRPr lang="zh-CN" sz="1700" dirty="0"/>
          </a:p>
        </p:txBody>
      </p:sp>
      <p:sp>
        <p:nvSpPr>
          <p:cNvPr id="20" name="Text 18"/>
          <p:cNvSpPr/>
          <p:nvPr/>
        </p:nvSpPr>
        <p:spPr>
          <a:xfrm>
            <a:off x="7498080" y="2304288"/>
            <a:ext cx="1664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同一个应用两路渲染，#2323</a:t>
            </a:r>
            <a:endParaRPr lang="zh-CN" sz="1300" dirty="0"/>
          </a:p>
        </p:txBody>
      </p:sp>
      <p:sp>
        <p:nvSpPr>
          <p:cNvPr id="21" name="Shape 19"/>
          <p:cNvSpPr/>
          <p:nvPr/>
        </p:nvSpPr>
        <p:spPr>
          <a:xfrm>
            <a:off x="9354312" y="2377440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564624" y="1737360"/>
            <a:ext cx="1993392" cy="1463040"/>
          </a:xfrm>
          <a:prstGeom prst="roundRect">
            <a:avLst>
              <a:gd name="adj" fmla="val 7500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729216" y="1856232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F2B441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对照 Linux</a:t>
            </a:r>
            <a:endParaRPr lang="zh-CN" sz="1700" dirty="0"/>
          </a:p>
        </p:txBody>
      </p:sp>
      <p:sp>
        <p:nvSpPr>
          <p:cNvPr id="24" name="Text 22"/>
          <p:cNvSpPr/>
          <p:nvPr/>
        </p:nvSpPr>
        <p:spPr>
          <a:xfrm>
            <a:off x="9729216" y="2304288"/>
            <a:ext cx="1664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C9D2EA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同环境只换内核</a:t>
            </a:r>
            <a:endParaRPr lang="zh-CN" sz="1300" dirty="0"/>
          </a:p>
        </p:txBody>
      </p:sp>
      <p:pic>
        <p:nvPicPr>
          <p:cNvPr id="25" name="Image 0" descr="C:\Users\heke\AppData\Local\Temp\claude\C--Users-heke-AllProjects-TempFolder-rcore\1c6e91ee-4f87-4550-9a26-b0faa3d92502\scratchpad\atl\deck\img\4399-c-star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520440"/>
            <a:ext cx="2621280" cy="196596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640080" y="5541264"/>
            <a:ext cx="262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软件渲染 · StarryOS</a:t>
            </a:r>
            <a:endParaRPr lang="zh-CN" sz="1200" dirty="0"/>
          </a:p>
        </p:txBody>
      </p:sp>
      <p:pic>
        <p:nvPicPr>
          <p:cNvPr id="27" name="Image 1" descr="C:\Users\heke\AppData\Local\Temp\claude\C--Users-heke-AllProjects-TempFolder-rcore\1c6e91ee-4f87-4550-9a26-b0faa3d92502\scratchpad\atl\deck\img\4399-c-linu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936" y="3520440"/>
            <a:ext cx="2621280" cy="1965960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3566936" y="5541264"/>
            <a:ext cx="262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软件渲染 · Linux 6.12</a:t>
            </a:r>
            <a:endParaRPr lang="zh-CN" sz="1200" dirty="0"/>
          </a:p>
        </p:txBody>
      </p:sp>
      <p:pic>
        <p:nvPicPr>
          <p:cNvPr id="29" name="Image 2" descr="C:\Users\heke\AppData\Local\Temp\claude\C--Users-heke-AllProjects-TempFolder-rcore\1c6e91ee-4f87-4550-9a26-b0faa3d92502\scratchpad\atl\deck\img\4399-g-starr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3791" y="3520440"/>
            <a:ext cx="2376124" cy="1965960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6493791" y="5541264"/>
            <a:ext cx="2376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virgl · StarryOS</a:t>
            </a:r>
            <a:endParaRPr lang="zh-CN" sz="1200" dirty="0"/>
          </a:p>
        </p:txBody>
      </p:sp>
      <p:pic>
        <p:nvPicPr>
          <p:cNvPr id="31" name="Image 3" descr="C:\Users\heke\AppData\Local\Temp\claude\C--Users-heke-AllProjects-TempFolder-rcore\1c6e91ee-4f87-4550-9a26-b0faa3d92502\scratchpad\atl\deck\img\4399-g-linu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75491" y="3520440"/>
            <a:ext cx="2376124" cy="1965960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9175491" y="5541264"/>
            <a:ext cx="2376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virgl · Linux 6.12</a:t>
            </a:r>
            <a:endParaRPr lang="zh-CN" sz="1200" dirty="0"/>
          </a:p>
        </p:txBody>
      </p:sp>
      <p:sp>
        <p:nvSpPr>
          <p:cNvPr id="33" name="Text 27"/>
          <p:cNvSpPr/>
          <p:nvPr/>
        </p:nvSpPr>
        <p:spPr>
          <a:xfrm>
            <a:off x="640080" y="6035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同一份根盘、同一个 Firefox，经 HTTPS 打开 4399；四格都完整渲染。</a:t>
            </a:r>
            <a:endParaRPr lang="zh-CN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02 浏览器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对照方法：只换内核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865376"/>
            <a:ext cx="1005840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86537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QEMU</a:t>
            </a:r>
            <a:endParaRPr lang="zh-CN" sz="1200" dirty="0"/>
          </a:p>
        </p:txBody>
      </p:sp>
      <p:sp>
        <p:nvSpPr>
          <p:cNvPr id="8" name="Text 6"/>
          <p:cNvSpPr/>
          <p:nvPr/>
        </p:nvSpPr>
        <p:spPr>
          <a:xfrm>
            <a:off x="1828800" y="182880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q35，4 核，6 GB，KVM</a:t>
            </a:r>
            <a:endParaRPr lang="zh-CN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2505456"/>
            <a:ext cx="1005840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5054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根盘</a:t>
            </a:r>
            <a:endParaRPr lang="zh-CN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246888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同一份镜像，两侧逐字节相同</a:t>
            </a:r>
            <a:endParaRPr lang="zh-CN" sz="1600" dirty="0"/>
          </a:p>
        </p:txBody>
      </p:sp>
      <p:sp>
        <p:nvSpPr>
          <p:cNvPr id="12" name="Shape 10"/>
          <p:cNvSpPr/>
          <p:nvPr/>
        </p:nvSpPr>
        <p:spPr>
          <a:xfrm>
            <a:off x="640080" y="3145536"/>
            <a:ext cx="1005840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14553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</a:t>
            </a:r>
            <a:endParaRPr lang="zh-CN" sz="1200" dirty="0"/>
          </a:p>
        </p:txBody>
      </p:sp>
      <p:sp>
        <p:nvSpPr>
          <p:cNvPr id="14" name="Text 12"/>
          <p:cNvSpPr/>
          <p:nvPr/>
        </p:nvSpPr>
        <p:spPr>
          <a:xfrm>
            <a:off x="1828800" y="310896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6.12-virt</a:t>
            </a:r>
            <a:endParaRPr lang="zh-CN" sz="1600" dirty="0"/>
          </a:p>
        </p:txBody>
      </p:sp>
      <p:sp>
        <p:nvSpPr>
          <p:cNvPr id="15" name="Shape 13"/>
          <p:cNvSpPr/>
          <p:nvPr/>
        </p:nvSpPr>
        <p:spPr>
          <a:xfrm>
            <a:off x="640080" y="3785616"/>
            <a:ext cx="1005840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78561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控制项</a:t>
            </a:r>
            <a:endParaRPr lang="zh-CN" sz="1200" dirty="0"/>
          </a:p>
        </p:txBody>
      </p:sp>
      <p:sp>
        <p:nvSpPr>
          <p:cNvPr id="17" name="Text 15"/>
          <p:cNvSpPr/>
          <p:nvPr/>
        </p:nvSpPr>
        <p:spPr>
          <a:xfrm>
            <a:off x="1828800" y="37490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纯用户态循环两侧比值 1.00</a:t>
            </a:r>
            <a:endParaRPr lang="zh-CN" sz="1600" dirty="0"/>
          </a:p>
        </p:txBody>
      </p:sp>
      <p:sp>
        <p:nvSpPr>
          <p:cNvPr id="18" name="Shape 16"/>
          <p:cNvSpPr/>
          <p:nvPr/>
        </p:nvSpPr>
        <p:spPr>
          <a:xfrm>
            <a:off x="640080" y="4572000"/>
            <a:ext cx="5029200" cy="1280160"/>
          </a:xfrm>
          <a:prstGeom prst="roundRect">
            <a:avLst>
              <a:gd name="adj" fmla="val 8571"/>
            </a:avLst>
          </a:prstGeom>
          <a:solidFill>
            <a:srgbClr val="FBE9C4"/>
          </a:solidFill>
          <a:ln w="12700">
            <a:solidFill>
              <a:srgbClr val="FBE9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4681728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zh-CN" altLang="en-US" sz="15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判据</a:t>
            </a:r>
            <a:endParaRPr lang="zh-CN" sz="1500" dirty="0"/>
          </a:p>
          <a:p>
            <a:pPr indent="0" marL="0">
              <a:spcAft>
                <a:spcPts val="400"/>
              </a:spcAft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StarryOS 随压力放大而 Linux 平坦，才算缺陷线索。</a:t>
            </a:r>
            <a:endParaRPr lang="zh-CN" sz="1500" dirty="0"/>
          </a:p>
        </p:txBody>
      </p:sp>
      <p:sp>
        <p:nvSpPr>
          <p:cNvPr id="20" name="Shape 18"/>
          <p:cNvSpPr/>
          <p:nvPr/>
        </p:nvSpPr>
        <p:spPr>
          <a:xfrm>
            <a:off x="6035040" y="1828800"/>
            <a:ext cx="5516575" cy="1280160"/>
          </a:xfrm>
          <a:prstGeom prst="roundRect">
            <a:avLst>
              <a:gd name="adj" fmla="val 8571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0" y="205740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600" b="1" dirty="0">
                <a:solidFill>
                  <a:srgbClr val="F2B4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zh-CN" sz="3600" dirty="0"/>
          </a:p>
        </p:txBody>
      </p:sp>
      <p:sp>
        <p:nvSpPr>
          <p:cNvPr id="22" name="Text 20"/>
          <p:cNvSpPr/>
          <p:nvPr/>
        </p:nvSpPr>
        <p:spPr>
          <a:xfrm>
            <a:off x="6949440" y="1947672"/>
            <a:ext cx="4419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8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端到端</a:t>
            </a:r>
            <a:endParaRPr lang="zh-CN" sz="1800" dirty="0"/>
          </a:p>
        </p:txBody>
      </p:sp>
      <p:sp>
        <p:nvSpPr>
          <p:cNvPr id="23" name="Text 21"/>
          <p:cNvSpPr/>
          <p:nvPr/>
        </p:nvSpPr>
        <p:spPr>
          <a:xfrm>
            <a:off x="6949440" y="2340864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Firefox 启动、导航、取资源的耗时</a:t>
            </a:r>
            <a:endParaRPr lang="zh-CN" sz="1400" dirty="0"/>
          </a:p>
        </p:txBody>
      </p:sp>
      <p:sp>
        <p:nvSpPr>
          <p:cNvPr id="24" name="Text 22"/>
          <p:cNvSpPr/>
          <p:nvPr/>
        </p:nvSpPr>
        <p:spPr>
          <a:xfrm>
            <a:off x="6949440" y="2670048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回答：整体差多少</a:t>
            </a:r>
            <a:endParaRPr lang="zh-CN" sz="1300" dirty="0"/>
          </a:p>
        </p:txBody>
      </p:sp>
      <p:sp>
        <p:nvSpPr>
          <p:cNvPr id="25" name="Shape 23"/>
          <p:cNvSpPr/>
          <p:nvPr/>
        </p:nvSpPr>
        <p:spPr>
          <a:xfrm>
            <a:off x="6035040" y="3200400"/>
            <a:ext cx="5516575" cy="1280160"/>
          </a:xfrm>
          <a:prstGeom prst="roundRect">
            <a:avLst>
              <a:gd name="adj" fmla="val 8571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17920" y="342900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600" b="1" dirty="0">
                <a:solidFill>
                  <a:srgbClr val="F2B4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endParaRPr lang="zh-CN" sz="3600" dirty="0"/>
          </a:p>
        </p:txBody>
      </p:sp>
      <p:sp>
        <p:nvSpPr>
          <p:cNvPr id="27" name="Text 25"/>
          <p:cNvSpPr/>
          <p:nvPr/>
        </p:nvSpPr>
        <p:spPr>
          <a:xfrm>
            <a:off x="6949440" y="3319272"/>
            <a:ext cx="4419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8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压力基准</a:t>
            </a:r>
            <a:endParaRPr lang="zh-CN" sz="1800" dirty="0"/>
          </a:p>
        </p:txBody>
      </p:sp>
      <p:sp>
        <p:nvSpPr>
          <p:cNvPr id="28" name="Text 26"/>
          <p:cNvSpPr/>
          <p:nvPr/>
        </p:nvSpPr>
        <p:spPr>
          <a:xfrm>
            <a:off x="6949440" y="3712464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18 个环节，各三档压力</a:t>
            </a:r>
            <a:endParaRPr lang="zh-CN" sz="1400" dirty="0"/>
          </a:p>
        </p:txBody>
      </p:sp>
      <p:sp>
        <p:nvSpPr>
          <p:cNvPr id="29" name="Text 27"/>
          <p:cNvSpPr/>
          <p:nvPr/>
        </p:nvSpPr>
        <p:spPr>
          <a:xfrm>
            <a:off x="6949440" y="4041648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回答：差在哪个环节，是否随规模放大</a:t>
            </a:r>
            <a:endParaRPr lang="zh-CN" sz="1300" dirty="0"/>
          </a:p>
        </p:txBody>
      </p:sp>
      <p:sp>
        <p:nvSpPr>
          <p:cNvPr id="30" name="Shape 28"/>
          <p:cNvSpPr/>
          <p:nvPr/>
        </p:nvSpPr>
        <p:spPr>
          <a:xfrm>
            <a:off x="6035040" y="4572000"/>
            <a:ext cx="5516575" cy="1280160"/>
          </a:xfrm>
          <a:prstGeom prst="roundRect">
            <a:avLst>
              <a:gd name="adj" fmla="val 8571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17920" y="480060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600" b="1" dirty="0">
                <a:solidFill>
                  <a:srgbClr val="F2B4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zh-CN" sz="3600" dirty="0"/>
          </a:p>
        </p:txBody>
      </p:sp>
      <p:sp>
        <p:nvSpPr>
          <p:cNvPr id="32" name="Text 30"/>
          <p:cNvSpPr/>
          <p:nvPr/>
        </p:nvSpPr>
        <p:spPr>
          <a:xfrm>
            <a:off x="6949440" y="4690872"/>
            <a:ext cx="4419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8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内核栈采样</a:t>
            </a:r>
            <a:endParaRPr lang="zh-CN" sz="1800" dirty="0"/>
          </a:p>
        </p:txBody>
      </p:sp>
      <p:sp>
        <p:nvSpPr>
          <p:cNvPr id="33" name="Text 31"/>
          <p:cNvSpPr/>
          <p:nvPr/>
        </p:nvSpPr>
        <p:spPr>
          <a:xfrm>
            <a:off x="6949440" y="5084064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负载运行时定时取全部线程的栈</a:t>
            </a:r>
            <a:endParaRPr lang="zh-CN" sz="1400" dirty="0"/>
          </a:p>
        </p:txBody>
      </p:sp>
      <p:sp>
        <p:nvSpPr>
          <p:cNvPr id="34" name="Text 32"/>
          <p:cNvSpPr/>
          <p:nvPr/>
        </p:nvSpPr>
        <p:spPr>
          <a:xfrm>
            <a:off x="6949440" y="5413248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回答：时间花在哪个函数</a:t>
            </a:r>
            <a:endParaRPr lang="zh-CN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02 浏览器 · 对照用例 1/10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回环 TCP 往返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9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225296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8308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反映的问题</a:t>
            </a:r>
            <a:endParaRPr lang="zh-CN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203704"/>
            <a:ext cx="53949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跨核唤醒要发 IPI。每次发送都重建 APIC 句柄，构造时读 CPUID；在虚拟机里，每次 CPUID 是一回退出。</a:t>
            </a:r>
            <a:endParaRPr lang="zh-CN" sz="1700" dirty="0"/>
          </a:p>
        </p:txBody>
      </p:sp>
      <p:sp>
        <p:nvSpPr>
          <p:cNvPr id="9" name="Shape 7"/>
          <p:cNvSpPr/>
          <p:nvPr/>
        </p:nvSpPr>
        <p:spPr>
          <a:xfrm>
            <a:off x="640080" y="3931920"/>
            <a:ext cx="676656" cy="310896"/>
          </a:xfrm>
          <a:prstGeom prst="roundRect">
            <a:avLst>
              <a:gd name="adj" fmla="val 23529"/>
            </a:avLst>
          </a:prstGeom>
          <a:solidFill>
            <a:srgbClr val="1FA896"/>
          </a:solidFill>
          <a:ln w="12700">
            <a:solidFill>
              <a:srgbClr val="1F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931920"/>
            <a:ext cx="676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</a:t>
            </a:r>
            <a:endParaRPr lang="zh-CN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352544"/>
            <a:ext cx="53949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#2432：句柄建一次后复用；写 ICR 前按 Linux 加串行化屏障。</a:t>
            </a:r>
            <a:endParaRPr lang="zh-CN" sz="1700" dirty="0"/>
          </a:p>
        </p:txBody>
      </p:sp>
      <p:sp>
        <p:nvSpPr>
          <p:cNvPr id="12" name="Shape 10"/>
          <p:cNvSpPr/>
          <p:nvPr/>
        </p:nvSpPr>
        <p:spPr>
          <a:xfrm>
            <a:off x="6492240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修复前</a:t>
            </a:r>
            <a:endParaRPr lang="zh-CN" sz="1200" dirty="0"/>
          </a:p>
        </p:txBody>
      </p:sp>
      <p:sp>
        <p:nvSpPr>
          <p:cNvPr id="14" name="Text 12"/>
          <p:cNvSpPr/>
          <p:nvPr/>
        </p:nvSpPr>
        <p:spPr>
          <a:xfrm>
            <a:off x="6675120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415.7</a:t>
            </a:r>
            <a:endParaRPr lang="zh-CN" sz="3000" dirty="0"/>
          </a:p>
        </p:txBody>
      </p:sp>
      <p:sp>
        <p:nvSpPr>
          <p:cNvPr id="15" name="Text 13"/>
          <p:cNvSpPr/>
          <p:nvPr/>
        </p:nvSpPr>
        <p:spPr>
          <a:xfrm>
            <a:off x="6675120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µs</a:t>
            </a:r>
            <a:endParaRPr lang="zh-CN" sz="1200" dirty="0"/>
          </a:p>
        </p:txBody>
      </p:sp>
      <p:sp>
        <p:nvSpPr>
          <p:cNvPr id="16" name="Shape 14"/>
          <p:cNvSpPr/>
          <p:nvPr/>
        </p:nvSpPr>
        <p:spPr>
          <a:xfrm>
            <a:off x="8239658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22538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修复后</a:t>
            </a:r>
            <a:endParaRPr lang="zh-CN" sz="1200" dirty="0"/>
          </a:p>
        </p:txBody>
      </p:sp>
      <p:sp>
        <p:nvSpPr>
          <p:cNvPr id="18" name="Text 16"/>
          <p:cNvSpPr/>
          <p:nvPr/>
        </p:nvSpPr>
        <p:spPr>
          <a:xfrm>
            <a:off x="8422538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129.9</a:t>
            </a:r>
            <a:endParaRPr lang="zh-CN" sz="3000" dirty="0"/>
          </a:p>
        </p:txBody>
      </p:sp>
      <p:sp>
        <p:nvSpPr>
          <p:cNvPr id="19" name="Text 17"/>
          <p:cNvSpPr/>
          <p:nvPr/>
        </p:nvSpPr>
        <p:spPr>
          <a:xfrm>
            <a:off x="8422538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µs</a:t>
            </a:r>
            <a:endParaRPr lang="zh-CN" sz="1200" dirty="0"/>
          </a:p>
        </p:txBody>
      </p:sp>
      <p:sp>
        <p:nvSpPr>
          <p:cNvPr id="20" name="Shape 18"/>
          <p:cNvSpPr/>
          <p:nvPr/>
        </p:nvSpPr>
        <p:spPr>
          <a:xfrm>
            <a:off x="9987077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169957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 6.12</a:t>
            </a:r>
            <a:endParaRPr lang="zh-CN" sz="1200" dirty="0"/>
          </a:p>
        </p:txBody>
      </p:sp>
      <p:sp>
        <p:nvSpPr>
          <p:cNvPr id="22" name="Text 20"/>
          <p:cNvSpPr/>
          <p:nvPr/>
        </p:nvSpPr>
        <p:spPr>
          <a:xfrm>
            <a:off x="10169957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34.3</a:t>
            </a:r>
            <a:endParaRPr lang="zh-CN" sz="3000" dirty="0"/>
          </a:p>
        </p:txBody>
      </p:sp>
      <p:sp>
        <p:nvSpPr>
          <p:cNvPr id="23" name="Text 21"/>
          <p:cNvSpPr/>
          <p:nvPr/>
        </p:nvSpPr>
        <p:spPr>
          <a:xfrm>
            <a:off x="10169957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µs</a:t>
            </a:r>
            <a:endParaRPr lang="zh-CN" sz="1200" dirty="0"/>
          </a:p>
        </p:txBody>
      </p:sp>
      <p:graphicFrame>
        <p:nvGraphicFramePr>
          <p:cNvPr id="24" name="Chart 0" descr=""/>
          <p:cNvGraphicFramePr/>
          <p:nvPr/>
        </p:nvGraphicFramePr>
        <p:xfrm>
          <a:off x="6492240" y="3429000"/>
          <a:ext cx="5059375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Text 22"/>
          <p:cNvSpPr/>
          <p:nvPr/>
        </p:nvSpPr>
        <p:spPr>
          <a:xfrm>
            <a:off x="6492240" y="5669280"/>
            <a:ext cx="5059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同一处还带动：线程创建 891.3 → 646.9 µs，futex 往返 58.8 → 28.2 µs。</a:t>
            </a:r>
            <a:endParaRPr lang="zh-CN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02 浏览器 · 对照用例 2/10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epoll 等待（1020 个 fd）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225296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8308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反映的问题</a:t>
            </a:r>
            <a:endParaRPr lang="zh-CN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203704"/>
            <a:ext cx="53949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每次 epoll_wait 把全部 fd 重新登记一遍，代价随 fd 数线性上涨。Linux 只看就绪链表，与注册数无关。</a:t>
            </a:r>
            <a:endParaRPr lang="zh-CN" sz="1700" dirty="0"/>
          </a:p>
        </p:txBody>
      </p:sp>
      <p:sp>
        <p:nvSpPr>
          <p:cNvPr id="9" name="Shape 7"/>
          <p:cNvSpPr/>
          <p:nvPr/>
        </p:nvSpPr>
        <p:spPr>
          <a:xfrm>
            <a:off x="640080" y="3931920"/>
            <a:ext cx="676656" cy="310896"/>
          </a:xfrm>
          <a:prstGeom prst="roundRect">
            <a:avLst>
              <a:gd name="adj" fmla="val 23529"/>
            </a:avLst>
          </a:prstGeom>
          <a:solidFill>
            <a:srgbClr val="1FA896"/>
          </a:solidFill>
          <a:ln w="12700">
            <a:solidFill>
              <a:srgbClr val="1F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931920"/>
            <a:ext cx="676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</a:t>
            </a:r>
            <a:endParaRPr lang="zh-CN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352544"/>
            <a:ext cx="53949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#2302：扫描收窄到调用者需要的范围。</a:t>
            </a:r>
            <a:endParaRPr lang="zh-CN" sz="1700" dirty="0"/>
          </a:p>
          <a:p>
            <a:pPr indent="0" marL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#2433：租约仍武装就不重新登记。</a:t>
            </a:r>
            <a:endParaRPr lang="zh-CN" sz="1700" dirty="0"/>
          </a:p>
        </p:txBody>
      </p:sp>
      <p:sp>
        <p:nvSpPr>
          <p:cNvPr id="12" name="Shape 10"/>
          <p:cNvSpPr/>
          <p:nvPr/>
        </p:nvSpPr>
        <p:spPr>
          <a:xfrm>
            <a:off x="6492240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修复前</a:t>
            </a:r>
            <a:endParaRPr lang="zh-CN" sz="1200" dirty="0"/>
          </a:p>
        </p:txBody>
      </p:sp>
      <p:sp>
        <p:nvSpPr>
          <p:cNvPr id="14" name="Text 12"/>
          <p:cNvSpPr/>
          <p:nvPr/>
        </p:nvSpPr>
        <p:spPr>
          <a:xfrm>
            <a:off x="6675120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499.9</a:t>
            </a:r>
            <a:endParaRPr lang="zh-CN" sz="3000" dirty="0"/>
          </a:p>
        </p:txBody>
      </p:sp>
      <p:sp>
        <p:nvSpPr>
          <p:cNvPr id="15" name="Text 13"/>
          <p:cNvSpPr/>
          <p:nvPr/>
        </p:nvSpPr>
        <p:spPr>
          <a:xfrm>
            <a:off x="6675120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µs</a:t>
            </a:r>
            <a:endParaRPr lang="zh-CN" sz="1200" dirty="0"/>
          </a:p>
        </p:txBody>
      </p:sp>
      <p:sp>
        <p:nvSpPr>
          <p:cNvPr id="16" name="Shape 14"/>
          <p:cNvSpPr/>
          <p:nvPr/>
        </p:nvSpPr>
        <p:spPr>
          <a:xfrm>
            <a:off x="8239658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22538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修复后</a:t>
            </a:r>
            <a:endParaRPr lang="zh-CN" sz="1200" dirty="0"/>
          </a:p>
        </p:txBody>
      </p:sp>
      <p:sp>
        <p:nvSpPr>
          <p:cNvPr id="18" name="Text 16"/>
          <p:cNvSpPr/>
          <p:nvPr/>
        </p:nvSpPr>
        <p:spPr>
          <a:xfrm>
            <a:off x="8422538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37.0</a:t>
            </a:r>
            <a:endParaRPr lang="zh-CN" sz="3000" dirty="0"/>
          </a:p>
        </p:txBody>
      </p:sp>
      <p:sp>
        <p:nvSpPr>
          <p:cNvPr id="19" name="Text 17"/>
          <p:cNvSpPr/>
          <p:nvPr/>
        </p:nvSpPr>
        <p:spPr>
          <a:xfrm>
            <a:off x="8422538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µs</a:t>
            </a:r>
            <a:endParaRPr lang="zh-CN" sz="1200" dirty="0"/>
          </a:p>
        </p:txBody>
      </p:sp>
      <p:sp>
        <p:nvSpPr>
          <p:cNvPr id="20" name="Shape 18"/>
          <p:cNvSpPr/>
          <p:nvPr/>
        </p:nvSpPr>
        <p:spPr>
          <a:xfrm>
            <a:off x="9987077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169957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 6.12</a:t>
            </a:r>
            <a:endParaRPr lang="zh-CN" sz="1200" dirty="0"/>
          </a:p>
        </p:txBody>
      </p:sp>
      <p:sp>
        <p:nvSpPr>
          <p:cNvPr id="22" name="Text 20"/>
          <p:cNvSpPr/>
          <p:nvPr/>
        </p:nvSpPr>
        <p:spPr>
          <a:xfrm>
            <a:off x="10169957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0.56</a:t>
            </a:r>
            <a:endParaRPr lang="zh-CN" sz="3000" dirty="0"/>
          </a:p>
        </p:txBody>
      </p:sp>
      <p:sp>
        <p:nvSpPr>
          <p:cNvPr id="23" name="Text 21"/>
          <p:cNvSpPr/>
          <p:nvPr/>
        </p:nvSpPr>
        <p:spPr>
          <a:xfrm>
            <a:off x="10169957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µs</a:t>
            </a:r>
            <a:endParaRPr lang="zh-CN" sz="1200" dirty="0"/>
          </a:p>
        </p:txBody>
      </p:sp>
      <p:graphicFrame>
        <p:nvGraphicFramePr>
          <p:cNvPr id="24" name="Chart 0" descr=""/>
          <p:cNvGraphicFramePr/>
          <p:nvPr/>
        </p:nvGraphicFramePr>
        <p:xfrm>
          <a:off x="6492240" y="3429000"/>
          <a:ext cx="5059375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Text 22"/>
          <p:cNvSpPr/>
          <p:nvPr/>
        </p:nvSpPr>
        <p:spPr>
          <a:xfrm>
            <a:off x="6492240" y="5669280"/>
            <a:ext cx="5059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对 Linux 的倍数：891 → 66。等待路径仍遍历全部 fd，待改为只处理脏集合。</a:t>
            </a:r>
            <a:endParaRPr lang="zh-CN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02 浏览器 · 对照用例 3/10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fork（已触碰 64 MiB）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225296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8308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反映的问题</a:t>
            </a:r>
            <a:endParaRPr lang="zh-CN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203704"/>
            <a:ext cx="53949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给子进程发布页表项时，逐页在数组里查重，是平方级：16384 页约 1.34 亿次比较。</a:t>
            </a:r>
            <a:endParaRPr lang="zh-CN" sz="1700" dirty="0"/>
          </a:p>
        </p:txBody>
      </p:sp>
      <p:sp>
        <p:nvSpPr>
          <p:cNvPr id="9" name="Shape 7"/>
          <p:cNvSpPr/>
          <p:nvPr/>
        </p:nvSpPr>
        <p:spPr>
          <a:xfrm>
            <a:off x="640080" y="3931920"/>
            <a:ext cx="676656" cy="310896"/>
          </a:xfrm>
          <a:prstGeom prst="roundRect">
            <a:avLst>
              <a:gd name="adj" fmla="val 23529"/>
            </a:avLst>
          </a:prstGeom>
          <a:solidFill>
            <a:srgbClr val="1FA896"/>
          </a:solidFill>
          <a:ln w="12700">
            <a:solidFill>
              <a:srgbClr val="1F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931920"/>
            <a:ext cx="676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</a:t>
            </a:r>
            <a:endParaRPr lang="zh-CN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352544"/>
            <a:ext cx="53949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perf/fork-owner-dedup：换成一次「严格升序且不相交」的检查，同时能查出大页与小页重叠。</a:t>
            </a:r>
            <a:endParaRPr lang="zh-CN" sz="1700" dirty="0"/>
          </a:p>
        </p:txBody>
      </p:sp>
      <p:sp>
        <p:nvSpPr>
          <p:cNvPr id="12" name="Shape 10"/>
          <p:cNvSpPr/>
          <p:nvPr/>
        </p:nvSpPr>
        <p:spPr>
          <a:xfrm>
            <a:off x="6492240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修复前</a:t>
            </a:r>
            <a:endParaRPr lang="zh-CN" sz="1200" dirty="0"/>
          </a:p>
        </p:txBody>
      </p:sp>
      <p:sp>
        <p:nvSpPr>
          <p:cNvPr id="14" name="Text 12"/>
          <p:cNvSpPr/>
          <p:nvPr/>
        </p:nvSpPr>
        <p:spPr>
          <a:xfrm>
            <a:off x="6675120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84.5</a:t>
            </a:r>
            <a:endParaRPr lang="zh-CN" sz="3000" dirty="0"/>
          </a:p>
        </p:txBody>
      </p:sp>
      <p:sp>
        <p:nvSpPr>
          <p:cNvPr id="15" name="Text 13"/>
          <p:cNvSpPr/>
          <p:nvPr/>
        </p:nvSpPr>
        <p:spPr>
          <a:xfrm>
            <a:off x="6675120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ms</a:t>
            </a:r>
            <a:endParaRPr lang="zh-CN" sz="1200" dirty="0"/>
          </a:p>
        </p:txBody>
      </p:sp>
      <p:sp>
        <p:nvSpPr>
          <p:cNvPr id="16" name="Shape 14"/>
          <p:cNvSpPr/>
          <p:nvPr/>
        </p:nvSpPr>
        <p:spPr>
          <a:xfrm>
            <a:off x="8239658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22538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修复后</a:t>
            </a:r>
            <a:endParaRPr lang="zh-CN" sz="1200" dirty="0"/>
          </a:p>
        </p:txBody>
      </p:sp>
      <p:sp>
        <p:nvSpPr>
          <p:cNvPr id="18" name="Text 16"/>
          <p:cNvSpPr/>
          <p:nvPr/>
        </p:nvSpPr>
        <p:spPr>
          <a:xfrm>
            <a:off x="8422538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14.0</a:t>
            </a:r>
            <a:endParaRPr lang="zh-CN" sz="3000" dirty="0"/>
          </a:p>
        </p:txBody>
      </p:sp>
      <p:sp>
        <p:nvSpPr>
          <p:cNvPr id="19" name="Text 17"/>
          <p:cNvSpPr/>
          <p:nvPr/>
        </p:nvSpPr>
        <p:spPr>
          <a:xfrm>
            <a:off x="8422538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ms</a:t>
            </a:r>
            <a:endParaRPr lang="zh-CN" sz="1200" dirty="0"/>
          </a:p>
        </p:txBody>
      </p:sp>
      <p:sp>
        <p:nvSpPr>
          <p:cNvPr id="20" name="Shape 18"/>
          <p:cNvSpPr/>
          <p:nvPr/>
        </p:nvSpPr>
        <p:spPr>
          <a:xfrm>
            <a:off x="9987077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169957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 6.12</a:t>
            </a:r>
            <a:endParaRPr lang="zh-CN" sz="1200" dirty="0"/>
          </a:p>
        </p:txBody>
      </p:sp>
      <p:sp>
        <p:nvSpPr>
          <p:cNvPr id="22" name="Text 20"/>
          <p:cNvSpPr/>
          <p:nvPr/>
        </p:nvSpPr>
        <p:spPr>
          <a:xfrm>
            <a:off x="10169957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0.17</a:t>
            </a:r>
            <a:endParaRPr lang="zh-CN" sz="3000" dirty="0"/>
          </a:p>
        </p:txBody>
      </p:sp>
      <p:sp>
        <p:nvSpPr>
          <p:cNvPr id="23" name="Text 21"/>
          <p:cNvSpPr/>
          <p:nvPr/>
        </p:nvSpPr>
        <p:spPr>
          <a:xfrm>
            <a:off x="10169957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ms</a:t>
            </a:r>
            <a:endParaRPr lang="zh-CN" sz="1200" dirty="0"/>
          </a:p>
        </p:txBody>
      </p:sp>
      <p:graphicFrame>
        <p:nvGraphicFramePr>
          <p:cNvPr id="24" name="Chart 0" descr=""/>
          <p:cNvGraphicFramePr/>
          <p:nvPr/>
        </p:nvGraphicFramePr>
        <p:xfrm>
          <a:off x="6492240" y="3429000"/>
          <a:ext cx="5059375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Text 22"/>
          <p:cNvSpPr/>
          <p:nvPr/>
        </p:nvSpPr>
        <p:spPr>
          <a:xfrm>
            <a:off x="6492240" y="5669280"/>
            <a:ext cx="5059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剩余差距在每页一条反向映射记录，属结构性问题，未动。</a:t>
            </a:r>
            <a:endParaRPr lang="zh-CN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02 浏览器 · 对照用例 4/10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open 加 close（持有 512 个 fd）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225296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8308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反映的问题</a:t>
            </a:r>
            <a:endParaRPr lang="zh-CN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203704"/>
            <a:ext cx="53949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close 为了判断要不要释放 flock，遍历全系统每个任务的每个 fd。</a:t>
            </a:r>
            <a:endParaRPr lang="zh-CN" sz="1700" dirty="0"/>
          </a:p>
        </p:txBody>
      </p:sp>
      <p:sp>
        <p:nvSpPr>
          <p:cNvPr id="9" name="Shape 7"/>
          <p:cNvSpPr/>
          <p:nvPr/>
        </p:nvSpPr>
        <p:spPr>
          <a:xfrm>
            <a:off x="640080" y="3931920"/>
            <a:ext cx="676656" cy="310896"/>
          </a:xfrm>
          <a:prstGeom prst="roundRect">
            <a:avLst>
              <a:gd name="adj" fmla="val 23529"/>
            </a:avLst>
          </a:prstGeom>
          <a:solidFill>
            <a:srgbClr val="1FA896"/>
          </a:solidFill>
          <a:ln w="12700">
            <a:solidFill>
              <a:srgbClr val="1F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931920"/>
            <a:ext cx="676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</a:t>
            </a:r>
            <a:endParaRPr lang="zh-CN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352544"/>
            <a:ext cx="53949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fix/flock-release-at-last-reference：flock 在打开文件描述的最后一个引用消失时释放，与 Linux 最后一次 fput 一致；扫描随之去掉。</a:t>
            </a:r>
            <a:endParaRPr lang="zh-CN" sz="1700" dirty="0"/>
          </a:p>
        </p:txBody>
      </p:sp>
      <p:sp>
        <p:nvSpPr>
          <p:cNvPr id="12" name="Shape 10"/>
          <p:cNvSpPr/>
          <p:nvPr/>
        </p:nvSpPr>
        <p:spPr>
          <a:xfrm>
            <a:off x="6492240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修复前</a:t>
            </a:r>
            <a:endParaRPr lang="zh-CN" sz="1200" dirty="0"/>
          </a:p>
        </p:txBody>
      </p:sp>
      <p:sp>
        <p:nvSpPr>
          <p:cNvPr id="14" name="Text 12"/>
          <p:cNvSpPr/>
          <p:nvPr/>
        </p:nvSpPr>
        <p:spPr>
          <a:xfrm>
            <a:off x="6675120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19.8</a:t>
            </a:r>
            <a:endParaRPr lang="zh-CN" sz="3000" dirty="0"/>
          </a:p>
        </p:txBody>
      </p:sp>
      <p:sp>
        <p:nvSpPr>
          <p:cNvPr id="15" name="Text 13"/>
          <p:cNvSpPr/>
          <p:nvPr/>
        </p:nvSpPr>
        <p:spPr>
          <a:xfrm>
            <a:off x="6675120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µs</a:t>
            </a:r>
            <a:endParaRPr lang="zh-CN" sz="1200" dirty="0"/>
          </a:p>
        </p:txBody>
      </p:sp>
      <p:sp>
        <p:nvSpPr>
          <p:cNvPr id="16" name="Shape 14"/>
          <p:cNvSpPr/>
          <p:nvPr/>
        </p:nvSpPr>
        <p:spPr>
          <a:xfrm>
            <a:off x="8239658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22538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修复后</a:t>
            </a:r>
            <a:endParaRPr lang="zh-CN" sz="1200" dirty="0"/>
          </a:p>
        </p:txBody>
      </p:sp>
      <p:sp>
        <p:nvSpPr>
          <p:cNvPr id="18" name="Text 16"/>
          <p:cNvSpPr/>
          <p:nvPr/>
        </p:nvSpPr>
        <p:spPr>
          <a:xfrm>
            <a:off x="8422538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3.2</a:t>
            </a:r>
            <a:endParaRPr lang="zh-CN" sz="3000" dirty="0"/>
          </a:p>
        </p:txBody>
      </p:sp>
      <p:sp>
        <p:nvSpPr>
          <p:cNvPr id="19" name="Text 17"/>
          <p:cNvSpPr/>
          <p:nvPr/>
        </p:nvSpPr>
        <p:spPr>
          <a:xfrm>
            <a:off x="8422538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µs</a:t>
            </a:r>
            <a:endParaRPr lang="zh-CN" sz="1200" dirty="0"/>
          </a:p>
        </p:txBody>
      </p:sp>
      <p:sp>
        <p:nvSpPr>
          <p:cNvPr id="20" name="Shape 18"/>
          <p:cNvSpPr/>
          <p:nvPr/>
        </p:nvSpPr>
        <p:spPr>
          <a:xfrm>
            <a:off x="9987077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169957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 6.12</a:t>
            </a:r>
            <a:endParaRPr lang="zh-CN" sz="1200" dirty="0"/>
          </a:p>
        </p:txBody>
      </p:sp>
      <p:sp>
        <p:nvSpPr>
          <p:cNvPr id="22" name="Text 20"/>
          <p:cNvSpPr/>
          <p:nvPr/>
        </p:nvSpPr>
        <p:spPr>
          <a:xfrm>
            <a:off x="10169957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2.3</a:t>
            </a:r>
            <a:endParaRPr lang="zh-CN" sz="3000" dirty="0"/>
          </a:p>
        </p:txBody>
      </p:sp>
      <p:sp>
        <p:nvSpPr>
          <p:cNvPr id="23" name="Text 21"/>
          <p:cNvSpPr/>
          <p:nvPr/>
        </p:nvSpPr>
        <p:spPr>
          <a:xfrm>
            <a:off x="10169957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µs</a:t>
            </a:r>
            <a:endParaRPr lang="zh-CN" sz="1200" dirty="0"/>
          </a:p>
        </p:txBody>
      </p:sp>
      <p:graphicFrame>
        <p:nvGraphicFramePr>
          <p:cNvPr id="24" name="Chart 0" descr=""/>
          <p:cNvGraphicFramePr/>
          <p:nvPr/>
        </p:nvGraphicFramePr>
        <p:xfrm>
          <a:off x="6492240" y="3429000"/>
          <a:ext cx="5059375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Text 22"/>
          <p:cNvSpPr/>
          <p:nvPr/>
        </p:nvSpPr>
        <p:spPr>
          <a:xfrm>
            <a:off x="6492240" y="5669280"/>
            <a:ext cx="5059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顺带改正：SCM_RIGHTS 报文在途时 flock 不再被提前释放，用例 5 过 2 挂 → 7 项全过。</a:t>
            </a:r>
            <a:endParaRPr lang="zh-CN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02 浏览器 · 对照用例 5/10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mmap（已有 1024 个映射）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225296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8308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反映的问题</a:t>
            </a:r>
            <a:endParaRPr lang="zh-CN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203704"/>
            <a:ext cx="53949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查找、合并、找空闲区都先把整棵 VMA 树展开成数组，一次 mmap 加 munmap 走 11 遍全树。</a:t>
            </a:r>
            <a:endParaRPr lang="zh-CN" sz="1700" dirty="0"/>
          </a:p>
        </p:txBody>
      </p:sp>
      <p:sp>
        <p:nvSpPr>
          <p:cNvPr id="9" name="Shape 7"/>
          <p:cNvSpPr/>
          <p:nvPr/>
        </p:nvSpPr>
        <p:spPr>
          <a:xfrm>
            <a:off x="640080" y="3931920"/>
            <a:ext cx="676656" cy="310896"/>
          </a:xfrm>
          <a:prstGeom prst="roundRect">
            <a:avLst>
              <a:gd name="adj" fmla="val 23529"/>
            </a:avLst>
          </a:prstGeom>
          <a:solidFill>
            <a:srgbClr val="1FA896"/>
          </a:solidFill>
          <a:ln w="12700">
            <a:solidFill>
              <a:srgbClr val="1F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931920"/>
            <a:ext cx="676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</a:t>
            </a:r>
            <a:endParaRPr lang="zh-CN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352544"/>
            <a:ext cx="53949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#2302 与 perf/vma-interval-queries：改成按区间访问。</a:t>
            </a:r>
            <a:endParaRPr lang="zh-CN" sz="1700" dirty="0"/>
          </a:p>
        </p:txBody>
      </p:sp>
      <p:sp>
        <p:nvSpPr>
          <p:cNvPr id="12" name="Shape 10"/>
          <p:cNvSpPr/>
          <p:nvPr/>
        </p:nvSpPr>
        <p:spPr>
          <a:xfrm>
            <a:off x="6492240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修复前</a:t>
            </a:r>
            <a:endParaRPr lang="zh-CN" sz="1200" dirty="0"/>
          </a:p>
        </p:txBody>
      </p:sp>
      <p:sp>
        <p:nvSpPr>
          <p:cNvPr id="14" name="Text 12"/>
          <p:cNvSpPr/>
          <p:nvPr/>
        </p:nvSpPr>
        <p:spPr>
          <a:xfrm>
            <a:off x="6675120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246.1</a:t>
            </a:r>
            <a:endParaRPr lang="zh-CN" sz="3000" dirty="0"/>
          </a:p>
        </p:txBody>
      </p:sp>
      <p:sp>
        <p:nvSpPr>
          <p:cNvPr id="15" name="Text 13"/>
          <p:cNvSpPr/>
          <p:nvPr/>
        </p:nvSpPr>
        <p:spPr>
          <a:xfrm>
            <a:off x="6675120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µs</a:t>
            </a:r>
            <a:endParaRPr lang="zh-CN" sz="1200" dirty="0"/>
          </a:p>
        </p:txBody>
      </p:sp>
      <p:sp>
        <p:nvSpPr>
          <p:cNvPr id="16" name="Shape 14"/>
          <p:cNvSpPr/>
          <p:nvPr/>
        </p:nvSpPr>
        <p:spPr>
          <a:xfrm>
            <a:off x="8239658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22538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修复后</a:t>
            </a:r>
            <a:endParaRPr lang="zh-CN" sz="1200" dirty="0"/>
          </a:p>
        </p:txBody>
      </p:sp>
      <p:sp>
        <p:nvSpPr>
          <p:cNvPr id="18" name="Text 16"/>
          <p:cNvSpPr/>
          <p:nvPr/>
        </p:nvSpPr>
        <p:spPr>
          <a:xfrm>
            <a:off x="8422538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207.3</a:t>
            </a:r>
            <a:endParaRPr lang="zh-CN" sz="3000" dirty="0"/>
          </a:p>
        </p:txBody>
      </p:sp>
      <p:sp>
        <p:nvSpPr>
          <p:cNvPr id="19" name="Text 17"/>
          <p:cNvSpPr/>
          <p:nvPr/>
        </p:nvSpPr>
        <p:spPr>
          <a:xfrm>
            <a:off x="8422538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µs</a:t>
            </a:r>
            <a:endParaRPr lang="zh-CN" sz="1200" dirty="0"/>
          </a:p>
        </p:txBody>
      </p:sp>
      <p:sp>
        <p:nvSpPr>
          <p:cNvPr id="20" name="Shape 18"/>
          <p:cNvSpPr/>
          <p:nvPr/>
        </p:nvSpPr>
        <p:spPr>
          <a:xfrm>
            <a:off x="9987077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169957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 6.12</a:t>
            </a:r>
            <a:endParaRPr lang="zh-CN" sz="1200" dirty="0"/>
          </a:p>
        </p:txBody>
      </p:sp>
      <p:sp>
        <p:nvSpPr>
          <p:cNvPr id="22" name="Text 20"/>
          <p:cNvSpPr/>
          <p:nvPr/>
        </p:nvSpPr>
        <p:spPr>
          <a:xfrm>
            <a:off x="10169957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4.4</a:t>
            </a:r>
            <a:endParaRPr lang="zh-CN" sz="3000" dirty="0"/>
          </a:p>
        </p:txBody>
      </p:sp>
      <p:sp>
        <p:nvSpPr>
          <p:cNvPr id="23" name="Text 21"/>
          <p:cNvSpPr/>
          <p:nvPr/>
        </p:nvSpPr>
        <p:spPr>
          <a:xfrm>
            <a:off x="10169957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µs</a:t>
            </a:r>
            <a:endParaRPr lang="zh-CN" sz="1200" dirty="0"/>
          </a:p>
        </p:txBody>
      </p:sp>
      <p:graphicFrame>
        <p:nvGraphicFramePr>
          <p:cNvPr id="24" name="Chart 0" descr=""/>
          <p:cNvGraphicFramePr/>
          <p:nvPr/>
        </p:nvGraphicFramePr>
        <p:xfrm>
          <a:off x="6492240" y="3429000"/>
          <a:ext cx="5059375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Text 22"/>
          <p:cNvSpPr/>
          <p:nvPr/>
        </p:nvSpPr>
        <p:spPr>
          <a:xfrm>
            <a:off x="6492240" y="5669280"/>
            <a:ext cx="5059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收益不显著，仍是 Linux 的 47 倍，没有追平。</a:t>
            </a:r>
            <a:endParaRPr lang="zh-CN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02 浏览器 · 对照用例 6/10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内核栈采样：slab 分配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225296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8308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反映的问题</a:t>
            </a:r>
            <a:endParaRPr lang="zh-CN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203704"/>
            <a:ext cx="53949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浏览器负载下采样，栈顶最多的是分配对象时遍历整条 full slab 链表，去找跨 CPU 的释放；这种释放很少，几乎每次空手而回。</a:t>
            </a:r>
            <a:endParaRPr lang="zh-CN" sz="1700" dirty="0"/>
          </a:p>
        </p:txBody>
      </p:sp>
      <p:sp>
        <p:nvSpPr>
          <p:cNvPr id="9" name="Shape 7"/>
          <p:cNvSpPr/>
          <p:nvPr/>
        </p:nvSpPr>
        <p:spPr>
          <a:xfrm>
            <a:off x="640080" y="3931920"/>
            <a:ext cx="676656" cy="310896"/>
          </a:xfrm>
          <a:prstGeom prst="roundRect">
            <a:avLst>
              <a:gd name="adj" fmla="val 23529"/>
            </a:avLst>
          </a:prstGeom>
          <a:solidFill>
            <a:srgbClr val="1FA896"/>
          </a:solidFill>
          <a:ln w="12700">
            <a:solidFill>
              <a:srgbClr val="1F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931920"/>
            <a:ext cx="676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</a:t>
            </a:r>
            <a:endParaRPr lang="zh-CN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352544"/>
            <a:ext cx="53949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#2301：跨 CPU 释放时登记一下，登记过才遍历。</a:t>
            </a:r>
            <a:endParaRPr lang="zh-CN" sz="1700" dirty="0"/>
          </a:p>
        </p:txBody>
      </p:sp>
      <p:sp>
        <p:nvSpPr>
          <p:cNvPr id="12" name="Shape 10"/>
          <p:cNvSpPr/>
          <p:nvPr/>
        </p:nvSpPr>
        <p:spPr>
          <a:xfrm>
            <a:off x="6492240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修复前</a:t>
            </a:r>
            <a:endParaRPr lang="zh-CN" sz="1200" dirty="0"/>
          </a:p>
        </p:txBody>
      </p:sp>
      <p:sp>
        <p:nvSpPr>
          <p:cNvPr id="14" name="Text 12"/>
          <p:cNvSpPr/>
          <p:nvPr/>
        </p:nvSpPr>
        <p:spPr>
          <a:xfrm>
            <a:off x="6675120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2701</a:t>
            </a:r>
            <a:endParaRPr lang="zh-CN" sz="3000" dirty="0"/>
          </a:p>
        </p:txBody>
      </p:sp>
      <p:sp>
        <p:nvSpPr>
          <p:cNvPr id="15" name="Text 13"/>
          <p:cNvSpPr/>
          <p:nvPr/>
        </p:nvSpPr>
        <p:spPr>
          <a:xfrm>
            <a:off x="6675120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个节点</a:t>
            </a:r>
            <a:endParaRPr lang="zh-CN" sz="1200" dirty="0"/>
          </a:p>
        </p:txBody>
      </p:sp>
      <p:sp>
        <p:nvSpPr>
          <p:cNvPr id="16" name="Shape 14"/>
          <p:cNvSpPr/>
          <p:nvPr/>
        </p:nvSpPr>
        <p:spPr>
          <a:xfrm>
            <a:off x="8239658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22538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修复后</a:t>
            </a:r>
            <a:endParaRPr lang="zh-CN" sz="1200" dirty="0"/>
          </a:p>
        </p:txBody>
      </p:sp>
      <p:sp>
        <p:nvSpPr>
          <p:cNvPr id="18" name="Text 16"/>
          <p:cNvSpPr/>
          <p:nvPr/>
        </p:nvSpPr>
        <p:spPr>
          <a:xfrm>
            <a:off x="8422538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zh-CN" sz="3000" dirty="0"/>
          </a:p>
        </p:txBody>
      </p:sp>
      <p:sp>
        <p:nvSpPr>
          <p:cNvPr id="19" name="Text 17"/>
          <p:cNvSpPr/>
          <p:nvPr/>
        </p:nvSpPr>
        <p:spPr>
          <a:xfrm>
            <a:off x="8422538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个节点</a:t>
            </a:r>
            <a:endParaRPr lang="zh-CN" sz="1200" dirty="0"/>
          </a:p>
        </p:txBody>
      </p:sp>
      <p:sp>
        <p:nvSpPr>
          <p:cNvPr id="20" name="Shape 18"/>
          <p:cNvSpPr/>
          <p:nvPr/>
        </p:nvSpPr>
        <p:spPr>
          <a:xfrm>
            <a:off x="9987077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169957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发现方式</a:t>
            </a:r>
            <a:endParaRPr lang="zh-CN" sz="1200" dirty="0"/>
          </a:p>
        </p:txBody>
      </p:sp>
      <p:sp>
        <p:nvSpPr>
          <p:cNvPr id="22" name="Text 20"/>
          <p:cNvSpPr/>
          <p:nvPr/>
        </p:nvSpPr>
        <p:spPr>
          <a:xfrm>
            <a:off x="10169957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4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栈采样</a:t>
            </a:r>
            <a:endParaRPr lang="zh-CN" sz="2400" dirty="0"/>
          </a:p>
        </p:txBody>
      </p:sp>
      <p:sp>
        <p:nvSpPr>
          <p:cNvPr id="23" name="Shape 21"/>
          <p:cNvSpPr/>
          <p:nvPr/>
        </p:nvSpPr>
        <p:spPr>
          <a:xfrm>
            <a:off x="6492240" y="3429000"/>
            <a:ext cx="5059375" cy="1572768"/>
          </a:xfrm>
          <a:prstGeom prst="roundRect">
            <a:avLst>
              <a:gd name="adj" fmla="val 6977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20840" y="3584448"/>
            <a:ext cx="4602175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数字是 512 次分配遍历的 full slab 节点数。</a:t>
            </a:r>
            <a:endParaRPr lang="zh-CN" sz="1500" dirty="0"/>
          </a:p>
          <a:p>
            <a:pPr indent="0" marL="0">
              <a:spcAft>
                <a:spcPts val="800"/>
              </a:spcAft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采样方法：经 QEMU 的 gdb 接口定时取全部线程的栈。40 次采样里只有 1 次落在用户态，慢的是内核。</a:t>
            </a:r>
            <a:endParaRPr lang="zh-CN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02 浏览器 · 对照用例 7/10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nc 发 CONNECT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225296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8308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反映的问题</a:t>
            </a:r>
            <a:endParaRPr lang="zh-CN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203704"/>
            <a:ext cx="53949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TCP 半关闭后，连接状态不再发布，poll 一直读到旧状态。nc 等满 16 秒失败，同目标的 wget 正常。</a:t>
            </a:r>
            <a:endParaRPr lang="zh-CN" sz="1700" dirty="0"/>
          </a:p>
        </p:txBody>
      </p:sp>
      <p:sp>
        <p:nvSpPr>
          <p:cNvPr id="9" name="Shape 7"/>
          <p:cNvSpPr/>
          <p:nvPr/>
        </p:nvSpPr>
        <p:spPr>
          <a:xfrm>
            <a:off x="640080" y="3931920"/>
            <a:ext cx="676656" cy="310896"/>
          </a:xfrm>
          <a:prstGeom prst="roundRect">
            <a:avLst>
              <a:gd name="adj" fmla="val 23529"/>
            </a:avLst>
          </a:prstGeom>
          <a:solidFill>
            <a:srgbClr val="1FA896"/>
          </a:solidFill>
          <a:ln w="12700">
            <a:solidFill>
              <a:srgbClr val="1F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931920"/>
            <a:ext cx="676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</a:t>
            </a:r>
            <a:endParaRPr lang="zh-CN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352544"/>
            <a:ext cx="53949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fix/tcp-half-close-reply：状态改在守卫析构时发布；poll 的挂断事件对齐 Linux。</a:t>
            </a:r>
            <a:endParaRPr lang="zh-CN" sz="1700" dirty="0"/>
          </a:p>
        </p:txBody>
      </p:sp>
      <p:sp>
        <p:nvSpPr>
          <p:cNvPr id="12" name="Shape 10"/>
          <p:cNvSpPr/>
          <p:nvPr/>
        </p:nvSpPr>
        <p:spPr>
          <a:xfrm>
            <a:off x="6492240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修复前</a:t>
            </a:r>
            <a:endParaRPr lang="zh-CN" sz="1200" dirty="0"/>
          </a:p>
        </p:txBody>
      </p:sp>
      <p:sp>
        <p:nvSpPr>
          <p:cNvPr id="14" name="Text 12"/>
          <p:cNvSpPr/>
          <p:nvPr/>
        </p:nvSpPr>
        <p:spPr>
          <a:xfrm>
            <a:off x="6675120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16</a:t>
            </a:r>
            <a:endParaRPr lang="zh-CN" sz="3000" dirty="0"/>
          </a:p>
        </p:txBody>
      </p:sp>
      <p:sp>
        <p:nvSpPr>
          <p:cNvPr id="15" name="Text 13"/>
          <p:cNvSpPr/>
          <p:nvPr/>
        </p:nvSpPr>
        <p:spPr>
          <a:xfrm>
            <a:off x="6675120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秒后失败</a:t>
            </a:r>
            <a:endParaRPr lang="zh-CN" sz="1200" dirty="0"/>
          </a:p>
        </p:txBody>
      </p:sp>
      <p:sp>
        <p:nvSpPr>
          <p:cNvPr id="16" name="Shape 14"/>
          <p:cNvSpPr/>
          <p:nvPr/>
        </p:nvSpPr>
        <p:spPr>
          <a:xfrm>
            <a:off x="8239658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22538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修复后</a:t>
            </a:r>
            <a:endParaRPr lang="zh-CN" sz="1200" dirty="0"/>
          </a:p>
        </p:txBody>
      </p:sp>
      <p:sp>
        <p:nvSpPr>
          <p:cNvPr id="18" name="Text 16"/>
          <p:cNvSpPr/>
          <p:nvPr/>
        </p:nvSpPr>
        <p:spPr>
          <a:xfrm>
            <a:off x="8422538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zh-CN" sz="3000" dirty="0"/>
          </a:p>
        </p:txBody>
      </p:sp>
      <p:sp>
        <p:nvSpPr>
          <p:cNvPr id="19" name="Text 17"/>
          <p:cNvSpPr/>
          <p:nvPr/>
        </p:nvSpPr>
        <p:spPr>
          <a:xfrm>
            <a:off x="8422538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秒</a:t>
            </a:r>
            <a:endParaRPr lang="zh-CN" sz="1200" dirty="0"/>
          </a:p>
        </p:txBody>
      </p:sp>
      <p:sp>
        <p:nvSpPr>
          <p:cNvPr id="20" name="Shape 18"/>
          <p:cNvSpPr/>
          <p:nvPr/>
        </p:nvSpPr>
        <p:spPr>
          <a:xfrm>
            <a:off x="9987077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169957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 6.12</a:t>
            </a:r>
            <a:endParaRPr lang="zh-CN" sz="1200" dirty="0"/>
          </a:p>
        </p:txBody>
      </p:sp>
      <p:sp>
        <p:nvSpPr>
          <p:cNvPr id="22" name="Text 20"/>
          <p:cNvSpPr/>
          <p:nvPr/>
        </p:nvSpPr>
        <p:spPr>
          <a:xfrm>
            <a:off x="10169957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zh-CN" sz="3000" dirty="0"/>
          </a:p>
        </p:txBody>
      </p:sp>
      <p:sp>
        <p:nvSpPr>
          <p:cNvPr id="23" name="Text 21"/>
          <p:cNvSpPr/>
          <p:nvPr/>
        </p:nvSpPr>
        <p:spPr>
          <a:xfrm>
            <a:off x="10169957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秒</a:t>
            </a:r>
            <a:endParaRPr lang="zh-CN" sz="1200" dirty="0"/>
          </a:p>
        </p:txBody>
      </p:sp>
      <p:sp>
        <p:nvSpPr>
          <p:cNvPr id="24" name="Shape 22"/>
          <p:cNvSpPr/>
          <p:nvPr/>
        </p:nvSpPr>
        <p:spPr>
          <a:xfrm>
            <a:off x="6492240" y="3429000"/>
            <a:ext cx="5059375" cy="1572768"/>
          </a:xfrm>
          <a:prstGeom prst="roundRect">
            <a:avLst>
              <a:gd name="adj" fmla="val 6977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20840" y="3584448"/>
            <a:ext cx="4602175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回归用例：22 过 8 挂 → 30 项全过，宿主 Linux 同为 30 项。</a:t>
            </a:r>
            <a:endParaRPr lang="zh-CN" sz="1500" dirty="0"/>
          </a:p>
          <a:p>
            <a:pPr indent="0" marL="0">
              <a:spcAft>
                <a:spcPts val="800"/>
              </a:spcAft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16 秒恰是 SYN 重传 1+2+4+8 的和，起初误判为连接没建成。</a:t>
            </a:r>
            <a:endParaRPr lang="zh-CN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02 浏览器 · 对照用例 8/10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Firefox 冷启动段错误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16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225296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8308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反映的问题</a:t>
            </a:r>
            <a:endParaRPr lang="zh-CN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203704"/>
            <a:ext cx="53949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netlink 错误回复按请求长度原样回显，不补齐，长 37 字节。读取方按 4 字节对齐走到 40，越界。</a:t>
            </a:r>
            <a:endParaRPr lang="zh-CN" sz="1700" dirty="0"/>
          </a:p>
        </p:txBody>
      </p:sp>
      <p:sp>
        <p:nvSpPr>
          <p:cNvPr id="9" name="Shape 7"/>
          <p:cNvSpPr/>
          <p:nvPr/>
        </p:nvSpPr>
        <p:spPr>
          <a:xfrm>
            <a:off x="640080" y="3931920"/>
            <a:ext cx="676656" cy="310896"/>
          </a:xfrm>
          <a:prstGeom prst="roundRect">
            <a:avLst>
              <a:gd name="adj" fmla="val 23529"/>
            </a:avLst>
          </a:prstGeom>
          <a:solidFill>
            <a:srgbClr val="1FA896"/>
          </a:solidFill>
          <a:ln w="12700">
            <a:solidFill>
              <a:srgbClr val="1F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931920"/>
            <a:ext cx="676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</a:t>
            </a:r>
            <a:endParaRPr lang="zh-CN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352544"/>
            <a:ext cx="53949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fix/netlink-message-padding：回复补齐到 NLMSG_ALIGNTO，与 Linux 的 40 字节一致。</a:t>
            </a:r>
            <a:endParaRPr lang="zh-CN" sz="1700" dirty="0"/>
          </a:p>
        </p:txBody>
      </p:sp>
      <p:sp>
        <p:nvSpPr>
          <p:cNvPr id="12" name="Shape 10"/>
          <p:cNvSpPr/>
          <p:nvPr/>
        </p:nvSpPr>
        <p:spPr>
          <a:xfrm>
            <a:off x="6492240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修复前</a:t>
            </a:r>
            <a:endParaRPr lang="zh-CN" sz="1200" dirty="0"/>
          </a:p>
        </p:txBody>
      </p:sp>
      <p:sp>
        <p:nvSpPr>
          <p:cNvPr id="14" name="Text 12"/>
          <p:cNvSpPr/>
          <p:nvPr/>
        </p:nvSpPr>
        <p:spPr>
          <a:xfrm>
            <a:off x="6675120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5/12</a:t>
            </a:r>
            <a:endParaRPr lang="zh-CN" sz="3000" dirty="0"/>
          </a:p>
        </p:txBody>
      </p:sp>
      <p:sp>
        <p:nvSpPr>
          <p:cNvPr id="15" name="Text 13"/>
          <p:cNvSpPr/>
          <p:nvPr/>
        </p:nvSpPr>
        <p:spPr>
          <a:xfrm>
            <a:off x="6675120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次冷启动段错误</a:t>
            </a:r>
            <a:endParaRPr lang="zh-CN" sz="1200" dirty="0"/>
          </a:p>
        </p:txBody>
      </p:sp>
      <p:sp>
        <p:nvSpPr>
          <p:cNvPr id="16" name="Shape 14"/>
          <p:cNvSpPr/>
          <p:nvPr/>
        </p:nvSpPr>
        <p:spPr>
          <a:xfrm>
            <a:off x="8239658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22538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修复后</a:t>
            </a:r>
            <a:endParaRPr lang="zh-CN" sz="1200" dirty="0"/>
          </a:p>
        </p:txBody>
      </p:sp>
      <p:sp>
        <p:nvSpPr>
          <p:cNvPr id="18" name="Text 16"/>
          <p:cNvSpPr/>
          <p:nvPr/>
        </p:nvSpPr>
        <p:spPr>
          <a:xfrm>
            <a:off x="8422538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0/12</a:t>
            </a:r>
            <a:endParaRPr lang="zh-CN" sz="3000" dirty="0"/>
          </a:p>
        </p:txBody>
      </p:sp>
      <p:sp>
        <p:nvSpPr>
          <p:cNvPr id="19" name="Shape 17"/>
          <p:cNvSpPr/>
          <p:nvPr/>
        </p:nvSpPr>
        <p:spPr>
          <a:xfrm>
            <a:off x="9987077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169957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 6.12</a:t>
            </a:r>
            <a:endParaRPr lang="zh-CN" sz="1200" dirty="0"/>
          </a:p>
        </p:txBody>
      </p:sp>
      <p:sp>
        <p:nvSpPr>
          <p:cNvPr id="21" name="Text 19"/>
          <p:cNvSpPr/>
          <p:nvPr/>
        </p:nvSpPr>
        <p:spPr>
          <a:xfrm>
            <a:off x="10169957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zh-CN" sz="3000" dirty="0"/>
          </a:p>
        </p:txBody>
      </p:sp>
      <p:sp>
        <p:nvSpPr>
          <p:cNvPr id="22" name="Shape 20"/>
          <p:cNvSpPr/>
          <p:nvPr/>
        </p:nvSpPr>
        <p:spPr>
          <a:xfrm>
            <a:off x="6492240" y="3429000"/>
            <a:ext cx="5059375" cy="640080"/>
          </a:xfrm>
          <a:prstGeom prst="roundRect">
            <a:avLst>
              <a:gd name="adj" fmla="val 17143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20840" y="3584448"/>
            <a:ext cx="46021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同一次对照里，导航尝试次数从 1.7 降到 1。</a:t>
            </a:r>
            <a:endParaRPr lang="zh-CN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02 浏览器 · 对照用例 9/10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远程桌面里起 xterm（tty）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17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225296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8308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反映的问题</a:t>
            </a:r>
            <a:endParaRPr lang="zh-CN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203704"/>
            <a:ext cx="53949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五处偏差：打开 tty 不设控制终端；从端重开后主端仍读到挂断；devpts 下标不回收；命名空间内 tcgetpgrp 与 getpgrp 不一致；会话首进程 setpgid 返回 0。</a:t>
            </a:r>
            <a:endParaRPr lang="zh-CN" sz="1700" dirty="0"/>
          </a:p>
        </p:txBody>
      </p:sp>
      <p:sp>
        <p:nvSpPr>
          <p:cNvPr id="9" name="Shape 7"/>
          <p:cNvSpPr/>
          <p:nvPr/>
        </p:nvSpPr>
        <p:spPr>
          <a:xfrm>
            <a:off x="640080" y="3931920"/>
            <a:ext cx="676656" cy="310896"/>
          </a:xfrm>
          <a:prstGeom prst="roundRect">
            <a:avLst>
              <a:gd name="adj" fmla="val 23529"/>
            </a:avLst>
          </a:prstGeom>
          <a:solidFill>
            <a:srgbClr val="1FA896"/>
          </a:solidFill>
          <a:ln w="12700">
            <a:solidFill>
              <a:srgbClr val="1F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931920"/>
            <a:ext cx="676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</a:t>
            </a:r>
            <a:endParaRPr lang="zh-CN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352544"/>
            <a:ext cx="53949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#2426：五处合成一个提交，逐条对照 Linux 的 tty_open 等路径。</a:t>
            </a:r>
            <a:endParaRPr lang="zh-CN" sz="1700" dirty="0"/>
          </a:p>
        </p:txBody>
      </p:sp>
      <p:sp>
        <p:nvSpPr>
          <p:cNvPr id="12" name="Shape 10"/>
          <p:cNvSpPr/>
          <p:nvPr/>
        </p:nvSpPr>
        <p:spPr>
          <a:xfrm>
            <a:off x="6492240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修复前</a:t>
            </a:r>
            <a:endParaRPr lang="zh-CN" sz="1200" dirty="0"/>
          </a:p>
        </p:txBody>
      </p:sp>
      <p:sp>
        <p:nvSpPr>
          <p:cNvPr id="14" name="Text 12"/>
          <p:cNvSpPr/>
          <p:nvPr/>
        </p:nvSpPr>
        <p:spPr>
          <a:xfrm>
            <a:off x="6675120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400" b="1" dirty="0">
                <a:solidFill>
                  <a:srgbClr val="E2604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起不来</a:t>
            </a:r>
            <a:endParaRPr lang="zh-CN" sz="2400" dirty="0"/>
          </a:p>
        </p:txBody>
      </p:sp>
      <p:sp>
        <p:nvSpPr>
          <p:cNvPr id="15" name="Shape 13"/>
          <p:cNvSpPr/>
          <p:nvPr/>
        </p:nvSpPr>
        <p:spPr>
          <a:xfrm>
            <a:off x="8239658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22538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修复后</a:t>
            </a:r>
            <a:endParaRPr lang="zh-CN" sz="1200" dirty="0"/>
          </a:p>
        </p:txBody>
      </p:sp>
      <p:sp>
        <p:nvSpPr>
          <p:cNvPr id="17" name="Text 15"/>
          <p:cNvSpPr/>
          <p:nvPr/>
        </p:nvSpPr>
        <p:spPr>
          <a:xfrm>
            <a:off x="8422538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400" b="1" dirty="0">
                <a:solidFill>
                  <a:srgbClr val="1FA896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正常</a:t>
            </a:r>
            <a:endParaRPr lang="zh-CN" sz="2400" dirty="0"/>
          </a:p>
        </p:txBody>
      </p:sp>
      <p:sp>
        <p:nvSpPr>
          <p:cNvPr id="18" name="Shape 16"/>
          <p:cNvSpPr/>
          <p:nvPr/>
        </p:nvSpPr>
        <p:spPr>
          <a:xfrm>
            <a:off x="9987077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169957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 6.12</a:t>
            </a:r>
            <a:endParaRPr lang="zh-CN" sz="1200" dirty="0"/>
          </a:p>
        </p:txBody>
      </p:sp>
      <p:sp>
        <p:nvSpPr>
          <p:cNvPr id="20" name="Text 18"/>
          <p:cNvSpPr/>
          <p:nvPr/>
        </p:nvSpPr>
        <p:spPr>
          <a:xfrm>
            <a:off x="10169957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4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正常</a:t>
            </a:r>
            <a:endParaRPr lang="zh-CN" sz="2400" dirty="0"/>
          </a:p>
        </p:txBody>
      </p:sp>
      <p:sp>
        <p:nvSpPr>
          <p:cNvPr id="21" name="Shape 19"/>
          <p:cNvSpPr/>
          <p:nvPr/>
        </p:nvSpPr>
        <p:spPr>
          <a:xfrm>
            <a:off x="6492240" y="3429000"/>
            <a:ext cx="5059375" cy="1298448"/>
          </a:xfrm>
          <a:prstGeom prst="roundRect">
            <a:avLst>
              <a:gd name="adj" fmla="val 8451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20840" y="3584448"/>
            <a:ext cx="4602175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五个用例的通过数与宿主 Linux 相同：18、21、15、3、9。</a:t>
            </a:r>
            <a:endParaRPr lang="zh-CN" sz="1500" dirty="0"/>
          </a:p>
          <a:p>
            <a:pPr indent="0" marL="0">
              <a:spcAft>
                <a:spcPts val="800"/>
              </a:spcAft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分组套件 520 项全过。</a:t>
            </a:r>
            <a:endParaRPr lang="zh-CN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02 浏览器 · 对照用例 10/10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鼠标久置后不跟随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18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225296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8308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反映的问题</a:t>
            </a:r>
            <a:endParaRPr lang="zh-CN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203704"/>
            <a:ext cx="53949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外层 epoll 监听内层 epoll。内层已返回的等待没有撤销登记，新的唤醒被这些旧项吃掉，外层等满超时。</a:t>
            </a:r>
            <a:endParaRPr lang="zh-CN" sz="1700" dirty="0"/>
          </a:p>
        </p:txBody>
      </p:sp>
      <p:sp>
        <p:nvSpPr>
          <p:cNvPr id="9" name="Shape 7"/>
          <p:cNvSpPr/>
          <p:nvPr/>
        </p:nvSpPr>
        <p:spPr>
          <a:xfrm>
            <a:off x="640080" y="3931920"/>
            <a:ext cx="676656" cy="310896"/>
          </a:xfrm>
          <a:prstGeom prst="roundRect">
            <a:avLst>
              <a:gd name="adj" fmla="val 23529"/>
            </a:avLst>
          </a:prstGeom>
          <a:solidFill>
            <a:srgbClr val="1FA896"/>
          </a:solidFill>
          <a:ln w="12700">
            <a:solidFill>
              <a:srgbClr val="1F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931920"/>
            <a:ext cx="676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</a:t>
            </a:r>
            <a:endParaRPr lang="zh-CN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352544"/>
            <a:ext cx="53949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dev 已从结构上改掉；补回归用例 #2378，防止以后退回去。</a:t>
            </a:r>
            <a:endParaRPr lang="zh-CN" sz="1700" dirty="0"/>
          </a:p>
        </p:txBody>
      </p:sp>
      <p:sp>
        <p:nvSpPr>
          <p:cNvPr id="12" name="Shape 10"/>
          <p:cNvSpPr/>
          <p:nvPr/>
        </p:nvSpPr>
        <p:spPr>
          <a:xfrm>
            <a:off x="6492240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修复前</a:t>
            </a:r>
            <a:endParaRPr lang="zh-CN" sz="1200" dirty="0"/>
          </a:p>
        </p:txBody>
      </p:sp>
      <p:sp>
        <p:nvSpPr>
          <p:cNvPr id="14" name="Text 12"/>
          <p:cNvSpPr/>
          <p:nvPr/>
        </p:nvSpPr>
        <p:spPr>
          <a:xfrm>
            <a:off x="6675120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400" b="1" dirty="0">
                <a:solidFill>
                  <a:srgbClr val="E2604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不跟随</a:t>
            </a:r>
            <a:endParaRPr lang="zh-CN" sz="2400" dirty="0"/>
          </a:p>
        </p:txBody>
      </p:sp>
      <p:sp>
        <p:nvSpPr>
          <p:cNvPr id="15" name="Shape 13"/>
          <p:cNvSpPr/>
          <p:nvPr/>
        </p:nvSpPr>
        <p:spPr>
          <a:xfrm>
            <a:off x="8239658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22538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修复后</a:t>
            </a:r>
            <a:endParaRPr lang="zh-CN" sz="1200" dirty="0"/>
          </a:p>
        </p:txBody>
      </p:sp>
      <p:sp>
        <p:nvSpPr>
          <p:cNvPr id="17" name="Text 15"/>
          <p:cNvSpPr/>
          <p:nvPr/>
        </p:nvSpPr>
        <p:spPr>
          <a:xfrm>
            <a:off x="8422538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400" b="1" dirty="0">
                <a:solidFill>
                  <a:srgbClr val="1FA896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正常</a:t>
            </a:r>
            <a:endParaRPr lang="zh-CN" sz="2400" dirty="0"/>
          </a:p>
        </p:txBody>
      </p:sp>
      <p:sp>
        <p:nvSpPr>
          <p:cNvPr id="18" name="Shape 16"/>
          <p:cNvSpPr/>
          <p:nvPr/>
        </p:nvSpPr>
        <p:spPr>
          <a:xfrm>
            <a:off x="9987077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169957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 6.12</a:t>
            </a:r>
            <a:endParaRPr lang="zh-CN" sz="1200" dirty="0"/>
          </a:p>
        </p:txBody>
      </p:sp>
      <p:sp>
        <p:nvSpPr>
          <p:cNvPr id="20" name="Text 18"/>
          <p:cNvSpPr/>
          <p:nvPr/>
        </p:nvSpPr>
        <p:spPr>
          <a:xfrm>
            <a:off x="10169957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4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正常</a:t>
            </a:r>
            <a:endParaRPr lang="zh-CN" sz="2400" dirty="0"/>
          </a:p>
        </p:txBody>
      </p:sp>
      <p:sp>
        <p:nvSpPr>
          <p:cNvPr id="21" name="Shape 19"/>
          <p:cNvSpPr/>
          <p:nvPr/>
        </p:nvSpPr>
        <p:spPr>
          <a:xfrm>
            <a:off x="6492240" y="3429000"/>
            <a:ext cx="5059375" cy="1298448"/>
          </a:xfrm>
          <a:prstGeom prst="roundRect">
            <a:avLst>
              <a:gd name="adj" fmla="val 8451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20840" y="3584448"/>
            <a:ext cx="4602175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同类：unix stream 两端共用一个等待集，发送方把自己也唤醒，边沿触发的事件循环单核空转。</a:t>
            </a:r>
            <a:endParaRPr lang="zh-CN" sz="1500" dirty="0"/>
          </a:p>
          <a:p>
            <a:pPr indent="0" marL="0">
              <a:spcAft>
                <a:spcPts val="800"/>
              </a:spcAft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#2194：21 过 3 挂 → 24 项全过。</a:t>
            </a:r>
            <a:endParaRPr lang="zh-CN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02 浏览器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端到端：Firefox 启动到导航完成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19</a:t>
            </a:r>
            <a:endParaRPr lang="zh-CN" sz="10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737360"/>
          <a:ext cx="56692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6766560" y="1783080"/>
            <a:ext cx="4785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4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2.65 倍</a:t>
            </a:r>
            <a:pPr indent="0" marL="0">
              <a:buNone/>
            </a:pPr>
            <a:r>
              <a:rPr lang="zh-CN" altLang="en-US" sz="20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　→　</a:t>
            </a:r>
            <a:pPr indent="0" marL="0">
              <a:buNone/>
            </a:pPr>
            <a:r>
              <a:rPr lang="zh-CN" altLang="en-US" sz="34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1.88 倍</a:t>
            </a:r>
            <a:endParaRPr lang="zh-CN" sz="3400" dirty="0"/>
          </a:p>
        </p:txBody>
      </p:sp>
      <p:sp>
        <p:nvSpPr>
          <p:cNvPr id="8" name="Text 5"/>
          <p:cNvSpPr/>
          <p:nvPr/>
        </p:nvSpPr>
        <p:spPr>
          <a:xfrm>
            <a:off x="6766560" y="2514600"/>
            <a:ext cx="4785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对 Linux 的倍数</a:t>
            </a:r>
            <a:endParaRPr lang="zh-CN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3017520"/>
          <a:ext cx="4785055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188720"/>
                <a:gridCol w="914400"/>
                <a:gridCol w="89611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CN" altLang="en-US" sz="1300" b="1" dirty="0">
                          <a:solidFill>
                            <a:srgbClr val="FFFFFF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指标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CN" altLang="en-US" sz="1300" b="1" dirty="0">
                          <a:solidFill>
                            <a:srgbClr val="FFFFFF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09.16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CN" altLang="en-US" sz="1300" b="1" dirty="0">
                          <a:solidFill>
                            <a:srgbClr val="FFFFFF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09.28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CN" altLang="en-US" sz="1300" b="1" dirty="0">
                          <a:solidFill>
                            <a:srgbClr val="FFFFFF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Linux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3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导航尝试次数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1.7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1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1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nc 发 CONNECT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16 秒后失败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0 秒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0 秒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Firefox 内核态占比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92.3%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83.3%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39%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稳定时资源数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113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111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208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6766560" y="5440680"/>
            <a:ext cx="47850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资源数仍只有一半：主文档到手后派发子资源慢，时间耗在内核态。</a:t>
            </a:r>
            <a:endParaRPr lang="zh-CN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02 浏览器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追平了哪些，还差哪些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272888" cy="4114800"/>
          </a:xfrm>
          <a:prstGeom prst="roundRect">
            <a:avLst>
              <a:gd name="adj" fmla="val 2667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1965960"/>
            <a:ext cx="1225296" cy="310896"/>
          </a:xfrm>
          <a:prstGeom prst="roundRect">
            <a:avLst>
              <a:gd name="adj" fmla="val 23529"/>
            </a:avLst>
          </a:prstGeom>
          <a:solidFill>
            <a:srgbClr val="1FA896"/>
          </a:solidFill>
          <a:ln w="12700">
            <a:solidFill>
              <a:srgbClr val="1F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196596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追平或接近</a:t>
            </a:r>
            <a:endParaRPr lang="zh-CN" sz="1100" dirty="0"/>
          </a:p>
        </p:txBody>
      </p:sp>
      <p:sp>
        <p:nvSpPr>
          <p:cNvPr id="9" name="Text 7"/>
          <p:cNvSpPr/>
          <p:nvPr/>
        </p:nvSpPr>
        <p:spPr>
          <a:xfrm>
            <a:off x="868680" y="2514600"/>
            <a:ext cx="3261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空系统调用</a:t>
            </a:r>
            <a:endParaRPr lang="zh-CN" sz="1600" dirty="0"/>
          </a:p>
        </p:txBody>
      </p:sp>
      <p:sp>
        <p:nvSpPr>
          <p:cNvPr id="10" name="Text 8"/>
          <p:cNvSpPr/>
          <p:nvPr/>
        </p:nvSpPr>
        <p:spPr>
          <a:xfrm>
            <a:off x="4129888" y="25146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7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0.58×</a:t>
            </a:r>
            <a:endParaRPr lang="zh-CN" sz="1700" dirty="0"/>
          </a:p>
        </p:txBody>
      </p:sp>
      <p:sp>
        <p:nvSpPr>
          <p:cNvPr id="11" name="Text 9"/>
          <p:cNvSpPr/>
          <p:nvPr/>
        </p:nvSpPr>
        <p:spPr>
          <a:xfrm>
            <a:off x="868680" y="3063240"/>
            <a:ext cx="3261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管道往返</a:t>
            </a:r>
            <a:endParaRPr lang="zh-CN" sz="1600" dirty="0"/>
          </a:p>
        </p:txBody>
      </p:sp>
      <p:sp>
        <p:nvSpPr>
          <p:cNvPr id="12" name="Text 10"/>
          <p:cNvSpPr/>
          <p:nvPr/>
        </p:nvSpPr>
        <p:spPr>
          <a:xfrm>
            <a:off x="4129888" y="30632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7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0.44×</a:t>
            </a:r>
            <a:endParaRPr lang="zh-CN" sz="1700" dirty="0"/>
          </a:p>
        </p:txBody>
      </p:sp>
      <p:sp>
        <p:nvSpPr>
          <p:cNvPr id="13" name="Text 11"/>
          <p:cNvSpPr/>
          <p:nvPr/>
        </p:nvSpPr>
        <p:spPr>
          <a:xfrm>
            <a:off x="868680" y="3611880"/>
            <a:ext cx="3261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stat</a:t>
            </a:r>
            <a:endParaRPr lang="zh-CN" sz="1600" dirty="0"/>
          </a:p>
        </p:txBody>
      </p:sp>
      <p:sp>
        <p:nvSpPr>
          <p:cNvPr id="14" name="Text 12"/>
          <p:cNvSpPr/>
          <p:nvPr/>
        </p:nvSpPr>
        <p:spPr>
          <a:xfrm>
            <a:off x="4129888" y="36118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7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0.80×</a:t>
            </a:r>
            <a:endParaRPr lang="zh-CN" sz="1700" dirty="0"/>
          </a:p>
        </p:txBody>
      </p:sp>
      <p:sp>
        <p:nvSpPr>
          <p:cNvPr id="15" name="Text 13"/>
          <p:cNvSpPr/>
          <p:nvPr/>
        </p:nvSpPr>
        <p:spPr>
          <a:xfrm>
            <a:off x="868680" y="4160520"/>
            <a:ext cx="3261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unix socket 往返</a:t>
            </a:r>
            <a:endParaRPr lang="zh-CN" sz="1600" dirty="0"/>
          </a:p>
        </p:txBody>
      </p:sp>
      <p:sp>
        <p:nvSpPr>
          <p:cNvPr id="16" name="Text 14"/>
          <p:cNvSpPr/>
          <p:nvPr/>
        </p:nvSpPr>
        <p:spPr>
          <a:xfrm>
            <a:off x="4129888" y="41605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7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1.16×</a:t>
            </a:r>
            <a:endParaRPr lang="zh-CN" sz="1700" dirty="0"/>
          </a:p>
        </p:txBody>
      </p:sp>
      <p:sp>
        <p:nvSpPr>
          <p:cNvPr id="17" name="Text 15"/>
          <p:cNvSpPr/>
          <p:nvPr/>
        </p:nvSpPr>
        <p:spPr>
          <a:xfrm>
            <a:off x="868680" y="4709160"/>
            <a:ext cx="3261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写文件（1024 页）</a:t>
            </a:r>
            <a:endParaRPr lang="zh-CN" sz="1600" dirty="0"/>
          </a:p>
        </p:txBody>
      </p:sp>
      <p:sp>
        <p:nvSpPr>
          <p:cNvPr id="18" name="Text 16"/>
          <p:cNvSpPr/>
          <p:nvPr/>
        </p:nvSpPr>
        <p:spPr>
          <a:xfrm>
            <a:off x="4129888" y="4709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7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0.30×</a:t>
            </a:r>
            <a:endParaRPr lang="zh-CN" sz="1700" dirty="0"/>
          </a:p>
        </p:txBody>
      </p:sp>
      <p:sp>
        <p:nvSpPr>
          <p:cNvPr id="19" name="Text 17"/>
          <p:cNvSpPr/>
          <p:nvPr/>
        </p:nvSpPr>
        <p:spPr>
          <a:xfrm>
            <a:off x="868680" y="5257800"/>
            <a:ext cx="3261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open 加 close</a:t>
            </a:r>
            <a:endParaRPr lang="zh-CN" sz="1600" dirty="0"/>
          </a:p>
        </p:txBody>
      </p:sp>
      <p:sp>
        <p:nvSpPr>
          <p:cNvPr id="20" name="Text 18"/>
          <p:cNvSpPr/>
          <p:nvPr/>
        </p:nvSpPr>
        <p:spPr>
          <a:xfrm>
            <a:off x="4129888" y="52578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7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1.4×</a:t>
            </a:r>
            <a:endParaRPr lang="zh-CN" sz="1700" dirty="0"/>
          </a:p>
        </p:txBody>
      </p:sp>
      <p:sp>
        <p:nvSpPr>
          <p:cNvPr id="21" name="Shape 19"/>
          <p:cNvSpPr/>
          <p:nvPr/>
        </p:nvSpPr>
        <p:spPr>
          <a:xfrm>
            <a:off x="6278728" y="1783080"/>
            <a:ext cx="5272888" cy="4114800"/>
          </a:xfrm>
          <a:prstGeom prst="roundRect">
            <a:avLst>
              <a:gd name="adj" fmla="val 2667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07328" y="1965960"/>
            <a:ext cx="1042416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07328" y="1965960"/>
            <a:ext cx="1042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还没追平</a:t>
            </a:r>
            <a:endParaRPr lang="zh-CN" sz="1100" dirty="0"/>
          </a:p>
        </p:txBody>
      </p:sp>
      <p:sp>
        <p:nvSpPr>
          <p:cNvPr id="24" name="Text 22"/>
          <p:cNvSpPr/>
          <p:nvPr/>
        </p:nvSpPr>
        <p:spPr>
          <a:xfrm>
            <a:off x="6507328" y="2514600"/>
            <a:ext cx="3261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解除映射</a:t>
            </a:r>
            <a:endParaRPr lang="zh-CN" sz="1600" dirty="0"/>
          </a:p>
        </p:txBody>
      </p:sp>
      <p:sp>
        <p:nvSpPr>
          <p:cNvPr id="25" name="Text 23"/>
          <p:cNvSpPr/>
          <p:nvPr/>
        </p:nvSpPr>
        <p:spPr>
          <a:xfrm>
            <a:off x="9768535" y="25146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7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50–110×</a:t>
            </a:r>
            <a:endParaRPr lang="zh-CN" sz="1700" dirty="0"/>
          </a:p>
        </p:txBody>
      </p:sp>
      <p:sp>
        <p:nvSpPr>
          <p:cNvPr id="26" name="Text 24"/>
          <p:cNvSpPr/>
          <p:nvPr/>
        </p:nvSpPr>
        <p:spPr>
          <a:xfrm>
            <a:off x="6507328" y="3063240"/>
            <a:ext cx="3261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fork（64 MiB）</a:t>
            </a:r>
            <a:endParaRPr lang="zh-CN" sz="1600" dirty="0"/>
          </a:p>
        </p:txBody>
      </p:sp>
      <p:sp>
        <p:nvSpPr>
          <p:cNvPr id="27" name="Text 25"/>
          <p:cNvSpPr/>
          <p:nvPr/>
        </p:nvSpPr>
        <p:spPr>
          <a:xfrm>
            <a:off x="9768535" y="30632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7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82×</a:t>
            </a:r>
            <a:endParaRPr lang="zh-CN" sz="1700" dirty="0"/>
          </a:p>
        </p:txBody>
      </p:sp>
      <p:sp>
        <p:nvSpPr>
          <p:cNvPr id="28" name="Text 26"/>
          <p:cNvSpPr/>
          <p:nvPr/>
        </p:nvSpPr>
        <p:spPr>
          <a:xfrm>
            <a:off x="6507328" y="3611880"/>
            <a:ext cx="3261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epoll 等待（1020 个 fd）</a:t>
            </a:r>
            <a:endParaRPr lang="zh-CN" sz="1600" dirty="0"/>
          </a:p>
        </p:txBody>
      </p:sp>
      <p:sp>
        <p:nvSpPr>
          <p:cNvPr id="29" name="Text 27"/>
          <p:cNvSpPr/>
          <p:nvPr/>
        </p:nvSpPr>
        <p:spPr>
          <a:xfrm>
            <a:off x="9768535" y="36118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7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66×</a:t>
            </a:r>
            <a:endParaRPr lang="zh-CN" sz="1700" dirty="0"/>
          </a:p>
        </p:txBody>
      </p:sp>
      <p:sp>
        <p:nvSpPr>
          <p:cNvPr id="30" name="Text 28"/>
          <p:cNvSpPr/>
          <p:nvPr/>
        </p:nvSpPr>
        <p:spPr>
          <a:xfrm>
            <a:off x="6507328" y="4160520"/>
            <a:ext cx="3261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mmap（1024 个映射）</a:t>
            </a:r>
            <a:endParaRPr lang="zh-CN" sz="1600" dirty="0"/>
          </a:p>
        </p:txBody>
      </p:sp>
      <p:sp>
        <p:nvSpPr>
          <p:cNvPr id="31" name="Text 29"/>
          <p:cNvSpPr/>
          <p:nvPr/>
        </p:nvSpPr>
        <p:spPr>
          <a:xfrm>
            <a:off x="9768535" y="41605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7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47×</a:t>
            </a:r>
            <a:endParaRPr lang="zh-CN" sz="1700" dirty="0"/>
          </a:p>
        </p:txBody>
      </p:sp>
      <p:sp>
        <p:nvSpPr>
          <p:cNvPr id="32" name="Text 30"/>
          <p:cNvSpPr/>
          <p:nvPr/>
        </p:nvSpPr>
        <p:spPr>
          <a:xfrm>
            <a:off x="6507328" y="4709160"/>
            <a:ext cx="3261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信号投递</a:t>
            </a:r>
            <a:endParaRPr lang="zh-CN" sz="1600" dirty="0"/>
          </a:p>
        </p:txBody>
      </p:sp>
      <p:sp>
        <p:nvSpPr>
          <p:cNvPr id="33" name="Text 31"/>
          <p:cNvSpPr/>
          <p:nvPr/>
        </p:nvSpPr>
        <p:spPr>
          <a:xfrm>
            <a:off x="9768535" y="4709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7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30×</a:t>
            </a:r>
            <a:endParaRPr lang="zh-CN" sz="1700" dirty="0"/>
          </a:p>
        </p:txBody>
      </p:sp>
      <p:sp>
        <p:nvSpPr>
          <p:cNvPr id="34" name="Text 32"/>
          <p:cNvSpPr/>
          <p:nvPr/>
        </p:nvSpPr>
        <p:spPr>
          <a:xfrm>
            <a:off x="6507328" y="5257800"/>
            <a:ext cx="3261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缺页</a:t>
            </a:r>
            <a:endParaRPr lang="zh-CN" sz="1600" dirty="0"/>
          </a:p>
        </p:txBody>
      </p:sp>
      <p:sp>
        <p:nvSpPr>
          <p:cNvPr id="35" name="Text 33"/>
          <p:cNvSpPr/>
          <p:nvPr/>
        </p:nvSpPr>
        <p:spPr>
          <a:xfrm>
            <a:off x="9768535" y="52578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7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15×</a:t>
            </a:r>
            <a:endParaRPr lang="zh-CN" sz="1700" dirty="0"/>
          </a:p>
        </p:txBody>
      </p:sp>
      <p:sp>
        <p:nvSpPr>
          <p:cNvPr id="36" name="Text 34"/>
          <p:cNvSpPr/>
          <p:nvPr/>
        </p:nvSpPr>
        <p:spPr>
          <a:xfrm>
            <a:off x="640080" y="6035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数字是 StarryOS 耗时除以 Linux 耗时，取修复后的值。</a:t>
            </a:r>
            <a:endParaRPr lang="zh-CN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1188720"/>
            <a:ext cx="1371600" cy="1371600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00" y="2743200"/>
            <a:ext cx="457200" cy="457200"/>
          </a:xfrm>
          <a:prstGeom prst="star4">
            <a:avLst/>
          </a:prstGeom>
          <a:solidFill>
            <a:srgbClr val="C9D2EA"/>
          </a:solidFill>
          <a:ln w="12700">
            <a:solidFill>
              <a:srgbClr val="C9D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3108960"/>
            <a:ext cx="274320" cy="274320"/>
          </a:xfrm>
          <a:prstGeom prst="star4">
            <a:avLst/>
          </a:prstGeom>
          <a:solidFill>
            <a:srgbClr val="C9D2EA"/>
          </a:solidFill>
          <a:ln w="12700">
            <a:solidFill>
              <a:srgbClr val="C9D2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1031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6600" b="1" dirty="0">
                <a:solidFill>
                  <a:srgbClr val="F2B4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zh-CN" sz="660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8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Personality</a:t>
            </a:r>
            <a:endParaRPr lang="zh-CN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C9D2EA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三套系统调用参考实现，目标是各自跑通对应平台的 CPython 3.14</a:t>
            </a:r>
            <a:endParaRPr lang="zh-CN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03 Personality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三个 Personality 包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22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454298" cy="4160520"/>
          </a:xfrm>
          <a:prstGeom prst="roundRect">
            <a:avLst>
              <a:gd name="adj" fmla="val 3177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965960"/>
            <a:ext cx="19912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ax-abi-linux</a:t>
            </a:r>
            <a:endParaRPr lang="zh-CN" sz="1700" dirty="0"/>
          </a:p>
        </p:txBody>
      </p:sp>
      <p:sp>
        <p:nvSpPr>
          <p:cNvPr id="8" name="Shape 6"/>
          <p:cNvSpPr/>
          <p:nvPr/>
        </p:nvSpPr>
        <p:spPr>
          <a:xfrm>
            <a:off x="2905658" y="2011680"/>
            <a:ext cx="960120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05658" y="201168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ELF</a:t>
            </a:r>
            <a:endParaRPr lang="zh-CN" sz="1100" dirty="0"/>
          </a:p>
        </p:txBody>
      </p:sp>
      <p:sp>
        <p:nvSpPr>
          <p:cNvPr id="10" name="Text 8"/>
          <p:cNvSpPr/>
          <p:nvPr/>
        </p:nvSpPr>
        <p:spPr>
          <a:xfrm>
            <a:off x="868680" y="2560320"/>
            <a:ext cx="29970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44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23/23</a:t>
            </a:r>
            <a:endParaRPr lang="zh-CN" sz="4400" dirty="0"/>
          </a:p>
        </p:txBody>
      </p:sp>
      <p:sp>
        <p:nvSpPr>
          <p:cNvPr id="11" name="Text 9"/>
          <p:cNvSpPr/>
          <p:nvPr/>
        </p:nvSpPr>
        <p:spPr>
          <a:xfrm>
            <a:off x="868680" y="3383280"/>
            <a:ext cx="2997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套件全过</a:t>
            </a:r>
            <a:endParaRPr lang="zh-CN" sz="1300" dirty="0"/>
          </a:p>
        </p:txBody>
      </p:sp>
      <p:sp>
        <p:nvSpPr>
          <p:cNvPr id="12" name="Text 10"/>
          <p:cNvSpPr/>
          <p:nvPr/>
        </p:nvSpPr>
        <p:spPr>
          <a:xfrm>
            <a:off x="868680" y="3886200"/>
            <a:ext cx="29970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验证用的二进制</a:t>
            </a:r>
            <a:endParaRPr lang="zh-CN" sz="1200" dirty="0"/>
          </a:p>
        </p:txBody>
      </p:sp>
      <p:sp>
        <p:nvSpPr>
          <p:cNvPr id="13" name="Text 11"/>
          <p:cNvSpPr/>
          <p:nvPr/>
        </p:nvSpPr>
        <p:spPr>
          <a:xfrm>
            <a:off x="868680" y="416052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Alpine 的 CPython 3.14.7</a:t>
            </a:r>
            <a:endParaRPr lang="zh-CN" sz="1500" dirty="0"/>
          </a:p>
        </p:txBody>
      </p:sp>
      <p:sp>
        <p:nvSpPr>
          <p:cNvPr id="14" name="Text 12"/>
          <p:cNvSpPr/>
          <p:nvPr/>
        </p:nvSpPr>
        <p:spPr>
          <a:xfrm>
            <a:off x="868680" y="4709160"/>
            <a:ext cx="299709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StarryOS 原有的 Linux 系统调用迁入；ELF 加载也归它，内核不再解析 ELF。</a:t>
            </a:r>
            <a:endParaRPr lang="zh-CN" sz="1400" dirty="0"/>
          </a:p>
        </p:txBody>
      </p:sp>
      <p:sp>
        <p:nvSpPr>
          <p:cNvPr id="15" name="Shape 13"/>
          <p:cNvSpPr/>
          <p:nvPr/>
        </p:nvSpPr>
        <p:spPr>
          <a:xfrm>
            <a:off x="4368698" y="1783080"/>
            <a:ext cx="3454298" cy="4160520"/>
          </a:xfrm>
          <a:prstGeom prst="roundRect">
            <a:avLst>
              <a:gd name="adj" fmla="val 3177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97298" y="1965960"/>
            <a:ext cx="19912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ax-abi-windows</a:t>
            </a:r>
            <a:endParaRPr lang="zh-CN" sz="1700" dirty="0"/>
          </a:p>
        </p:txBody>
      </p:sp>
      <p:sp>
        <p:nvSpPr>
          <p:cNvPr id="17" name="Shape 15"/>
          <p:cNvSpPr/>
          <p:nvPr/>
        </p:nvSpPr>
        <p:spPr>
          <a:xfrm>
            <a:off x="6634277" y="2011680"/>
            <a:ext cx="960120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34277" y="201168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PE</a:t>
            </a:r>
            <a:endParaRPr lang="zh-CN" sz="1100" dirty="0"/>
          </a:p>
        </p:txBody>
      </p:sp>
      <p:sp>
        <p:nvSpPr>
          <p:cNvPr id="19" name="Text 17"/>
          <p:cNvSpPr/>
          <p:nvPr/>
        </p:nvSpPr>
        <p:spPr>
          <a:xfrm>
            <a:off x="4597298" y="2560320"/>
            <a:ext cx="29970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4400" b="1" dirty="0">
                <a:solidFill>
                  <a:srgbClr val="F2B4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19/23</a:t>
            </a:r>
            <a:endParaRPr lang="zh-CN" sz="4400" dirty="0"/>
          </a:p>
        </p:txBody>
      </p:sp>
      <p:sp>
        <p:nvSpPr>
          <p:cNvPr id="20" name="Text 18"/>
          <p:cNvSpPr/>
          <p:nvPr/>
        </p:nvSpPr>
        <p:spPr>
          <a:xfrm>
            <a:off x="4597298" y="3383280"/>
            <a:ext cx="2997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套件模块通过</a:t>
            </a:r>
            <a:endParaRPr lang="zh-CN" sz="1300" dirty="0"/>
          </a:p>
        </p:txBody>
      </p:sp>
      <p:sp>
        <p:nvSpPr>
          <p:cNvPr id="21" name="Text 19"/>
          <p:cNvSpPr/>
          <p:nvPr/>
        </p:nvSpPr>
        <p:spPr>
          <a:xfrm>
            <a:off x="4597298" y="3886200"/>
            <a:ext cx="29970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验证用的二进制</a:t>
            </a:r>
            <a:endParaRPr lang="zh-CN" sz="1200" dirty="0"/>
          </a:p>
        </p:txBody>
      </p:sp>
      <p:sp>
        <p:nvSpPr>
          <p:cNvPr id="22" name="Text 20"/>
          <p:cNvSpPr/>
          <p:nvPr/>
        </p:nvSpPr>
        <p:spPr>
          <a:xfrm>
            <a:off x="4597298" y="416052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python.org 的 Windows 版 3.14.7</a:t>
            </a:r>
            <a:endParaRPr lang="zh-CN" sz="1500" dirty="0"/>
          </a:p>
        </p:txBody>
      </p:sp>
      <p:sp>
        <p:nvSpPr>
          <p:cNvPr id="23" name="Text 21"/>
          <p:cNvSpPr/>
          <p:nvPr/>
        </p:nvSpPr>
        <p:spPr>
          <a:xfrm>
            <a:off x="4597298" y="4709160"/>
            <a:ext cx="299709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NT 调用与 Win32；14 个系统库在进程里合成；运行时加载 .pyd；进程、线程、完成端口。</a:t>
            </a:r>
            <a:endParaRPr lang="zh-CN" sz="1400" dirty="0"/>
          </a:p>
        </p:txBody>
      </p:sp>
      <p:sp>
        <p:nvSpPr>
          <p:cNvPr id="24" name="Shape 22"/>
          <p:cNvSpPr/>
          <p:nvPr/>
        </p:nvSpPr>
        <p:spPr>
          <a:xfrm>
            <a:off x="8097317" y="1783080"/>
            <a:ext cx="3454298" cy="4160520"/>
          </a:xfrm>
          <a:prstGeom prst="roundRect">
            <a:avLst>
              <a:gd name="adj" fmla="val 3177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25917" y="1965960"/>
            <a:ext cx="19912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ax-abi-darwin</a:t>
            </a:r>
            <a:endParaRPr lang="zh-CN" sz="1700" dirty="0"/>
          </a:p>
        </p:txBody>
      </p:sp>
      <p:sp>
        <p:nvSpPr>
          <p:cNvPr id="26" name="Shape 24"/>
          <p:cNvSpPr/>
          <p:nvPr/>
        </p:nvSpPr>
        <p:spPr>
          <a:xfrm>
            <a:off x="10362895" y="2011680"/>
            <a:ext cx="960120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362895" y="201168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Mach-O</a:t>
            </a:r>
            <a:endParaRPr lang="zh-CN" sz="1100" dirty="0"/>
          </a:p>
        </p:txBody>
      </p:sp>
      <p:sp>
        <p:nvSpPr>
          <p:cNvPr id="28" name="Text 26"/>
          <p:cNvSpPr/>
          <p:nvPr/>
        </p:nvSpPr>
        <p:spPr>
          <a:xfrm>
            <a:off x="8325917" y="2560320"/>
            <a:ext cx="29970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4400" b="1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main</a:t>
            </a:r>
            <a:endParaRPr lang="zh-CN" sz="4400" dirty="0"/>
          </a:p>
        </p:txBody>
      </p:sp>
      <p:sp>
        <p:nvSpPr>
          <p:cNvPr id="29" name="Text 27"/>
          <p:cNvSpPr/>
          <p:nvPr/>
        </p:nvSpPr>
        <p:spPr>
          <a:xfrm>
            <a:off x="8325917" y="3383280"/>
            <a:ext cx="2997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加载、绑定、进到 main 已通</a:t>
            </a:r>
            <a:endParaRPr lang="zh-CN" sz="1300" dirty="0"/>
          </a:p>
        </p:txBody>
      </p:sp>
      <p:sp>
        <p:nvSpPr>
          <p:cNvPr id="30" name="Text 28"/>
          <p:cNvSpPr/>
          <p:nvPr/>
        </p:nvSpPr>
        <p:spPr>
          <a:xfrm>
            <a:off x="8325917" y="3886200"/>
            <a:ext cx="29970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验证用的二进制</a:t>
            </a:r>
            <a:endParaRPr lang="zh-CN" sz="1200" dirty="0"/>
          </a:p>
        </p:txBody>
      </p:sp>
      <p:sp>
        <p:nvSpPr>
          <p:cNvPr id="31" name="Text 29"/>
          <p:cNvSpPr/>
          <p:nvPr/>
        </p:nvSpPr>
        <p:spPr>
          <a:xfrm>
            <a:off x="8325917" y="416052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自制 Mach-O，形状同真实程序</a:t>
            </a:r>
            <a:endParaRPr lang="zh-CN" sz="1500" dirty="0"/>
          </a:p>
        </p:txBody>
      </p:sp>
      <p:sp>
        <p:nvSpPr>
          <p:cNvPr id="32" name="Text 30"/>
          <p:cNvSpPr/>
          <p:nvPr/>
        </p:nvSpPr>
        <p:spPr>
          <a:xfrm>
            <a:off x="8325917" y="4709160"/>
            <a:ext cx="299709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BSD 调用；读 dyld 的操作码流；libSystem 的入口在进程里合成。官方 macOS 版 CPython 还没跑起来。</a:t>
            </a:r>
            <a:endParaRPr lang="zh-CN" sz="1400" dirty="0"/>
          </a:p>
        </p:txBody>
      </p:sp>
      <p:sp>
        <p:nvSpPr>
          <p:cNvPr id="33" name="Text 31"/>
          <p:cNvSpPr/>
          <p:nvPr/>
        </p:nvSpPr>
        <p:spPr>
          <a:xfrm>
            <a:off x="640080" y="6080760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套件共 23 个模块：语言与标准库、线程、多进程、网络与设备。不套用现成的用户态实现。</a:t>
            </a:r>
            <a:endParaRPr lang="zh-CN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03 Personality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同一个内核：ELF 的 shell 里起 PE 的 python.exe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23</a:t>
            </a:r>
            <a:endParaRPr lang="zh-CN" sz="1000" dirty="0"/>
          </a:p>
        </p:txBody>
      </p:sp>
      <p:pic>
        <p:nvPicPr>
          <p:cNvPr id="6" name="Image 0" descr="C:\Users\heke\AppData\Local\Temp\claude\C--Users-heke-AllProjects-TempFolder-rcore\1c6e91ee-4f87-4550-9a26-b0faa3d92502\scratchpad\atl\deck\img\p2202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83080"/>
            <a:ext cx="10911535" cy="190722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4010346"/>
            <a:ext cx="3454298" cy="1600200"/>
          </a:xfrm>
          <a:prstGeom prst="roundRect">
            <a:avLst>
              <a:gd name="adj" fmla="val 6857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41248" y="4193226"/>
            <a:ext cx="822960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41248" y="4193226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加载</a:t>
            </a:r>
            <a:endParaRPr lang="zh-CN" sz="1200" dirty="0"/>
          </a:p>
        </p:txBody>
      </p:sp>
      <p:sp>
        <p:nvSpPr>
          <p:cNvPr id="10" name="Text 7"/>
          <p:cNvSpPr/>
          <p:nvPr/>
        </p:nvSpPr>
        <p:spPr>
          <a:xfrm>
            <a:off x="841248" y="4632138"/>
            <a:ext cx="305196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python.exe、python314.dll、vcruntime140.dll、ucrtbase.dll 逐个映射，日志来自内核里的适配器</a:t>
            </a:r>
            <a:endParaRPr lang="zh-CN" sz="1400" dirty="0"/>
          </a:p>
        </p:txBody>
      </p:sp>
      <p:sp>
        <p:nvSpPr>
          <p:cNvPr id="11" name="Shape 8"/>
          <p:cNvSpPr/>
          <p:nvPr/>
        </p:nvSpPr>
        <p:spPr>
          <a:xfrm>
            <a:off x="4368698" y="4010346"/>
            <a:ext cx="3454298" cy="1600200"/>
          </a:xfrm>
          <a:prstGeom prst="roundRect">
            <a:avLst>
              <a:gd name="adj" fmla="val 6857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69866" y="4193226"/>
            <a:ext cx="822960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69866" y="4193226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陷入</a:t>
            </a:r>
            <a:endParaRPr lang="zh-CN" sz="1200" dirty="0"/>
          </a:p>
        </p:txBody>
      </p:sp>
      <p:sp>
        <p:nvSpPr>
          <p:cNvPr id="14" name="Text 11"/>
          <p:cNvSpPr/>
          <p:nvPr/>
        </p:nvSpPr>
        <p:spPr>
          <a:xfrm>
            <a:off x="4569866" y="4632138"/>
            <a:ext cx="305196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Win32 入口落到 ax-abi-windows；ELF 的 shell 仍走 ax-abi-linux</a:t>
            </a:r>
            <a:endParaRPr lang="zh-CN" sz="1400" dirty="0"/>
          </a:p>
        </p:txBody>
      </p:sp>
      <p:sp>
        <p:nvSpPr>
          <p:cNvPr id="15" name="Shape 12"/>
          <p:cNvSpPr/>
          <p:nvPr/>
        </p:nvSpPr>
        <p:spPr>
          <a:xfrm>
            <a:off x="8097317" y="4010346"/>
            <a:ext cx="3454298" cy="1600200"/>
          </a:xfrm>
          <a:prstGeom prst="roundRect">
            <a:avLst>
              <a:gd name="adj" fmla="val 6857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298485" y="4193226"/>
            <a:ext cx="822960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298485" y="4193226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结果</a:t>
            </a:r>
            <a:endParaRPr lang="zh-CN" sz="1200" dirty="0"/>
          </a:p>
        </p:txBody>
      </p:sp>
      <p:sp>
        <p:nvSpPr>
          <p:cNvPr id="18" name="Text 15"/>
          <p:cNvSpPr/>
          <p:nvPr/>
        </p:nvSpPr>
        <p:spPr>
          <a:xfrm>
            <a:off x="8298485" y="4632138"/>
            <a:ext cx="305196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解释器报 Python 3.14.7 … on win32，进入交互</a:t>
            </a:r>
            <a:endParaRPr lang="zh-CN" sz="1400" dirty="0"/>
          </a:p>
        </p:txBody>
      </p:sp>
      <p:sp>
        <p:nvSpPr>
          <p:cNvPr id="19" name="Text 16"/>
          <p:cNvSpPr/>
          <p:nvPr/>
        </p:nvSpPr>
        <p:spPr>
          <a:xfrm>
            <a:off x="640080" y="5793426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内核多开一个 abi-win，ELF 与 PE 同时可跑。</a:t>
            </a:r>
            <a:endParaRPr lang="zh-CN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03 Personality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分包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24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0911535" cy="960120"/>
          </a:xfrm>
          <a:prstGeom prst="roundRect">
            <a:avLst>
              <a:gd name="adj" fmla="val 114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783080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F2B441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分发包</a:t>
            </a:r>
            <a:endParaRPr lang="zh-CN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1920240"/>
            <a:ext cx="844265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99232" y="1920240"/>
            <a:ext cx="829635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ax-abi</a:t>
            </a:r>
            <a:endParaRPr lang="zh-CN" sz="1300" dirty="0"/>
          </a:p>
          <a:p>
            <a:pPr algn="ctr"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按 feature 选哪几套进链接，给出默认分发策略</a:t>
            </a:r>
            <a:endParaRPr lang="zh-CN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2880360"/>
            <a:ext cx="10911535" cy="1188720"/>
          </a:xfrm>
          <a:prstGeom prst="roundRect">
            <a:avLst>
              <a:gd name="adj" fmla="val 9231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288036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系统调用参考实现</a:t>
            </a:r>
            <a:endParaRPr lang="zh-CN" sz="1500" dirty="0"/>
          </a:p>
        </p:txBody>
      </p:sp>
      <p:sp>
        <p:nvSpPr>
          <p:cNvPr id="12" name="Shape 10"/>
          <p:cNvSpPr/>
          <p:nvPr/>
        </p:nvSpPr>
        <p:spPr>
          <a:xfrm>
            <a:off x="2926080" y="3017520"/>
            <a:ext cx="154222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99232" y="3017520"/>
            <a:ext cx="139592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ax-abi-linux</a:t>
            </a:r>
            <a:endParaRPr lang="zh-CN" sz="1300" dirty="0"/>
          </a:p>
          <a:p>
            <a:pPr algn="ctr"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ELF</a:t>
            </a:r>
            <a:endParaRPr lang="zh-CN" sz="1300" dirty="0"/>
          </a:p>
        </p:txBody>
      </p:sp>
      <p:sp>
        <p:nvSpPr>
          <p:cNvPr id="14" name="Shape 12"/>
          <p:cNvSpPr/>
          <p:nvPr/>
        </p:nvSpPr>
        <p:spPr>
          <a:xfrm>
            <a:off x="4651187" y="3017520"/>
            <a:ext cx="154222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24339" y="3017520"/>
            <a:ext cx="139592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ax-abi-windows</a:t>
            </a:r>
            <a:endParaRPr lang="zh-CN" sz="1300" dirty="0"/>
          </a:p>
          <a:p>
            <a:pPr algn="ctr"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PE</a:t>
            </a:r>
            <a:endParaRPr lang="zh-CN" sz="1300" dirty="0"/>
          </a:p>
        </p:txBody>
      </p:sp>
      <p:sp>
        <p:nvSpPr>
          <p:cNvPr id="16" name="Shape 14"/>
          <p:cNvSpPr/>
          <p:nvPr/>
        </p:nvSpPr>
        <p:spPr>
          <a:xfrm>
            <a:off x="6376294" y="3017520"/>
            <a:ext cx="154222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9446" y="3017520"/>
            <a:ext cx="139592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ax-abi-darwin</a:t>
            </a:r>
            <a:endParaRPr lang="zh-CN" sz="1300" dirty="0"/>
          </a:p>
          <a:p>
            <a:pPr algn="ctr"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Mach-O</a:t>
            </a:r>
            <a:endParaRPr lang="zh-CN" sz="1300" dirty="0"/>
          </a:p>
        </p:txBody>
      </p:sp>
      <p:sp>
        <p:nvSpPr>
          <p:cNvPr id="18" name="Shape 16"/>
          <p:cNvSpPr/>
          <p:nvPr/>
        </p:nvSpPr>
        <p:spPr>
          <a:xfrm>
            <a:off x="8101401" y="3017520"/>
            <a:ext cx="154222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74553" y="3017520"/>
            <a:ext cx="139592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ax-abi-embedded</a:t>
            </a:r>
            <a:endParaRPr lang="zh-CN" sz="1300" dirty="0"/>
          </a:p>
          <a:p>
            <a:pPr algn="ctr"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向量表</a:t>
            </a:r>
            <a:endParaRPr lang="zh-CN" sz="1300" dirty="0"/>
          </a:p>
        </p:txBody>
      </p:sp>
      <p:sp>
        <p:nvSpPr>
          <p:cNvPr id="20" name="Shape 18"/>
          <p:cNvSpPr/>
          <p:nvPr/>
        </p:nvSpPr>
        <p:spPr>
          <a:xfrm>
            <a:off x="9826508" y="3017520"/>
            <a:ext cx="154222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899660" y="3017520"/>
            <a:ext cx="139592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ax-abi-custom</a:t>
            </a:r>
            <a:endParaRPr lang="zh-CN" sz="1300" dirty="0"/>
          </a:p>
          <a:p>
            <a:pPr algn="ctr"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保留号段的扩展</a:t>
            </a:r>
            <a:endParaRPr lang="zh-CN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4206240"/>
            <a:ext cx="10911535" cy="960120"/>
          </a:xfrm>
          <a:prstGeom prst="roundRect">
            <a:avLst>
              <a:gd name="adj" fmla="val 11429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68680" y="4206240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框架</a:t>
            </a:r>
            <a:endParaRPr lang="zh-CN" sz="1500" dirty="0"/>
          </a:p>
        </p:txBody>
      </p:sp>
      <p:sp>
        <p:nvSpPr>
          <p:cNvPr id="24" name="Shape 22"/>
          <p:cNvSpPr/>
          <p:nvPr/>
        </p:nvSpPr>
        <p:spPr>
          <a:xfrm>
            <a:off x="2926080" y="4343400"/>
            <a:ext cx="2692298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99232" y="4343400"/>
            <a:ext cx="25459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ax-dispatch</a:t>
            </a:r>
            <a:endParaRPr lang="zh-CN" sz="1300" dirty="0"/>
          </a:p>
          <a:p>
            <a:pPr algn="ctr"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登记与分发</a:t>
            </a:r>
            <a:endParaRPr lang="zh-CN" sz="1300" dirty="0"/>
          </a:p>
        </p:txBody>
      </p:sp>
      <p:sp>
        <p:nvSpPr>
          <p:cNvPr id="26" name="Shape 24"/>
          <p:cNvSpPr/>
          <p:nvPr/>
        </p:nvSpPr>
        <p:spPr>
          <a:xfrm>
            <a:off x="5801258" y="4343400"/>
            <a:ext cx="2692298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874410" y="4343400"/>
            <a:ext cx="25459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ax-binfmt</a:t>
            </a:r>
            <a:endParaRPr lang="zh-CN" sz="1300" dirty="0"/>
          </a:p>
          <a:p>
            <a:pPr algn="ctr"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识别与加载格式</a:t>
            </a:r>
            <a:endParaRPr lang="zh-CN" sz="1300" dirty="0"/>
          </a:p>
        </p:txBody>
      </p:sp>
      <p:sp>
        <p:nvSpPr>
          <p:cNvPr id="28" name="Shape 26"/>
          <p:cNvSpPr/>
          <p:nvPr/>
        </p:nvSpPr>
        <p:spPr>
          <a:xfrm>
            <a:off x="8676437" y="4343400"/>
            <a:ext cx="2692298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749589" y="4343400"/>
            <a:ext cx="25459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ax-abi-port</a:t>
            </a:r>
            <a:endParaRPr lang="zh-CN" sz="1300" dirty="0"/>
          </a:p>
          <a:p>
            <a:pPr algn="ctr"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能力端口</a:t>
            </a:r>
            <a:endParaRPr lang="zh-CN" sz="1300" dirty="0"/>
          </a:p>
        </p:txBody>
      </p:sp>
      <p:sp>
        <p:nvSpPr>
          <p:cNvPr id="30" name="Shape 28"/>
          <p:cNvSpPr/>
          <p:nvPr/>
        </p:nvSpPr>
        <p:spPr>
          <a:xfrm>
            <a:off x="640080" y="5303520"/>
            <a:ext cx="10911535" cy="822960"/>
          </a:xfrm>
          <a:prstGeom prst="roundRect">
            <a:avLst>
              <a:gd name="adj" fmla="val 13333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68680" y="530352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内核</a:t>
            </a:r>
            <a:endParaRPr lang="zh-CN" sz="1500" dirty="0"/>
          </a:p>
        </p:txBody>
      </p:sp>
      <p:sp>
        <p:nvSpPr>
          <p:cNvPr id="32" name="Shape 30"/>
          <p:cNvSpPr/>
          <p:nvPr/>
        </p:nvSpPr>
        <p:spPr>
          <a:xfrm>
            <a:off x="2926080" y="5440680"/>
            <a:ext cx="8442655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99232" y="5440680"/>
            <a:ext cx="829635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StarryOS</a:t>
            </a:r>
            <a:endParaRPr lang="zh-CN" sz="1300" dirty="0"/>
          </a:p>
          <a:p>
            <a:pPr algn="ctr"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fd 表、地址空间、线程、时钟：端口只实现一遍</a:t>
            </a:r>
            <a:endParaRPr lang="zh-CN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1188720"/>
            <a:ext cx="1371600" cy="1371600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00" y="2743200"/>
            <a:ext cx="457200" cy="457200"/>
          </a:xfrm>
          <a:prstGeom prst="star4">
            <a:avLst/>
          </a:prstGeom>
          <a:solidFill>
            <a:srgbClr val="C9D2EA"/>
          </a:solidFill>
          <a:ln w="12700">
            <a:solidFill>
              <a:srgbClr val="C9D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3108960"/>
            <a:ext cx="274320" cy="274320"/>
          </a:xfrm>
          <a:prstGeom prst="star4">
            <a:avLst/>
          </a:prstGeom>
          <a:solidFill>
            <a:srgbClr val="C9D2EA"/>
          </a:solidFill>
          <a:ln w="12700">
            <a:solidFill>
              <a:srgbClr val="C9D2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1031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6600" b="1" dirty="0">
                <a:solidFill>
                  <a:srgbClr val="F2B4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zh-CN" sz="660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8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架构</a:t>
            </a:r>
            <a:endParaRPr lang="zh-CN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C9D2EA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系统调用为什么能拆出来，拆出来之后怎么接回去</a:t>
            </a:r>
            <a:endParaRPr lang="zh-CN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04 架构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硬件还是硬件，软件还是软件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26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6400800" cy="731520"/>
          </a:xfrm>
          <a:prstGeom prst="roundRect">
            <a:avLst>
              <a:gd name="adj" fmla="val 150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830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应用程序</a:t>
            </a:r>
            <a:endParaRPr lang="zh-CN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2697480"/>
            <a:ext cx="2011680" cy="1417320"/>
          </a:xfrm>
          <a:prstGeom prst="roundRect">
            <a:avLst>
              <a:gd name="adj" fmla="val 7742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816352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600" b="1" dirty="0">
                <a:solidFill>
                  <a:srgbClr val="F2B441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</a:t>
            </a:r>
            <a:endParaRPr lang="zh-CN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32918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7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sys_read</a:t>
            </a:r>
            <a:endParaRPr lang="zh-CN" sz="1700" dirty="0"/>
          </a:p>
        </p:txBody>
      </p:sp>
      <p:sp>
        <p:nvSpPr>
          <p:cNvPr id="11" name="Shape 9"/>
          <p:cNvSpPr/>
          <p:nvPr/>
        </p:nvSpPr>
        <p:spPr>
          <a:xfrm>
            <a:off x="2834640" y="2697480"/>
            <a:ext cx="2011680" cy="1417320"/>
          </a:xfrm>
          <a:prstGeom prst="roundRect">
            <a:avLst>
              <a:gd name="adj" fmla="val 7742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34640" y="2816352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600" b="1" dirty="0">
                <a:solidFill>
                  <a:srgbClr val="F2B441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Windows</a:t>
            </a:r>
            <a:endParaRPr lang="zh-CN" sz="1600" dirty="0"/>
          </a:p>
        </p:txBody>
      </p:sp>
      <p:sp>
        <p:nvSpPr>
          <p:cNvPr id="13" name="Text 11"/>
          <p:cNvSpPr/>
          <p:nvPr/>
        </p:nvSpPr>
        <p:spPr>
          <a:xfrm>
            <a:off x="2834640" y="32918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7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NtReadFile</a:t>
            </a:r>
            <a:endParaRPr lang="zh-CN" sz="1700" dirty="0"/>
          </a:p>
        </p:txBody>
      </p:sp>
      <p:sp>
        <p:nvSpPr>
          <p:cNvPr id="14" name="Shape 12"/>
          <p:cNvSpPr/>
          <p:nvPr/>
        </p:nvSpPr>
        <p:spPr>
          <a:xfrm>
            <a:off x="5029200" y="2697480"/>
            <a:ext cx="2011680" cy="1417320"/>
          </a:xfrm>
          <a:prstGeom prst="roundRect">
            <a:avLst>
              <a:gd name="adj" fmla="val 7742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0" y="2816352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600" b="1" dirty="0">
                <a:solidFill>
                  <a:srgbClr val="F2B441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macOS</a:t>
            </a:r>
            <a:endParaRPr lang="zh-CN" sz="1600" dirty="0"/>
          </a:p>
        </p:txBody>
      </p:sp>
      <p:sp>
        <p:nvSpPr>
          <p:cNvPr id="16" name="Text 14"/>
          <p:cNvSpPr/>
          <p:nvPr/>
        </p:nvSpPr>
        <p:spPr>
          <a:xfrm>
            <a:off x="5029200" y="32918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7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BSD read</a:t>
            </a:r>
            <a:endParaRPr lang="zh-CN" sz="1700" dirty="0"/>
          </a:p>
        </p:txBody>
      </p:sp>
      <p:sp>
        <p:nvSpPr>
          <p:cNvPr id="17" name="Shape 15"/>
          <p:cNvSpPr/>
          <p:nvPr/>
        </p:nvSpPr>
        <p:spPr>
          <a:xfrm>
            <a:off x="640080" y="4297680"/>
            <a:ext cx="6400800" cy="731520"/>
          </a:xfrm>
          <a:prstGeom prst="roundRect">
            <a:avLst>
              <a:gd name="adj" fmla="val 15000"/>
            </a:avLst>
          </a:prstGeom>
          <a:solidFill>
            <a:srgbClr val="FBE9C4"/>
          </a:solidFill>
          <a:ln w="12700">
            <a:solidFill>
              <a:srgbClr val="FBE9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2976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同一项能力：读文件</a:t>
            </a:r>
            <a:endParaRPr lang="zh-CN" sz="1700" dirty="0"/>
          </a:p>
        </p:txBody>
      </p:sp>
      <p:sp>
        <p:nvSpPr>
          <p:cNvPr id="19" name="Shape 17"/>
          <p:cNvSpPr/>
          <p:nvPr/>
        </p:nvSpPr>
        <p:spPr>
          <a:xfrm>
            <a:off x="640080" y="5212080"/>
            <a:ext cx="6400800" cy="731520"/>
          </a:xfrm>
          <a:prstGeom prst="roundRect">
            <a:avLst>
              <a:gd name="adj" fmla="val 150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52120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硬件</a:t>
            </a:r>
            <a:endParaRPr lang="zh-CN" sz="1700" dirty="0"/>
          </a:p>
        </p:txBody>
      </p:sp>
      <p:sp>
        <p:nvSpPr>
          <p:cNvPr id="21" name="Text 19"/>
          <p:cNvSpPr/>
          <p:nvPr/>
        </p:nvSpPr>
        <p:spPr>
          <a:xfrm>
            <a:off x="7498080" y="1783080"/>
            <a:ext cx="4053535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中间的操作系统，只是用不同的规范组织同一批能力。</a:t>
            </a:r>
            <a:endParaRPr lang="zh-CN" sz="1700" dirty="0"/>
          </a:p>
          <a:p>
            <a:pPr indent="0" marL="0">
              <a:spcAft>
                <a:spcPts val="1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系统调用是把能力接到应用上的那张表，像中断向量表。</a:t>
            </a:r>
            <a:endParaRPr lang="zh-CN" sz="1700" dirty="0"/>
          </a:p>
          <a:p>
            <a:pPr indent="0" marL="0">
              <a:spcAft>
                <a:spcPts val="1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把它与内核解耦：能力按 feature 注册，注册的排列组合成当前的 syscall。</a:t>
            </a:r>
            <a:endParaRPr lang="zh-CN" sz="1700" dirty="0"/>
          </a:p>
          <a:p>
            <a:pPr indent="0" marL="0">
              <a:spcAft>
                <a:spcPts val="1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Linux、Windows、macOS 三种样式作为参考实现。</a:t>
            </a:r>
            <a:endParaRPr lang="zh-CN" sz="1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04 架构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拆之前，拆之后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27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272888" cy="4114800"/>
          </a:xfrm>
          <a:prstGeom prst="roundRect">
            <a:avLst>
              <a:gd name="adj" fmla="val 2667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1965960"/>
            <a:ext cx="676656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1965960"/>
            <a:ext cx="676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之前</a:t>
            </a:r>
            <a:endParaRPr lang="zh-CN" sz="1200" dirty="0"/>
          </a:p>
        </p:txBody>
      </p:sp>
      <p:sp>
        <p:nvSpPr>
          <p:cNvPr id="9" name="Text 7"/>
          <p:cNvSpPr/>
          <p:nvPr/>
        </p:nvSpPr>
        <p:spPr>
          <a:xfrm>
            <a:off x="868680" y="2514600"/>
            <a:ext cx="4815688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zh-CN" altLang="en-US" sz="18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加载器只认 ELF。</a:t>
            </a:r>
            <a:endParaRPr lang="zh-CN" sz="1800" dirty="0"/>
          </a:p>
          <a:p>
            <a:pPr indent="0" marL="0">
              <a:spcAft>
                <a:spcPts val="1600"/>
              </a:spcAft>
              <a:buNone/>
            </a:pPr>
            <a:r>
              <a:rPr lang="zh-CN" altLang="en-US" sz="18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handle_syscall 是一张按 Linux 调用号写死的表。</a:t>
            </a:r>
            <a:endParaRPr lang="zh-CN" sz="1800" dirty="0"/>
          </a:p>
          <a:p>
            <a:pPr indent="0" marL="0">
              <a:spcAft>
                <a:spcPts val="1600"/>
              </a:spcAft>
              <a:buNone/>
            </a:pPr>
            <a:r>
              <a:rPr lang="zh-CN" altLang="en-US" sz="18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错误只会编码成负 errno。</a:t>
            </a:r>
            <a:endParaRPr lang="zh-CN" sz="1800" dirty="0"/>
          </a:p>
          <a:p>
            <a:pPr indent="0" marL="0">
              <a:spcAft>
                <a:spcPts val="1600"/>
              </a:spcAft>
              <a:buNone/>
            </a:pPr>
            <a:r>
              <a:rPr lang="zh-CN" altLang="en-US" sz="18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想跑别的 ABI，只能改内核。</a:t>
            </a:r>
            <a:endParaRPr lang="zh-CN" sz="1800" dirty="0"/>
          </a:p>
        </p:txBody>
      </p:sp>
      <p:sp>
        <p:nvSpPr>
          <p:cNvPr id="10" name="Shape 8"/>
          <p:cNvSpPr/>
          <p:nvPr/>
        </p:nvSpPr>
        <p:spPr>
          <a:xfrm>
            <a:off x="6278728" y="1783080"/>
            <a:ext cx="5272888" cy="4114800"/>
          </a:xfrm>
          <a:prstGeom prst="roundRect">
            <a:avLst>
              <a:gd name="adj" fmla="val 2667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07328" y="1965960"/>
            <a:ext cx="676656" cy="310896"/>
          </a:xfrm>
          <a:prstGeom prst="roundRect">
            <a:avLst>
              <a:gd name="adj" fmla="val 23529"/>
            </a:avLst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07328" y="1965960"/>
            <a:ext cx="676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0B1437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之后</a:t>
            </a:r>
            <a:endParaRPr lang="zh-CN" sz="1200" dirty="0"/>
          </a:p>
        </p:txBody>
      </p:sp>
      <p:sp>
        <p:nvSpPr>
          <p:cNvPr id="13" name="Text 11"/>
          <p:cNvSpPr/>
          <p:nvPr/>
        </p:nvSpPr>
        <p:spPr>
          <a:xfrm>
            <a:off x="6507328" y="2514600"/>
            <a:ext cx="4815688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zh-CN" altLang="en-US" sz="1800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内核只留能力端口，实现一遍。</a:t>
            </a:r>
            <a:endParaRPr lang="zh-CN" sz="1800" dirty="0"/>
          </a:p>
          <a:p>
            <a:pPr indent="0" marL="0">
              <a:spcAft>
                <a:spcPts val="1600"/>
              </a:spcAft>
              <a:buNone/>
            </a:pPr>
            <a:r>
              <a:rPr lang="zh-CN" altLang="en-US" sz="1800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每套参考实现是一个包，链接进来就自己注册。</a:t>
            </a:r>
            <a:endParaRPr lang="zh-CN" sz="1800" dirty="0"/>
          </a:p>
          <a:p>
            <a:pPr indent="0" marL="0">
              <a:spcAft>
                <a:spcPts val="1600"/>
              </a:spcAft>
              <a:buNone/>
            </a:pPr>
            <a:r>
              <a:rPr lang="zh-CN" altLang="en-US" sz="1800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返回值由实现自己写回：负 errno、NTSTATUS、errno 加进位标志。</a:t>
            </a:r>
            <a:endParaRPr lang="zh-CN" sz="1800" dirty="0"/>
          </a:p>
          <a:p>
            <a:pPr indent="0" marL="0">
              <a:spcAft>
                <a:spcPts val="1600"/>
              </a:spcAft>
              <a:buNone/>
            </a:pPr>
            <a:r>
              <a:rPr lang="zh-CN" altLang="en-US" sz="1800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摘掉一个包，内核不用改。</a:t>
            </a:r>
            <a:endParaRPr lang="zh-CN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04 架构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两种用法：直接依赖对应的包，或用分发包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28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773936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83080"/>
            <a:ext cx="1773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直接依赖对应的包</a:t>
            </a:r>
            <a:endParaRPr lang="zh-CN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240280"/>
            <a:ext cx="5272888" cy="2514600"/>
          </a:xfrm>
          <a:prstGeom prst="roundRect">
            <a:avLst>
              <a:gd name="adj" fmla="val 3636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377440"/>
            <a:ext cx="481568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zh-CN" altLang="en-US" sz="13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[dependencies]</a:t>
            </a:r>
            <a:endParaRPr lang="zh-CN" sz="13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3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ax-dispatch    = { workspace = true }</a:t>
            </a:r>
            <a:endParaRPr lang="zh-CN" sz="13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3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ax-binfmt      = { workspace = true }</a:t>
            </a:r>
            <a:endParaRPr lang="zh-CN" sz="13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3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ax-abi-port    = { workspace = true }</a:t>
            </a:r>
            <a:endParaRPr lang="zh-CN" sz="13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3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ax-abi-windows = { workspace = true }</a:t>
            </a:r>
            <a:endParaRPr lang="zh-CN" sz="1300" dirty="0"/>
          </a:p>
          <a:p>
            <a:pPr indent="0" marL="0">
              <a:spcAft>
                <a:spcPts val="200"/>
              </a:spcAft>
              <a:buNone/>
            </a:pPr>
            <a:endParaRPr lang="zh-CN" sz="13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3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分发策略自己写</a:t>
            </a:r>
            <a:endParaRPr lang="zh-CN" sz="13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3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impl TrapDispatch for Mine { .. }</a:t>
            </a:r>
            <a:endParaRPr lang="zh-CN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4937760"/>
            <a:ext cx="5272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只要其中一套，或者要自己的分发顺序时用。依赖哪个包，哪个包就在；策略由宿主实现。</a:t>
            </a:r>
            <a:endParaRPr lang="zh-CN" sz="1500" dirty="0"/>
          </a:p>
        </p:txBody>
      </p:sp>
      <p:sp>
        <p:nvSpPr>
          <p:cNvPr id="11" name="Shape 9"/>
          <p:cNvSpPr/>
          <p:nvPr/>
        </p:nvSpPr>
        <p:spPr>
          <a:xfrm>
            <a:off x="6278728" y="1783080"/>
            <a:ext cx="1042416" cy="310896"/>
          </a:xfrm>
          <a:prstGeom prst="roundRect">
            <a:avLst>
              <a:gd name="adj" fmla="val 23529"/>
            </a:avLst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78728" y="1783080"/>
            <a:ext cx="1042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0B1437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用分发包</a:t>
            </a:r>
            <a:endParaRPr lang="zh-CN" sz="1200" dirty="0"/>
          </a:p>
        </p:txBody>
      </p:sp>
      <p:sp>
        <p:nvSpPr>
          <p:cNvPr id="13" name="Shape 11"/>
          <p:cNvSpPr/>
          <p:nvPr/>
        </p:nvSpPr>
        <p:spPr>
          <a:xfrm>
            <a:off x="6278728" y="2240280"/>
            <a:ext cx="5272888" cy="2514600"/>
          </a:xfrm>
          <a:prstGeom prst="roundRect">
            <a:avLst>
              <a:gd name="adj" fmla="val 3636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07328" y="2377440"/>
            <a:ext cx="481568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zh-CN" altLang="en-US" sz="13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[dependencies]</a:t>
            </a:r>
            <a:endParaRPr lang="zh-CN" sz="13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3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ax-abi = { workspace = true, features = [</a:t>
            </a:r>
            <a:endParaRPr lang="zh-CN" sz="13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3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"linux", "linux-elf", "auto-dispatch",</a:t>
            </a:r>
            <a:endParaRPr lang="zh-CN" sz="13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3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] }</a:t>
            </a:r>
            <a:endParaRPr lang="zh-CN" sz="1300" dirty="0"/>
          </a:p>
          <a:p>
            <a:pPr indent="0" marL="0">
              <a:spcAft>
                <a:spcPts val="200"/>
              </a:spcAft>
              <a:buNone/>
            </a:pPr>
            <a:endParaRPr lang="zh-CN" sz="13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3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[features]            # StarryOS 内核</a:t>
            </a:r>
            <a:endParaRPr lang="zh-CN" sz="13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3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abi-win = ["ax-abi/win"]</a:t>
            </a:r>
            <a:endParaRPr lang="zh-CN" sz="13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3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abi-mac = ["ax-abi/mac"]</a:t>
            </a:r>
            <a:endParaRPr lang="zh-CN" sz="1300" dirty="0"/>
          </a:p>
        </p:txBody>
      </p:sp>
      <p:sp>
        <p:nvSpPr>
          <p:cNvPr id="15" name="Text 13"/>
          <p:cNvSpPr/>
          <p:nvPr/>
        </p:nvSpPr>
        <p:spPr>
          <a:xfrm>
            <a:off x="6278728" y="4937760"/>
            <a:ext cx="50900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一个依赖拿全。feature 只决定哪些包进链接，进来的自己注册。分发包不做运行时选择，只给默认策略：按 abi_slot 取实现，没人认领的号交给扩展。</a:t>
            </a:r>
            <a:endParaRPr lang="zh-CN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04 架构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进程控制块的改造：记下任务属于哪套 ABI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29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120640" cy="2011680"/>
          </a:xfrm>
          <a:prstGeom prst="roundRect">
            <a:avLst>
              <a:gd name="adj" fmla="val 4545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920240"/>
            <a:ext cx="4663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zh-CN" altLang="en-US" sz="14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pub struct ProcessData {</a:t>
            </a:r>
            <a:endParaRPr lang="zh-CN" sz="14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4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..</a:t>
            </a:r>
            <a:endParaRPr lang="zh-CN" sz="14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4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/// 所属实现在登记表里的位置，加一；</a:t>
            </a:r>
            <a:endParaRPr lang="zh-CN" sz="14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4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/// 零表示还没定。</a:t>
            </a:r>
            <a:endParaRPr lang="zh-CN" sz="14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4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pub abi_slot: AtomicU32,</a:t>
            </a:r>
            <a:endParaRPr lang="zh-CN" sz="14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4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zh-CN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977640"/>
            <a:ext cx="5120640" cy="1920240"/>
          </a:xfrm>
          <a:prstGeom prst="roundRect">
            <a:avLst>
              <a:gd name="adj" fmla="val 5714"/>
            </a:avLst>
          </a:prstGeom>
          <a:solidFill>
            <a:srgbClr val="FBE9C4"/>
          </a:solidFill>
          <a:ln w="12700">
            <a:solidFill>
              <a:srgbClr val="FBE9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4114800"/>
            <a:ext cx="4663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5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为什么要记</a:t>
            </a:r>
            <a:endParaRPr lang="zh-CN" sz="1500" dirty="0"/>
          </a:p>
          <a:p>
            <a:pPr indent="0" marL="0">
              <a:spcAft>
                <a:spcPts val="600"/>
              </a:spcAft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调用号在不同 ABI 之间相撞：NT 的 WriteFile 与 Linux 的 write 在 x86-64 上都是 1。只按号分发会分错。</a:t>
            </a:r>
            <a:endParaRPr lang="zh-CN" sz="1500" dirty="0"/>
          </a:p>
        </p:txBody>
      </p:sp>
      <p:sp>
        <p:nvSpPr>
          <p:cNvPr id="10" name="Shape 8"/>
          <p:cNvSpPr/>
          <p:nvPr/>
        </p:nvSpPr>
        <p:spPr>
          <a:xfrm>
            <a:off x="6309360" y="1783080"/>
            <a:ext cx="5242255" cy="1280160"/>
          </a:xfrm>
          <a:prstGeom prst="roundRect">
            <a:avLst>
              <a:gd name="adj" fmla="val 8571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1984248"/>
            <a:ext cx="822960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1984248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exec</a:t>
            </a:r>
            <a:endParaRPr lang="zh-CN" sz="1200" dirty="0"/>
          </a:p>
        </p:txBody>
      </p:sp>
      <p:sp>
        <p:nvSpPr>
          <p:cNvPr id="13" name="Text 11"/>
          <p:cNvSpPr/>
          <p:nvPr/>
        </p:nvSpPr>
        <p:spPr>
          <a:xfrm>
            <a:off x="7498080" y="1892808"/>
            <a:ext cx="3870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加载器认出镜像格式，查到对应实现的位置，写进 abi_slot</a:t>
            </a:r>
            <a:endParaRPr lang="zh-CN" sz="1500" dirty="0"/>
          </a:p>
        </p:txBody>
      </p:sp>
      <p:sp>
        <p:nvSpPr>
          <p:cNvPr id="14" name="Text 12"/>
          <p:cNvSpPr/>
          <p:nvPr/>
        </p:nvSpPr>
        <p:spPr>
          <a:xfrm>
            <a:off x="7498080" y="2606040"/>
            <a:ext cx="3870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slot_of(format.abi())</a:t>
            </a:r>
            <a:endParaRPr lang="zh-CN" sz="1300" dirty="0"/>
          </a:p>
        </p:txBody>
      </p:sp>
      <p:sp>
        <p:nvSpPr>
          <p:cNvPr id="15" name="Shape 13"/>
          <p:cNvSpPr/>
          <p:nvPr/>
        </p:nvSpPr>
        <p:spPr>
          <a:xfrm>
            <a:off x="6309360" y="3200400"/>
            <a:ext cx="5242255" cy="1280160"/>
          </a:xfrm>
          <a:prstGeom prst="roundRect">
            <a:avLst>
              <a:gd name="adj" fmla="val 8571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92240" y="3401568"/>
            <a:ext cx="822960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3401568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fork</a:t>
            </a:r>
            <a:endParaRPr lang="zh-CN" sz="1200" dirty="0"/>
          </a:p>
        </p:txBody>
      </p:sp>
      <p:sp>
        <p:nvSpPr>
          <p:cNvPr id="18" name="Text 16"/>
          <p:cNvSpPr/>
          <p:nvPr/>
        </p:nvSpPr>
        <p:spPr>
          <a:xfrm>
            <a:off x="7498080" y="3310128"/>
            <a:ext cx="3870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子进程照抄父进程的值；再 exec 时按新镜像重置</a:t>
            </a:r>
            <a:endParaRPr lang="zh-CN" sz="1500" dirty="0"/>
          </a:p>
        </p:txBody>
      </p:sp>
      <p:sp>
        <p:nvSpPr>
          <p:cNvPr id="19" name="Text 17"/>
          <p:cNvSpPr/>
          <p:nvPr/>
        </p:nvSpPr>
        <p:spPr>
          <a:xfrm>
            <a:off x="7498080" y="4023360"/>
            <a:ext cx="3870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child.abi_slot = parent.abi_slot</a:t>
            </a:r>
            <a:endParaRPr lang="zh-CN" sz="1300" dirty="0"/>
          </a:p>
        </p:txBody>
      </p:sp>
      <p:sp>
        <p:nvSpPr>
          <p:cNvPr id="20" name="Shape 18"/>
          <p:cNvSpPr/>
          <p:nvPr/>
        </p:nvSpPr>
        <p:spPr>
          <a:xfrm>
            <a:off x="6309360" y="4617720"/>
            <a:ext cx="5242255" cy="1280160"/>
          </a:xfrm>
          <a:prstGeom prst="roundRect">
            <a:avLst>
              <a:gd name="adj" fmla="val 8571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92240" y="4818888"/>
            <a:ext cx="822960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4818888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陷入</a:t>
            </a:r>
            <a:endParaRPr lang="zh-CN" sz="1200" dirty="0"/>
          </a:p>
        </p:txBody>
      </p:sp>
      <p:sp>
        <p:nvSpPr>
          <p:cNvPr id="23" name="Text 21"/>
          <p:cNvSpPr/>
          <p:nvPr/>
        </p:nvSpPr>
        <p:spPr>
          <a:xfrm>
            <a:off x="7498080" y="4727448"/>
            <a:ext cx="3870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读出 abi_slot，按下标直接取实现；不搜索，不比较</a:t>
            </a:r>
            <a:endParaRPr lang="zh-CN" sz="1500" dirty="0"/>
          </a:p>
        </p:txBody>
      </p:sp>
      <p:sp>
        <p:nvSpPr>
          <p:cNvPr id="24" name="Text 22"/>
          <p:cNvSpPr/>
          <p:nvPr/>
        </p:nvSpPr>
        <p:spPr>
          <a:xfrm>
            <a:off x="7498080" y="5440680"/>
            <a:ext cx="3870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dispatch_at(slot, env)</a:t>
            </a:r>
            <a:endParaRPr lang="zh-CN" sz="13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04 架构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一次陷入怎么走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30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627632" cy="1737360"/>
          </a:xfrm>
          <a:prstGeom prst="roundRect">
            <a:avLst>
              <a:gd name="adj" fmla="val 6742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1965960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4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用户态陷入</a:t>
            </a:r>
            <a:endParaRPr lang="zh-CN" sz="1400" dirty="0"/>
          </a:p>
        </p:txBody>
      </p:sp>
      <p:sp>
        <p:nvSpPr>
          <p:cNvPr id="8" name="Text 6"/>
          <p:cNvSpPr/>
          <p:nvPr/>
        </p:nvSpPr>
        <p:spPr>
          <a:xfrm>
            <a:off x="749808" y="2560320"/>
            <a:ext cx="14081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syscall 指令</a:t>
            </a:r>
            <a:endParaRPr lang="zh-CN" sz="1300" dirty="0"/>
          </a:p>
        </p:txBody>
      </p:sp>
      <p:sp>
        <p:nvSpPr>
          <p:cNvPr id="9" name="Shape 7"/>
          <p:cNvSpPr/>
          <p:nvPr/>
        </p:nvSpPr>
        <p:spPr>
          <a:xfrm>
            <a:off x="2290572" y="2560320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496312" y="1783080"/>
            <a:ext cx="1627632" cy="1737360"/>
          </a:xfrm>
          <a:prstGeom prst="roundRect">
            <a:avLst>
              <a:gd name="adj" fmla="val 6742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69464" y="1965960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handle_syscall</a:t>
            </a:r>
            <a:endParaRPr lang="zh-CN" sz="1200" dirty="0"/>
          </a:p>
        </p:txBody>
      </p:sp>
      <p:sp>
        <p:nvSpPr>
          <p:cNvPr id="12" name="Text 10"/>
          <p:cNvSpPr/>
          <p:nvPr/>
        </p:nvSpPr>
        <p:spPr>
          <a:xfrm>
            <a:off x="2606040" y="2560320"/>
            <a:ext cx="14081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内核入口</a:t>
            </a:r>
            <a:endParaRPr lang="zh-CN" sz="1300" dirty="0"/>
          </a:p>
        </p:txBody>
      </p:sp>
      <p:sp>
        <p:nvSpPr>
          <p:cNvPr id="13" name="Shape 11"/>
          <p:cNvSpPr/>
          <p:nvPr/>
        </p:nvSpPr>
        <p:spPr>
          <a:xfrm>
            <a:off x="4146804" y="2560320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52544" y="1783080"/>
            <a:ext cx="1627632" cy="1737360"/>
          </a:xfrm>
          <a:prstGeom prst="roundRect">
            <a:avLst>
              <a:gd name="adj" fmla="val 6742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25696" y="1965960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TrapDispatch</a:t>
            </a:r>
            <a:endParaRPr lang="zh-CN" sz="1200" dirty="0"/>
          </a:p>
        </p:txBody>
      </p:sp>
      <p:sp>
        <p:nvSpPr>
          <p:cNvPr id="16" name="Text 14"/>
          <p:cNvSpPr/>
          <p:nvPr/>
        </p:nvSpPr>
        <p:spPr>
          <a:xfrm>
            <a:off x="4462272" y="2560320"/>
            <a:ext cx="14081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分发包的策略</a:t>
            </a:r>
            <a:endParaRPr lang="zh-CN" sz="1300" dirty="0"/>
          </a:p>
        </p:txBody>
      </p:sp>
      <p:sp>
        <p:nvSpPr>
          <p:cNvPr id="17" name="Shape 15"/>
          <p:cNvSpPr/>
          <p:nvPr/>
        </p:nvSpPr>
        <p:spPr>
          <a:xfrm>
            <a:off x="6003036" y="2560320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08776" y="1783080"/>
            <a:ext cx="1627632" cy="1737360"/>
          </a:xfrm>
          <a:prstGeom prst="roundRect">
            <a:avLst>
              <a:gd name="adj" fmla="val 6742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81928" y="1965960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dispatch_at</a:t>
            </a:r>
            <a:endParaRPr lang="zh-CN" sz="1200" dirty="0"/>
          </a:p>
        </p:txBody>
      </p:sp>
      <p:sp>
        <p:nvSpPr>
          <p:cNvPr id="20" name="Text 18"/>
          <p:cNvSpPr/>
          <p:nvPr/>
        </p:nvSpPr>
        <p:spPr>
          <a:xfrm>
            <a:off x="6318504" y="2560320"/>
            <a:ext cx="14081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按 abi_slot 取实现</a:t>
            </a:r>
            <a:endParaRPr lang="zh-CN" sz="1300" dirty="0"/>
          </a:p>
        </p:txBody>
      </p:sp>
      <p:sp>
        <p:nvSpPr>
          <p:cNvPr id="21" name="Shape 19"/>
          <p:cNvSpPr/>
          <p:nvPr/>
        </p:nvSpPr>
        <p:spPr>
          <a:xfrm>
            <a:off x="7859268" y="2560320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065008" y="1783080"/>
            <a:ext cx="1627632" cy="1737360"/>
          </a:xfrm>
          <a:prstGeom prst="roundRect">
            <a:avLst>
              <a:gd name="adj" fmla="val 6742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138160" y="1965960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400" b="1" dirty="0">
                <a:solidFill>
                  <a:srgbClr val="F2B441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参考实现</a:t>
            </a:r>
            <a:endParaRPr lang="zh-CN" sz="1400" dirty="0"/>
          </a:p>
        </p:txBody>
      </p:sp>
      <p:sp>
        <p:nvSpPr>
          <p:cNvPr id="24" name="Text 22"/>
          <p:cNvSpPr/>
          <p:nvPr/>
        </p:nvSpPr>
        <p:spPr>
          <a:xfrm>
            <a:off x="8174736" y="2560320"/>
            <a:ext cx="14081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300" dirty="0">
                <a:solidFill>
                  <a:srgbClr val="C9D2EA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校验参数，决定语义与错误码</a:t>
            </a:r>
            <a:endParaRPr lang="zh-CN" sz="1300" dirty="0"/>
          </a:p>
        </p:txBody>
      </p:sp>
      <p:sp>
        <p:nvSpPr>
          <p:cNvPr id="25" name="Shape 23"/>
          <p:cNvSpPr/>
          <p:nvPr/>
        </p:nvSpPr>
        <p:spPr>
          <a:xfrm>
            <a:off x="9715500" y="2560320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921240" y="1783080"/>
            <a:ext cx="1627632" cy="1737360"/>
          </a:xfrm>
          <a:prstGeom prst="roundRect">
            <a:avLst>
              <a:gd name="adj" fmla="val 6742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994392" y="1965960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4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能力端口</a:t>
            </a:r>
            <a:endParaRPr lang="zh-CN" sz="1400" dirty="0"/>
          </a:p>
        </p:txBody>
      </p:sp>
      <p:sp>
        <p:nvSpPr>
          <p:cNvPr id="28" name="Text 26"/>
          <p:cNvSpPr/>
          <p:nvPr/>
        </p:nvSpPr>
        <p:spPr>
          <a:xfrm>
            <a:off x="10030968" y="2560320"/>
            <a:ext cx="14081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读写 fd 表、地址空间、线程</a:t>
            </a:r>
            <a:endParaRPr lang="zh-CN" sz="1300" dirty="0"/>
          </a:p>
        </p:txBody>
      </p:sp>
      <p:sp>
        <p:nvSpPr>
          <p:cNvPr id="29" name="Text 27"/>
          <p:cNvSpPr/>
          <p:nvPr/>
        </p:nvSpPr>
        <p:spPr>
          <a:xfrm>
            <a:off x="640080" y="3886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返回值由认领的实现自己写回陷入帧</a:t>
            </a:r>
            <a:endParaRPr lang="zh-CN" sz="1700" dirty="0"/>
          </a:p>
        </p:txBody>
      </p:sp>
      <p:sp>
        <p:nvSpPr>
          <p:cNvPr id="30" name="Shape 28"/>
          <p:cNvSpPr/>
          <p:nvPr/>
        </p:nvSpPr>
        <p:spPr>
          <a:xfrm>
            <a:off x="640080" y="4389120"/>
            <a:ext cx="3484778" cy="914400"/>
          </a:xfrm>
          <a:prstGeom prst="roundRect">
            <a:avLst>
              <a:gd name="adj" fmla="val 120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68680" y="43891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</a:t>
            </a:r>
            <a:endParaRPr lang="zh-CN" sz="1600" dirty="0"/>
          </a:p>
        </p:txBody>
      </p:sp>
      <p:sp>
        <p:nvSpPr>
          <p:cNvPr id="32" name="Text 30"/>
          <p:cNvSpPr/>
          <p:nvPr/>
        </p:nvSpPr>
        <p:spPr>
          <a:xfrm>
            <a:off x="2057400" y="4389120"/>
            <a:ext cx="19302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负 errno</a:t>
            </a:r>
            <a:endParaRPr lang="zh-CN" sz="1500" dirty="0"/>
          </a:p>
        </p:txBody>
      </p:sp>
      <p:sp>
        <p:nvSpPr>
          <p:cNvPr id="33" name="Shape 31"/>
          <p:cNvSpPr/>
          <p:nvPr/>
        </p:nvSpPr>
        <p:spPr>
          <a:xfrm>
            <a:off x="4353458" y="4389120"/>
            <a:ext cx="3484778" cy="914400"/>
          </a:xfrm>
          <a:prstGeom prst="roundRect">
            <a:avLst>
              <a:gd name="adj" fmla="val 120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82058" y="43891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Windows</a:t>
            </a:r>
            <a:endParaRPr lang="zh-CN" sz="1600" dirty="0"/>
          </a:p>
        </p:txBody>
      </p:sp>
      <p:sp>
        <p:nvSpPr>
          <p:cNvPr id="35" name="Text 33"/>
          <p:cNvSpPr/>
          <p:nvPr/>
        </p:nvSpPr>
        <p:spPr>
          <a:xfrm>
            <a:off x="5770778" y="4389120"/>
            <a:ext cx="19302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NTSTATUS</a:t>
            </a:r>
            <a:endParaRPr lang="zh-CN" sz="1500" dirty="0"/>
          </a:p>
        </p:txBody>
      </p:sp>
      <p:sp>
        <p:nvSpPr>
          <p:cNvPr id="36" name="Shape 34"/>
          <p:cNvSpPr/>
          <p:nvPr/>
        </p:nvSpPr>
        <p:spPr>
          <a:xfrm>
            <a:off x="8066837" y="4389120"/>
            <a:ext cx="3484778" cy="914400"/>
          </a:xfrm>
          <a:prstGeom prst="roundRect">
            <a:avLst>
              <a:gd name="adj" fmla="val 120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295437" y="43891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Darwin</a:t>
            </a:r>
            <a:endParaRPr lang="zh-CN" sz="1600" dirty="0"/>
          </a:p>
        </p:txBody>
      </p:sp>
      <p:sp>
        <p:nvSpPr>
          <p:cNvPr id="38" name="Text 36"/>
          <p:cNvSpPr/>
          <p:nvPr/>
        </p:nvSpPr>
        <p:spPr>
          <a:xfrm>
            <a:off x="9484157" y="4389120"/>
            <a:ext cx="19302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errno，并抬起进位标志</a:t>
            </a:r>
            <a:endParaRPr lang="zh-CN" sz="1500" dirty="0"/>
          </a:p>
        </p:txBody>
      </p:sp>
      <p:sp>
        <p:nvSpPr>
          <p:cNvPr id="39" name="Text 37"/>
          <p:cNvSpPr/>
          <p:nvPr/>
        </p:nvSpPr>
        <p:spPr>
          <a:xfrm>
            <a:off x="640080" y="55778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参考实现只依赖端口，不依赖内核类型；用模拟端口就能在宿主机上做单元测试。</a:t>
            </a:r>
            <a:endParaRPr lang="zh-CN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04 架构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三种二进制是如何加载的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31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1977481" cy="566928"/>
          </a:xfrm>
          <a:prstGeom prst="roundRect">
            <a:avLst>
              <a:gd name="adj" fmla="val 19355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37360"/>
            <a:ext cx="197748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读文件头 4096 字节</a:t>
            </a:r>
            <a:endParaRPr lang="zh-CN" sz="1300" dirty="0"/>
          </a:p>
        </p:txBody>
      </p:sp>
      <p:sp>
        <p:nvSpPr>
          <p:cNvPr id="8" name="Shape 6"/>
          <p:cNvSpPr/>
          <p:nvPr/>
        </p:nvSpPr>
        <p:spPr>
          <a:xfrm>
            <a:off x="2654137" y="1929384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73593" y="1737360"/>
            <a:ext cx="1977481" cy="566928"/>
          </a:xfrm>
          <a:prstGeom prst="roundRect">
            <a:avLst>
              <a:gd name="adj" fmla="val 19355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73593" y="1737360"/>
            <a:ext cx="197748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是 #! 就换成解释器</a:t>
            </a:r>
            <a:endParaRPr lang="zh-CN" sz="1300" dirty="0"/>
          </a:p>
        </p:txBody>
      </p:sp>
      <p:sp>
        <p:nvSpPr>
          <p:cNvPr id="11" name="Shape 9"/>
          <p:cNvSpPr/>
          <p:nvPr/>
        </p:nvSpPr>
        <p:spPr>
          <a:xfrm>
            <a:off x="4887651" y="1929384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07107" y="1737360"/>
            <a:ext cx="1977481" cy="566928"/>
          </a:xfrm>
          <a:prstGeom prst="roundRect">
            <a:avLst>
              <a:gd name="adj" fmla="val 19355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07107" y="1737360"/>
            <a:ext cx="197748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按魔数认格式</a:t>
            </a:r>
            <a:endParaRPr lang="zh-CN" sz="1300" dirty="0"/>
          </a:p>
        </p:txBody>
      </p:sp>
      <p:sp>
        <p:nvSpPr>
          <p:cNvPr id="14" name="Shape 12"/>
          <p:cNvSpPr/>
          <p:nvPr/>
        </p:nvSpPr>
        <p:spPr>
          <a:xfrm>
            <a:off x="7121164" y="1929384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40620" y="1737360"/>
            <a:ext cx="1977481" cy="566928"/>
          </a:xfrm>
          <a:prstGeom prst="roundRect">
            <a:avLst>
              <a:gd name="adj" fmla="val 19355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40620" y="1737360"/>
            <a:ext cx="197748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交给认领的包加载</a:t>
            </a:r>
            <a:endParaRPr lang="zh-CN" sz="1300" dirty="0"/>
          </a:p>
        </p:txBody>
      </p:sp>
      <p:sp>
        <p:nvSpPr>
          <p:cNvPr id="17" name="Shape 15"/>
          <p:cNvSpPr/>
          <p:nvPr/>
        </p:nvSpPr>
        <p:spPr>
          <a:xfrm>
            <a:off x="9354678" y="1929384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574134" y="1737360"/>
            <a:ext cx="1977481" cy="566928"/>
          </a:xfrm>
          <a:prstGeom prst="roundRect">
            <a:avLst>
              <a:gd name="adj" fmla="val 19355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574134" y="1737360"/>
            <a:ext cx="197748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记下 abi_slot</a:t>
            </a:r>
            <a:endParaRPr lang="zh-CN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2560320"/>
            <a:ext cx="3454298" cy="3429000"/>
          </a:xfrm>
          <a:prstGeom prst="roundRect">
            <a:avLst>
              <a:gd name="adj" fmla="val 32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8680" y="269748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9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ELF</a:t>
            </a:r>
            <a:endParaRPr lang="zh-CN" sz="1900" dirty="0"/>
          </a:p>
        </p:txBody>
      </p:sp>
      <p:sp>
        <p:nvSpPr>
          <p:cNvPr id="22" name="Text 20"/>
          <p:cNvSpPr/>
          <p:nvPr/>
        </p:nvSpPr>
        <p:spPr>
          <a:xfrm>
            <a:off x="2194560" y="2697480"/>
            <a:ext cx="16712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\x7fELF</a:t>
            </a:r>
            <a:endParaRPr lang="zh-CN" sz="1300" dirty="0"/>
          </a:p>
        </p:txBody>
      </p:sp>
      <p:sp>
        <p:nvSpPr>
          <p:cNvPr id="23" name="Text 21"/>
          <p:cNvSpPr/>
          <p:nvPr/>
        </p:nvSpPr>
        <p:spPr>
          <a:xfrm>
            <a:off x="868680" y="3246120"/>
            <a:ext cx="299709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映射 PT_LOAD 各段：文件背衬，写时复制</a:t>
            </a:r>
            <a:endParaRPr lang="zh-CN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PT_INTERP 指向的解释器再加载一次</a:t>
            </a:r>
            <a:endParaRPr lang="zh-CN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在栈上排好 argc、argv、envp、auxv</a:t>
            </a:r>
            <a:endParaRPr lang="zh-CN" sz="1400" dirty="0"/>
          </a:p>
        </p:txBody>
      </p:sp>
      <p:sp>
        <p:nvSpPr>
          <p:cNvPr id="24" name="Shape 22"/>
          <p:cNvSpPr/>
          <p:nvPr/>
        </p:nvSpPr>
        <p:spPr>
          <a:xfrm>
            <a:off x="4368698" y="2560320"/>
            <a:ext cx="3454298" cy="3429000"/>
          </a:xfrm>
          <a:prstGeom prst="roundRect">
            <a:avLst>
              <a:gd name="adj" fmla="val 32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97298" y="269748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9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PE</a:t>
            </a:r>
            <a:endParaRPr lang="zh-CN" sz="1900" dirty="0"/>
          </a:p>
        </p:txBody>
      </p:sp>
      <p:sp>
        <p:nvSpPr>
          <p:cNvPr id="26" name="Text 24"/>
          <p:cNvSpPr/>
          <p:nvPr/>
        </p:nvSpPr>
        <p:spPr>
          <a:xfrm>
            <a:off x="5923178" y="2697480"/>
            <a:ext cx="16712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MZ … PE\0\0</a:t>
            </a:r>
            <a:endParaRPr lang="zh-CN" sz="1300" dirty="0"/>
          </a:p>
        </p:txBody>
      </p:sp>
      <p:sp>
        <p:nvSpPr>
          <p:cNvPr id="27" name="Text 25"/>
          <p:cNvSpPr/>
          <p:nvPr/>
        </p:nvSpPr>
        <p:spPr>
          <a:xfrm>
            <a:off x="4597298" y="3246120"/>
            <a:ext cx="299709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映射头与各节，做基址重定位</a:t>
            </a:r>
            <a:endParaRPr lang="zh-CN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系统库不是文件：每个导入绑到一小段合成指令，执行即陷入</a:t>
            </a:r>
            <a:endParaRPr lang="zh-CN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其余 DLL 从程序目录与 system32 找到后照样映射</a:t>
            </a:r>
            <a:endParaRPr lang="zh-CN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建 TEB 与 PEB，gs 指向 TEB</a:t>
            </a:r>
            <a:endParaRPr lang="zh-CN" sz="1400" dirty="0"/>
          </a:p>
        </p:txBody>
      </p:sp>
      <p:sp>
        <p:nvSpPr>
          <p:cNvPr id="28" name="Shape 26"/>
          <p:cNvSpPr/>
          <p:nvPr/>
        </p:nvSpPr>
        <p:spPr>
          <a:xfrm>
            <a:off x="8097317" y="2560320"/>
            <a:ext cx="3454298" cy="3429000"/>
          </a:xfrm>
          <a:prstGeom prst="roundRect">
            <a:avLst>
              <a:gd name="adj" fmla="val 32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325917" y="269748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9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Mach-O</a:t>
            </a:r>
            <a:endParaRPr lang="zh-CN" sz="1900" dirty="0"/>
          </a:p>
        </p:txBody>
      </p:sp>
      <p:sp>
        <p:nvSpPr>
          <p:cNvPr id="30" name="Text 28"/>
          <p:cNvSpPr/>
          <p:nvPr/>
        </p:nvSpPr>
        <p:spPr>
          <a:xfrm>
            <a:off x="9651797" y="2697480"/>
            <a:ext cx="16712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0xfeedfacf</a:t>
            </a:r>
            <a:endParaRPr lang="zh-CN" sz="1300" dirty="0"/>
          </a:p>
        </p:txBody>
      </p:sp>
      <p:sp>
        <p:nvSpPr>
          <p:cNvPr id="31" name="Text 29"/>
          <p:cNvSpPr/>
          <p:nvPr/>
        </p:nvSpPr>
        <p:spPr>
          <a:xfrm>
            <a:off x="8325917" y="3246120"/>
            <a:ext cx="299709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胖包按 CPU 类型挑出一片</a:t>
            </a:r>
            <a:endParaRPr lang="zh-CN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按 LC_SEGMENT_64 原地映射，入口取 LC_MAIN</a:t>
            </a:r>
            <a:endParaRPr lang="zh-CN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读 LC_DYLD_INFO_ONLY 的 bind 操作码流</a:t>
            </a:r>
            <a:endParaRPr lang="zh-CN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符号绑到合成的 libSystem 入口</a:t>
            </a:r>
            <a:endParaRPr lang="zh-CN" sz="1400" dirty="0"/>
          </a:p>
        </p:txBody>
      </p:sp>
      <p:sp>
        <p:nvSpPr>
          <p:cNvPr id="32" name="Text 30"/>
          <p:cNvSpPr/>
          <p:nvPr/>
        </p:nvSpPr>
        <p:spPr>
          <a:xfrm>
            <a:off x="640080" y="6080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三者的「文件偏移加长度」同构，走同一个映射操作。</a:t>
            </a:r>
            <a:endParaRPr lang="zh-CN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B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914400"/>
            <a:ext cx="1463040" cy="1463040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00" y="2651760"/>
            <a:ext cx="457200" cy="457200"/>
          </a:xfrm>
          <a:prstGeom prst="star4">
            <a:avLst/>
          </a:prstGeom>
          <a:solidFill>
            <a:srgbClr val="C9D2EA"/>
          </a:solidFill>
          <a:ln w="12700">
            <a:solidFill>
              <a:srgbClr val="C9D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961120" y="2926080"/>
            <a:ext cx="274320" cy="274320"/>
          </a:xfrm>
          <a:prstGeom prst="star4">
            <a:avLst/>
          </a:prstGeom>
          <a:solidFill>
            <a:srgbClr val="C9D2EA"/>
          </a:solidFill>
          <a:ln w="12700">
            <a:solidFill>
              <a:srgbClr val="C9D2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7160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40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之后</a:t>
            </a:r>
            <a:endParaRPr lang="zh-CN" sz="4000" dirty="0"/>
          </a:p>
        </p:txBody>
      </p:sp>
      <p:sp>
        <p:nvSpPr>
          <p:cNvPr id="6" name="Shape 4"/>
          <p:cNvSpPr/>
          <p:nvPr/>
        </p:nvSpPr>
        <p:spPr>
          <a:xfrm>
            <a:off x="640080" y="2816352"/>
            <a:ext cx="868680" cy="365760"/>
          </a:xfrm>
          <a:prstGeom prst="roundRect">
            <a:avLst>
              <a:gd name="adj" fmla="val 20000"/>
            </a:avLst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816352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0B1437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个人</a:t>
            </a:r>
            <a:endParaRPr lang="zh-CN" sz="1300" dirty="0"/>
          </a:p>
        </p:txBody>
      </p:sp>
      <p:sp>
        <p:nvSpPr>
          <p:cNvPr id="8" name="Text 6"/>
          <p:cNvSpPr/>
          <p:nvPr/>
        </p:nvSpPr>
        <p:spPr>
          <a:xfrm>
            <a:off x="1783080" y="2743200"/>
            <a:ext cx="7772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闭关一段时间，消化现有的知识存量。</a:t>
            </a:r>
            <a:endParaRPr lang="zh-CN" sz="2000" dirty="0"/>
          </a:p>
        </p:txBody>
      </p:sp>
      <p:sp>
        <p:nvSpPr>
          <p:cNvPr id="9" name="Shape 7"/>
          <p:cNvSpPr/>
          <p:nvPr/>
        </p:nvSpPr>
        <p:spPr>
          <a:xfrm>
            <a:off x="640080" y="3913632"/>
            <a:ext cx="868680" cy="365760"/>
          </a:xfrm>
          <a:prstGeom prst="roundRect">
            <a:avLst>
              <a:gd name="adj" fmla="val 20000"/>
            </a:avLst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913632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0B1437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项目</a:t>
            </a:r>
            <a:endParaRPr lang="zh-CN" sz="1300" dirty="0"/>
          </a:p>
        </p:txBody>
      </p:sp>
      <p:sp>
        <p:nvSpPr>
          <p:cNvPr id="11" name="Text 9"/>
          <p:cNvSpPr/>
          <p:nvPr/>
        </p:nvSpPr>
        <p:spPr>
          <a:xfrm>
            <a:off x="1783080" y="3840480"/>
            <a:ext cx="7772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完成深度学习库的测试；继续修缮系统调用的抽象包。</a:t>
            </a:r>
            <a:endParaRPr lang="zh-CN" sz="2000" dirty="0"/>
          </a:p>
        </p:txBody>
      </p:sp>
      <p:sp>
        <p:nvSpPr>
          <p:cNvPr id="12" name="Text 10"/>
          <p:cNvSpPr/>
          <p:nvPr/>
        </p:nvSpPr>
        <p:spPr>
          <a:xfrm>
            <a:off x="640080" y="54864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C9D2EA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谢谢</a:t>
            </a:r>
            <a:endParaRPr lang="zh-CN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StarryOS 实习总结</dc:title>
  <dc:subject>PptxGenJS Presentation</dc:subject>
  <dc:creator>程柯雷</dc:creator>
  <cp:lastModifiedBy>程柯雷</cp:lastModifiedBy>
  <cp:revision>1</cp:revision>
  <dcterms:created xsi:type="dcterms:W3CDTF">2026-10-02T07:25:26Z</dcterms:created>
  <dcterms:modified xsi:type="dcterms:W3CDTF">2026-10-02T07:25:26Z</dcterms:modified>
</cp:coreProperties>
</file>