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6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7A859C"/>
                </a:solidFill>
                <a:latin typeface="HarmonyOS Sans SC"/>
              </a:defRPr>
            </a:pPr>
            <a:r>
              <a:rPr sz="1200" b="0" i="0" u="none" strike="noStrike">
                <a:solidFill>
                  <a:srgbClr val="7A859C"/>
                </a:solidFill>
                <a:latin typeface="HarmonyOS Sans SC"/>
              </a:rPr>
              <a:t>单次往返（µs）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µs</c:v>
                </c:pt>
              </c:strCache>
            </c:strRef>
          </c:tx>
          <c:spPr>
            <a:solidFill>
              <a:srgbClr val="E260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40"/>
                    </a:solidFill>
                    <a:latin typeface="JetBrains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60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59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修复前</c:v>
                  </c:pt>
                  <c:pt idx="1">
                    <c:v>修复后</c:v>
                  </c:pt>
                  <c:pt idx="2">
                    <c:v>Linux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415.7</c:v>
                </c:pt>
                <c:pt idx="1">
                  <c:v>129.9</c:v>
                </c:pt>
                <c:pt idx="2">
                  <c:v>34.3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340"/>
                  </a:solidFill>
                  <a:latin typeface="JetBrains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40"/>
                </a:solidFill>
                <a:latin typeface="HarmonyOS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7A859C"/>
                </a:solidFill>
                <a:latin typeface="HarmonyOS Sans SC"/>
              </a:defRPr>
            </a:pPr>
            <a:r>
              <a:rPr sz="1200" b="0" i="0" u="none" strike="noStrike">
                <a:solidFill>
                  <a:srgbClr val="7A859C"/>
                </a:solidFill>
                <a:latin typeface="HarmonyOS Sans SC"/>
              </a:rPr>
              <a:t>单次等待（µs）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µs</c:v>
                </c:pt>
              </c:strCache>
            </c:strRef>
          </c:tx>
          <c:spPr>
            <a:solidFill>
              <a:srgbClr val="E2604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40"/>
                    </a:solidFill>
                    <a:latin typeface="JetBrains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60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59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修复前</c:v>
                  </c:pt>
                  <c:pt idx="1">
                    <c:v>修复后</c:v>
                  </c:pt>
                  <c:pt idx="2">
                    <c:v>Linux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499.9</c:v>
                </c:pt>
                <c:pt idx="1">
                  <c:v>37</c:v>
                </c:pt>
                <c:pt idx="2">
                  <c:v>0.56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340"/>
                  </a:solidFill>
                  <a:latin typeface="JetBrains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40"/>
                </a:solidFill>
                <a:latin typeface="HarmonyOS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7A859C"/>
                </a:solidFill>
                <a:latin typeface="HarmonyOS Sans SC"/>
              </a:defRPr>
            </a:pPr>
            <a:r>
              <a:rPr sz="1200" b="0" i="0" u="none" strike="noStrike">
                <a:solidFill>
                  <a:srgbClr val="7A859C"/>
                </a:solidFill>
                <a:latin typeface="HarmonyOS Sans SC"/>
              </a:rPr>
              <a:t>单次 fork（ms）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E2604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40"/>
                    </a:solidFill>
                    <a:latin typeface="JetBrains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60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59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修复前</c:v>
                  </c:pt>
                  <c:pt idx="1">
                    <c:v>修复后</c:v>
                  </c:pt>
                  <c:pt idx="2">
                    <c:v>Linux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84.5</c:v>
                </c:pt>
                <c:pt idx="1">
                  <c:v>14</c:v>
                </c:pt>
                <c:pt idx="2">
                  <c:v>0.17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340"/>
                  </a:solidFill>
                  <a:latin typeface="JetBrains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40"/>
                </a:solidFill>
                <a:latin typeface="HarmonyOS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7A859C"/>
                </a:solidFill>
                <a:latin typeface="HarmonyOS Sans SC"/>
              </a:defRPr>
            </a:pPr>
            <a:r>
              <a:rPr sz="1200" b="0" i="0" u="none" strike="noStrike">
                <a:solidFill>
                  <a:srgbClr val="7A859C"/>
                </a:solidFill>
                <a:latin typeface="HarmonyOS Sans SC"/>
              </a:rPr>
              <a:t>单次 open 加 close（µs）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µs</c:v>
                </c:pt>
              </c:strCache>
            </c:strRef>
          </c:tx>
          <c:spPr>
            <a:solidFill>
              <a:srgbClr val="E260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40"/>
                    </a:solidFill>
                    <a:latin typeface="JetBrains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60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59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修复前</c:v>
                  </c:pt>
                  <c:pt idx="1">
                    <c:v>修复后</c:v>
                  </c:pt>
                  <c:pt idx="2">
                    <c:v>Linux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19.8</c:v>
                </c:pt>
                <c:pt idx="1">
                  <c:v>3.2</c:v>
                </c:pt>
                <c:pt idx="2">
                  <c:v>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340"/>
                  </a:solidFill>
                  <a:latin typeface="JetBrains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40"/>
                </a:solidFill>
                <a:latin typeface="HarmonyOS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7A859C"/>
                </a:solidFill>
                <a:latin typeface="HarmonyOS Sans SC"/>
              </a:defRPr>
            </a:pPr>
            <a:r>
              <a:rPr sz="1200" b="0" i="0" u="none" strike="noStrike">
                <a:solidFill>
                  <a:srgbClr val="7A859C"/>
                </a:solidFill>
                <a:latin typeface="HarmonyOS Sans SC"/>
              </a:rPr>
              <a:t>单次 mmap（µs）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µs</c:v>
                </c:pt>
              </c:strCache>
            </c:strRef>
          </c:tx>
          <c:spPr>
            <a:solidFill>
              <a:srgbClr val="E260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40"/>
                    </a:solidFill>
                    <a:latin typeface="JetBrains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60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59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修复前</c:v>
                  </c:pt>
                  <c:pt idx="1">
                    <c:v>修复后</c:v>
                  </c:pt>
                  <c:pt idx="2">
                    <c:v>Linux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246.1</c:v>
                </c:pt>
                <c:pt idx="1">
                  <c:v>207.3</c:v>
                </c:pt>
                <c:pt idx="2">
                  <c:v>4.4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340"/>
                  </a:solidFill>
                  <a:latin typeface="JetBrains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40"/>
                </a:solidFill>
                <a:latin typeface="HarmonyOS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7A859C"/>
                </a:solidFill>
                <a:latin typeface="HarmonyOS Sans SC"/>
              </a:defRPr>
            </a:pPr>
            <a:r>
              <a:rPr sz="1200" b="0" i="0" u="none" strike="noStrike">
                <a:solidFill>
                  <a:srgbClr val="7A859C"/>
                </a:solidFill>
                <a:latin typeface="HarmonyOS Sans SC"/>
              </a:rPr>
              <a:t>启动到导航（秒，3 轮均值）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秒</c:v>
                </c:pt>
              </c:strCache>
            </c:strRef>
          </c:tx>
          <c:spPr>
            <a:solidFill>
              <a:srgbClr val="E260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340"/>
                    </a:solidFill>
                    <a:latin typeface="JetBrains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60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59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09.16</c:v>
                  </c:pt>
                  <c:pt idx="1">
                    <c:v>09.28</c:v>
                  </c:pt>
                  <c:pt idx="2">
                    <c:v>Linux 6.12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59.2</c:v>
                </c:pt>
                <c:pt idx="1">
                  <c:v>42.4</c:v>
                </c:pt>
                <c:pt idx="2">
                  <c:v>22.5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B2340"/>
                  </a:solidFill>
                  <a:latin typeface="JetBrains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340"/>
                </a:solidFill>
                <a:latin typeface="HarmonyOS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2011680" cy="201168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2926080"/>
            <a:ext cx="640080" cy="640080"/>
          </a:xfrm>
          <a:prstGeom prst="star4">
            <a:avLst/>
          </a:prstGeom>
          <a:solidFill>
            <a:srgbClr val="C9D2EA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3291840"/>
            <a:ext cx="365760" cy="365760"/>
          </a:xfrm>
          <a:prstGeom prst="star4">
            <a:avLst/>
          </a:prstGeom>
          <a:solidFill>
            <a:srgbClr val="C9D2EA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4206240"/>
            <a:ext cx="274320" cy="27432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8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StarryOS 实习总结</a:t>
            </a:r>
            <a:endParaRPr lang="zh-CN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应用测试 · 浏览器对照 Linux · Personality · 溯源</a:t>
            </a:r>
            <a:endParaRPr lang="zh-CN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5394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程柯雷　2026.07.07 – 2026.10</a:t>
            </a:r>
            <a:endParaRPr lang="zh-CN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概览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三个月，三段工作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zh-CN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8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82</a:t>
            </a:r>
            <a:endParaRPr lang="zh-CN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提交的 PR</a:t>
            </a:r>
            <a:endParaRPr lang="zh-CN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1783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8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</a:t>
            </a:r>
            <a:endParaRPr lang="zh-CN" sz="4800" dirty="0"/>
          </a:p>
        </p:txBody>
      </p:sp>
      <p:sp>
        <p:nvSpPr>
          <p:cNvPr id="9" name="Text 7"/>
          <p:cNvSpPr/>
          <p:nvPr/>
        </p:nvSpPr>
        <p:spPr>
          <a:xfrm>
            <a:off x="2468880" y="2651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已合入</a:t>
            </a:r>
            <a:endParaRPr lang="zh-CN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1783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8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zh-CN" sz="4800" dirty="0"/>
          </a:p>
        </p:txBody>
      </p:sp>
      <p:sp>
        <p:nvSpPr>
          <p:cNvPr id="11" name="Text 9"/>
          <p:cNvSpPr/>
          <p:nvPr/>
        </p:nvSpPr>
        <p:spPr>
          <a:xfrm>
            <a:off x="4297680" y="2651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评审中</a:t>
            </a:r>
            <a:endParaRPr lang="zh-CN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187452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只讲 07.07 实习开始后提交的工作。其余多为计算与渲染用例，不验证内核语义，已撤下。</a:t>
            </a:r>
            <a:endParaRPr lang="zh-CN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2036003" cy="2514600"/>
          </a:xfrm>
          <a:prstGeom prst="roundRect">
            <a:avLst>
              <a:gd name="adj" fmla="val 538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7588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758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0B143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7 月</a:t>
            </a:r>
            <a:endParaRPr lang="zh-CN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应用测试与子系统补全</a:t>
            </a:r>
            <a:endParaRPr lang="zh-CN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真实软件装进镜像跑，跑不通就对照 Linux 补内核</a:t>
            </a:r>
            <a:endParaRPr lang="zh-CN" sz="1300" dirty="0"/>
          </a:p>
        </p:txBody>
      </p:sp>
      <p:sp>
        <p:nvSpPr>
          <p:cNvPr id="18" name="Shape 16"/>
          <p:cNvSpPr/>
          <p:nvPr/>
        </p:nvSpPr>
        <p:spPr>
          <a:xfrm>
            <a:off x="2858963" y="3474720"/>
            <a:ext cx="2036003" cy="2514600"/>
          </a:xfrm>
          <a:prstGeom prst="roundRect">
            <a:avLst>
              <a:gd name="adj" fmla="val 538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41843" y="367588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41843" y="36758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0B143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8 月</a:t>
            </a:r>
            <a:endParaRPr lang="zh-CN" sz="1100" dirty="0"/>
          </a:p>
        </p:txBody>
      </p:sp>
      <p:sp>
        <p:nvSpPr>
          <p:cNvPr id="21" name="Text 19"/>
          <p:cNvSpPr/>
          <p:nvPr/>
        </p:nvSpPr>
        <p:spPr>
          <a:xfrm>
            <a:off x="3041843" y="4160520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图形栈到浏览器</a:t>
            </a:r>
            <a:endParaRPr lang="zh-CN" sz="1700" dirty="0"/>
          </a:p>
        </p:txBody>
      </p:sp>
      <p:sp>
        <p:nvSpPr>
          <p:cNvPr id="22" name="Text 20"/>
          <p:cNvSpPr/>
          <p:nvPr/>
        </p:nvSpPr>
        <p:spPr>
          <a:xfrm>
            <a:off x="3041843" y="489204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NetSurf、Firefox 经 Weston 出画面</a:t>
            </a:r>
            <a:endParaRPr lang="zh-CN" sz="1300" dirty="0"/>
          </a:p>
        </p:txBody>
      </p:sp>
      <p:sp>
        <p:nvSpPr>
          <p:cNvPr id="23" name="Shape 21"/>
          <p:cNvSpPr/>
          <p:nvPr/>
        </p:nvSpPr>
        <p:spPr>
          <a:xfrm>
            <a:off x="5077846" y="3474720"/>
            <a:ext cx="2036003" cy="2514600"/>
          </a:xfrm>
          <a:prstGeom prst="roundRect">
            <a:avLst>
              <a:gd name="adj" fmla="val 538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60726" y="367588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60726" y="36758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0B143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8 月底</a:t>
            </a:r>
            <a:endParaRPr lang="zh-CN" sz="1100" dirty="0"/>
          </a:p>
        </p:txBody>
      </p:sp>
      <p:sp>
        <p:nvSpPr>
          <p:cNvPr id="26" name="Text 24"/>
          <p:cNvSpPr/>
          <p:nvPr/>
        </p:nvSpPr>
        <p:spPr>
          <a:xfrm>
            <a:off x="5260726" y="4160520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Personality</a:t>
            </a:r>
            <a:endParaRPr lang="zh-CN" sz="1700" dirty="0"/>
          </a:p>
        </p:txBody>
      </p:sp>
      <p:sp>
        <p:nvSpPr>
          <p:cNvPr id="27" name="Text 25"/>
          <p:cNvSpPr/>
          <p:nvPr/>
        </p:nvSpPr>
        <p:spPr>
          <a:xfrm>
            <a:off x="5260726" y="489204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系统调用从内核拆成可替换的包</a:t>
            </a:r>
            <a:endParaRPr lang="zh-CN" sz="1300" dirty="0"/>
          </a:p>
        </p:txBody>
      </p:sp>
      <p:sp>
        <p:nvSpPr>
          <p:cNvPr id="28" name="Shape 26"/>
          <p:cNvSpPr/>
          <p:nvPr/>
        </p:nvSpPr>
        <p:spPr>
          <a:xfrm>
            <a:off x="7296729" y="3474720"/>
            <a:ext cx="2036003" cy="2514600"/>
          </a:xfrm>
          <a:prstGeom prst="roundRect">
            <a:avLst>
              <a:gd name="adj" fmla="val 538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79609" y="367588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609" y="36758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0B143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9 月</a:t>
            </a:r>
            <a:endParaRPr lang="zh-CN" sz="1100" dirty="0"/>
          </a:p>
        </p:txBody>
      </p:sp>
      <p:sp>
        <p:nvSpPr>
          <p:cNvPr id="31" name="Text 29"/>
          <p:cNvSpPr/>
          <p:nvPr/>
        </p:nvSpPr>
        <p:spPr>
          <a:xfrm>
            <a:off x="7479609" y="4160520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对照 Linux 提速</a:t>
            </a:r>
            <a:endParaRPr lang="zh-CN" sz="1700" dirty="0"/>
          </a:p>
        </p:txBody>
      </p:sp>
      <p:sp>
        <p:nvSpPr>
          <p:cNvPr id="32" name="Text 30"/>
          <p:cNvSpPr/>
          <p:nvPr/>
        </p:nvSpPr>
        <p:spPr>
          <a:xfrm>
            <a:off x="7479609" y="489204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同环境只换内核，逐项量差距再修</a:t>
            </a:r>
            <a:endParaRPr lang="zh-CN" sz="1300" dirty="0"/>
          </a:p>
        </p:txBody>
      </p:sp>
      <p:sp>
        <p:nvSpPr>
          <p:cNvPr id="33" name="Shape 31"/>
          <p:cNvSpPr/>
          <p:nvPr/>
        </p:nvSpPr>
        <p:spPr>
          <a:xfrm>
            <a:off x="9515612" y="3474720"/>
            <a:ext cx="2036003" cy="2514600"/>
          </a:xfrm>
          <a:prstGeom prst="roundRect">
            <a:avLst>
              <a:gd name="adj" fmla="val 538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8492" y="367588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8492" y="36758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0B143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10 月</a:t>
            </a:r>
            <a:endParaRPr lang="zh-CN" sz="1100" dirty="0"/>
          </a:p>
        </p:txBody>
      </p:sp>
      <p:sp>
        <p:nvSpPr>
          <p:cNvPr id="36" name="Text 34"/>
          <p:cNvSpPr/>
          <p:nvPr/>
        </p:nvSpPr>
        <p:spPr>
          <a:xfrm>
            <a:off x="9698492" y="4160520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溯源</a:t>
            </a:r>
            <a:endParaRPr lang="zh-CN" sz="1700" dirty="0"/>
          </a:p>
        </p:txBody>
      </p:sp>
      <p:sp>
        <p:nvSpPr>
          <p:cNvPr id="37" name="Text 35"/>
          <p:cNvSpPr/>
          <p:nvPr/>
        </p:nvSpPr>
        <p:spPr>
          <a:xfrm>
            <a:off x="9698492" y="489204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68 个内核补丁全部对到 Linux 源码的具体行与 man 原文</a:t>
            </a:r>
            <a:endParaRPr lang="zh-CN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188720"/>
            <a:ext cx="1371600" cy="137160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2743200"/>
            <a:ext cx="457200" cy="457200"/>
          </a:xfrm>
          <a:prstGeom prst="star4">
            <a:avLst/>
          </a:prstGeom>
          <a:solidFill>
            <a:srgbClr val="C9D2EA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3108960"/>
            <a:ext cx="274320" cy="274320"/>
          </a:xfrm>
          <a:prstGeom prst="star4">
            <a:avLst/>
          </a:prstGeom>
          <a:solidFill>
            <a:srgbClr val="C9D2EA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600" b="1" dirty="0">
                <a:solidFill>
                  <a:srgbClr val="F2B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zh-CN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应用测试与子系统补全</a:t>
            </a:r>
            <a:endParaRPr lang="zh-CN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真实应用当负载，跑不通就补内核，补完留回归用例</a:t>
            </a:r>
            <a:endParaRPr lang="zh-C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01 应用测试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装进镜像的应用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556434" cy="1691640"/>
          </a:xfrm>
          <a:prstGeom prst="roundRect">
            <a:avLst>
              <a:gd name="adj" fmla="val 6486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084832"/>
            <a:ext cx="182880" cy="18288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011680"/>
            <a:ext cx="19163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dropbear</a:t>
            </a:r>
            <a:endParaRPr lang="zh-CN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560320"/>
            <a:ext cx="2154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SSH 登录、密钥、端口转发</a:t>
            </a:r>
            <a:endParaRPr lang="zh-CN" sz="1400" dirty="0"/>
          </a:p>
        </p:txBody>
      </p:sp>
      <p:sp>
        <p:nvSpPr>
          <p:cNvPr id="10" name="Shape 8"/>
          <p:cNvSpPr/>
          <p:nvPr/>
        </p:nvSpPr>
        <p:spPr>
          <a:xfrm>
            <a:off x="3425114" y="1828800"/>
            <a:ext cx="2556434" cy="1691640"/>
          </a:xfrm>
          <a:prstGeom prst="roundRect">
            <a:avLst>
              <a:gd name="adj" fmla="val 6486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6282" y="2084832"/>
            <a:ext cx="182880" cy="18288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0602" y="2011680"/>
            <a:ext cx="19163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dnsmasq</a:t>
            </a:r>
            <a:endParaRPr lang="zh-CN" sz="1700" dirty="0"/>
          </a:p>
        </p:txBody>
      </p:sp>
      <p:sp>
        <p:nvSpPr>
          <p:cNvPr id="13" name="Text 11"/>
          <p:cNvSpPr/>
          <p:nvPr/>
        </p:nvSpPr>
        <p:spPr>
          <a:xfrm>
            <a:off x="3626282" y="2560320"/>
            <a:ext cx="2154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DNS、DHCP、TFTP 传文件</a:t>
            </a:r>
            <a:endParaRPr lang="zh-CN" sz="1400" dirty="0"/>
          </a:p>
        </p:txBody>
      </p:sp>
      <p:sp>
        <p:nvSpPr>
          <p:cNvPr id="14" name="Shape 12"/>
          <p:cNvSpPr/>
          <p:nvPr/>
        </p:nvSpPr>
        <p:spPr>
          <a:xfrm>
            <a:off x="6210148" y="1828800"/>
            <a:ext cx="2556434" cy="1691640"/>
          </a:xfrm>
          <a:prstGeom prst="roundRect">
            <a:avLst>
              <a:gd name="adj" fmla="val 6486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1316" y="2084832"/>
            <a:ext cx="182880" cy="18288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85636" y="2011680"/>
            <a:ext cx="19163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监控栈</a:t>
            </a:r>
            <a:endParaRPr lang="zh-CN" sz="1700" dirty="0"/>
          </a:p>
        </p:txBody>
      </p:sp>
      <p:sp>
        <p:nvSpPr>
          <p:cNvPr id="17" name="Text 15"/>
          <p:cNvSpPr/>
          <p:nvPr/>
        </p:nvSpPr>
        <p:spPr>
          <a:xfrm>
            <a:off x="6411316" y="2560320"/>
            <a:ext cx="2154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glances、node_exporter 读 /proc</a:t>
            </a:r>
            <a:endParaRPr lang="zh-CN" sz="1400" dirty="0"/>
          </a:p>
        </p:txBody>
      </p:sp>
      <p:sp>
        <p:nvSpPr>
          <p:cNvPr id="18" name="Shape 16"/>
          <p:cNvSpPr/>
          <p:nvPr/>
        </p:nvSpPr>
        <p:spPr>
          <a:xfrm>
            <a:off x="8995181" y="1828800"/>
            <a:ext cx="2556434" cy="1691640"/>
          </a:xfrm>
          <a:prstGeom prst="roundRect">
            <a:avLst>
              <a:gd name="adj" fmla="val 6486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96349" y="2084832"/>
            <a:ext cx="182880" cy="18288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0669" y="2011680"/>
            <a:ext cx="19163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科学计算与机器学习</a:t>
            </a:r>
            <a:endParaRPr lang="zh-CN" sz="1700" dirty="0"/>
          </a:p>
        </p:txBody>
      </p:sp>
      <p:sp>
        <p:nvSpPr>
          <p:cNvPr id="21" name="Text 19"/>
          <p:cNvSpPr/>
          <p:nvPr/>
        </p:nvSpPr>
        <p:spPr>
          <a:xfrm>
            <a:off x="9196349" y="2560320"/>
            <a:ext cx="2154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SciPy、SymPy、Numba、scikit-learn</a:t>
            </a:r>
            <a:endParaRPr lang="zh-CN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2556434" cy="1691640"/>
          </a:xfrm>
          <a:prstGeom prst="roundRect">
            <a:avLst>
              <a:gd name="adj" fmla="val 6486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4005072"/>
            <a:ext cx="182880" cy="18288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3931920"/>
            <a:ext cx="19163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多媒体与流媒体</a:t>
            </a:r>
            <a:endParaRPr lang="zh-CN" sz="1700" dirty="0"/>
          </a:p>
        </p:txBody>
      </p:sp>
      <p:sp>
        <p:nvSpPr>
          <p:cNvPr id="25" name="Text 23"/>
          <p:cNvSpPr/>
          <p:nvPr/>
        </p:nvSpPr>
        <p:spPr>
          <a:xfrm>
            <a:off x="841248" y="4480560"/>
            <a:ext cx="2154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x264、dav1d 等编解码与封装</a:t>
            </a:r>
            <a:endParaRPr lang="zh-CN" sz="1400" dirty="0"/>
          </a:p>
        </p:txBody>
      </p:sp>
      <p:sp>
        <p:nvSpPr>
          <p:cNvPr id="26" name="Shape 24"/>
          <p:cNvSpPr/>
          <p:nvPr/>
        </p:nvSpPr>
        <p:spPr>
          <a:xfrm>
            <a:off x="3425114" y="3749040"/>
            <a:ext cx="2556434" cy="1691640"/>
          </a:xfrm>
          <a:prstGeom prst="roundRect">
            <a:avLst>
              <a:gd name="adj" fmla="val 6486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26282" y="4005072"/>
            <a:ext cx="182880" cy="18288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00602" y="3931920"/>
            <a:ext cx="19163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单核并发</a:t>
            </a:r>
            <a:endParaRPr lang="zh-CN" sz="1700" dirty="0"/>
          </a:p>
        </p:txBody>
      </p:sp>
      <p:sp>
        <p:nvSpPr>
          <p:cNvPr id="29" name="Text 27"/>
          <p:cNvSpPr/>
          <p:nvPr/>
        </p:nvSpPr>
        <p:spPr>
          <a:xfrm>
            <a:off x="3626282" y="4480560"/>
            <a:ext cx="2154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clone、futex 与调度的确定性对照</a:t>
            </a:r>
            <a:endParaRPr lang="zh-CN" sz="1400" dirty="0"/>
          </a:p>
        </p:txBody>
      </p:sp>
      <p:sp>
        <p:nvSpPr>
          <p:cNvPr id="30" name="Shape 28"/>
          <p:cNvSpPr/>
          <p:nvPr/>
        </p:nvSpPr>
        <p:spPr>
          <a:xfrm>
            <a:off x="6210148" y="3749040"/>
            <a:ext cx="2556434" cy="1691640"/>
          </a:xfrm>
          <a:prstGeom prst="roundRect">
            <a:avLst>
              <a:gd name="adj" fmla="val 6486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1316" y="4005072"/>
            <a:ext cx="182880" cy="18288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85636" y="3931920"/>
            <a:ext cx="19163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StarryWRT</a:t>
            </a:r>
            <a:endParaRPr lang="zh-CN" sz="1700" dirty="0"/>
          </a:p>
        </p:txBody>
      </p:sp>
      <p:sp>
        <p:nvSpPr>
          <p:cNvPr id="33" name="Text 31"/>
          <p:cNvSpPr/>
          <p:nvPr/>
        </p:nvSpPr>
        <p:spPr>
          <a:xfrm>
            <a:off x="6411316" y="4480560"/>
            <a:ext cx="2154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OpenWrt 用户态：uci、opkg</a:t>
            </a:r>
            <a:endParaRPr lang="zh-CN" sz="1400" dirty="0"/>
          </a:p>
        </p:txBody>
      </p:sp>
      <p:sp>
        <p:nvSpPr>
          <p:cNvPr id="34" name="Shape 32"/>
          <p:cNvSpPr/>
          <p:nvPr/>
        </p:nvSpPr>
        <p:spPr>
          <a:xfrm>
            <a:off x="8995181" y="3749040"/>
            <a:ext cx="2556434" cy="1691640"/>
          </a:xfrm>
          <a:prstGeom prst="roundRect">
            <a:avLst>
              <a:gd name="adj" fmla="val 6486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96349" y="4005072"/>
            <a:ext cx="182880" cy="18288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70669" y="3931920"/>
            <a:ext cx="19163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POSIX 消息队列</a:t>
            </a:r>
            <a:endParaRPr lang="zh-CN" sz="1700" dirty="0"/>
          </a:p>
        </p:txBody>
      </p:sp>
      <p:sp>
        <p:nvSpPr>
          <p:cNvPr id="37" name="Text 35"/>
          <p:cNvSpPr/>
          <p:nvPr/>
        </p:nvSpPr>
        <p:spPr>
          <a:xfrm>
            <a:off x="9196349" y="4480560"/>
            <a:ext cx="2154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Open POSIX 一致性套件</a:t>
            </a:r>
            <a:endParaRPr lang="zh-CN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5806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四架构：x86_64、aarch64、riscv64、loongarch64</a:t>
            </a:r>
            <a:endParaRPr lang="zh-C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01 应用测试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负载暴露的缺口，补上的子系统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zh-CN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9494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146304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负载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补上的内核缺口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PR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监控栈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/proc/vmstat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#1525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Envoy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/proc/pid/comm 的填充；非阻塞 TCP 部分发送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#1558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dnsmasq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IP_MTU_DISCOVER；UDP 关闭前冲刷；SIOCGIFNAME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#1568 #1707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浏览器前置依赖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一批系统调用对齐 Linux；同步故障信号优先投递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#1569 #1700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每次关机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卸载根文件系统必然失败，改为尽力而为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#1711</a:t>
                      </a:r>
                      <a:endParaRPr lang="zh-CN" sz="14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955280" y="1783080"/>
            <a:ext cx="3596335" cy="1783080"/>
          </a:xfrm>
          <a:prstGeom prst="roundRect">
            <a:avLst>
              <a:gd name="adj" fmla="val 6154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56448" y="1938528"/>
            <a:ext cx="859536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56448" y="193852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新实现</a:t>
            </a:r>
            <a:endParaRPr lang="zh-CN" sz="1100" dirty="0"/>
          </a:p>
        </p:txBody>
      </p:sp>
      <p:sp>
        <p:nvSpPr>
          <p:cNvPr id="10" name="Text 7"/>
          <p:cNvSpPr/>
          <p:nvPr/>
        </p:nvSpPr>
        <p:spPr>
          <a:xfrm>
            <a:off x="8156448" y="2395728"/>
            <a:ext cx="319399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POSIX 消息队列　#1564 #1565</a:t>
            </a:r>
            <a:endParaRPr lang="zh-CN" sz="15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TUN/TAP 设备　#1566 #1567</a:t>
            </a:r>
            <a:endParaRPr lang="zh-CN" sz="1500" dirty="0"/>
          </a:p>
        </p:txBody>
      </p:sp>
      <p:sp>
        <p:nvSpPr>
          <p:cNvPr id="11" name="Shape 8"/>
          <p:cNvSpPr/>
          <p:nvPr/>
        </p:nvSpPr>
        <p:spPr>
          <a:xfrm>
            <a:off x="7955280" y="3749040"/>
            <a:ext cx="3596335" cy="2093976"/>
          </a:xfrm>
          <a:prstGeom prst="roundRect">
            <a:avLst>
              <a:gd name="adj" fmla="val 524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56448" y="3904488"/>
            <a:ext cx="1714500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56448" y="3904488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对照 Linux 改正</a:t>
            </a:r>
            <a:endParaRPr lang="zh-CN" sz="1100" dirty="0"/>
          </a:p>
        </p:txBody>
      </p:sp>
      <p:sp>
        <p:nvSpPr>
          <p:cNvPr id="14" name="Text 11"/>
          <p:cNvSpPr/>
          <p:nvPr/>
        </p:nvSpPr>
        <p:spPr>
          <a:xfrm>
            <a:off x="8156448" y="4361688"/>
            <a:ext cx="319399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times、select、arch_prctl</a:t>
            </a:r>
            <a:endParaRPr lang="zh-CN" sz="15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#2263 #2260 #2259</a:t>
            </a:r>
            <a:endParaRPr lang="zh-CN" sz="15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setns 与 id 映射的特权只认初始 user namespace</a:t>
            </a:r>
            <a:endParaRPr lang="zh-CN" sz="15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#2266</a:t>
            </a:r>
            <a:endParaRPr lang="zh-CN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188720"/>
            <a:ext cx="1371600" cy="137160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2743200"/>
            <a:ext cx="457200" cy="457200"/>
          </a:xfrm>
          <a:prstGeom prst="star4">
            <a:avLst/>
          </a:prstGeom>
          <a:solidFill>
            <a:srgbClr val="C9D2EA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3108960"/>
            <a:ext cx="274320" cy="274320"/>
          </a:xfrm>
          <a:prstGeom prst="star4">
            <a:avLst/>
          </a:prstGeom>
          <a:solidFill>
            <a:srgbClr val="C9D2EA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600" b="1" dirty="0">
                <a:solidFill>
                  <a:srgbClr val="F2B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zh-CN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浏览器启动与优化</a:t>
            </a:r>
            <a:endParaRPr lang="zh-CN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把 Firefox 跑起来，再与 Linux 逐项对照</a:t>
            </a:r>
            <a:endParaRPr lang="zh-CN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从出图到打开真实站点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993392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562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NetSurf</a:t>
            </a:r>
            <a:endParaRPr lang="zh-CN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304288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四架构出图；只到 CSS 2.1，撑不起现代站点</a:t>
            </a:r>
            <a:endParaRPr lang="zh-CN" sz="1300" dirty="0"/>
          </a:p>
        </p:txBody>
      </p:sp>
      <p:sp>
        <p:nvSpPr>
          <p:cNvPr id="9" name="Shape 7"/>
          <p:cNvSpPr/>
          <p:nvPr/>
        </p:nvSpPr>
        <p:spPr>
          <a:xfrm>
            <a:off x="2660904" y="237744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71216" y="1737360"/>
            <a:ext cx="1993392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18562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Firefox</a:t>
            </a:r>
            <a:endParaRPr lang="zh-CN" sz="1700" dirty="0"/>
          </a:p>
        </p:txBody>
      </p:sp>
      <p:sp>
        <p:nvSpPr>
          <p:cNvPr id="12" name="Text 10"/>
          <p:cNvSpPr/>
          <p:nvPr/>
        </p:nvSpPr>
        <p:spPr>
          <a:xfrm>
            <a:off x="3035808" y="2304288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经 Weston 显示到 virtio-gpu</a:t>
            </a:r>
            <a:endParaRPr lang="zh-CN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237744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02352" y="1737360"/>
            <a:ext cx="1993392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66944" y="18562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HTTPS</a:t>
            </a:r>
            <a:endParaRPr lang="zh-CN" sz="1700" dirty="0"/>
          </a:p>
        </p:txBody>
      </p:sp>
      <p:sp>
        <p:nvSpPr>
          <p:cNvPr id="16" name="Text 14"/>
          <p:cNvSpPr/>
          <p:nvPr/>
        </p:nvSpPr>
        <p:spPr>
          <a:xfrm>
            <a:off x="5266944" y="2304288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经宿主代理从 4399 的服务器取回页面</a:t>
            </a:r>
            <a:endParaRPr lang="zh-CN" sz="1300" dirty="0"/>
          </a:p>
        </p:txBody>
      </p:sp>
      <p:sp>
        <p:nvSpPr>
          <p:cNvPr id="17" name="Shape 15"/>
          <p:cNvSpPr/>
          <p:nvPr/>
        </p:nvSpPr>
        <p:spPr>
          <a:xfrm>
            <a:off x="7123176" y="237744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1737360"/>
            <a:ext cx="1993392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18562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软件与 virgl</a:t>
            </a:r>
            <a:endParaRPr lang="zh-CN" sz="1700" dirty="0"/>
          </a:p>
        </p:txBody>
      </p:sp>
      <p:sp>
        <p:nvSpPr>
          <p:cNvPr id="20" name="Text 18"/>
          <p:cNvSpPr/>
          <p:nvPr/>
        </p:nvSpPr>
        <p:spPr>
          <a:xfrm>
            <a:off x="7498080" y="2304288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同一个应用两路渲染，#2323</a:t>
            </a:r>
            <a:endParaRPr lang="zh-CN" sz="1300" dirty="0"/>
          </a:p>
        </p:txBody>
      </p:sp>
      <p:sp>
        <p:nvSpPr>
          <p:cNvPr id="21" name="Shape 19"/>
          <p:cNvSpPr/>
          <p:nvPr/>
        </p:nvSpPr>
        <p:spPr>
          <a:xfrm>
            <a:off x="9354312" y="237744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64624" y="1737360"/>
            <a:ext cx="1993392" cy="1463040"/>
          </a:xfrm>
          <a:prstGeom prst="roundRect">
            <a:avLst>
              <a:gd name="adj" fmla="val 7500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9216" y="18562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F2B441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对照 Linux</a:t>
            </a:r>
            <a:endParaRPr lang="zh-CN" sz="1700" dirty="0"/>
          </a:p>
        </p:txBody>
      </p:sp>
      <p:sp>
        <p:nvSpPr>
          <p:cNvPr id="24" name="Text 22"/>
          <p:cNvSpPr/>
          <p:nvPr/>
        </p:nvSpPr>
        <p:spPr>
          <a:xfrm>
            <a:off x="9729216" y="2304288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同环境只换内核</a:t>
            </a:r>
            <a:endParaRPr lang="zh-CN" sz="1300" dirty="0"/>
          </a:p>
        </p:txBody>
      </p:sp>
      <p:pic>
        <p:nvPicPr>
          <p:cNvPr id="25" name="Image 0" descr="C:\Users\heke\AppData\Local\Temp\claude\C--Users-heke-AllProjects-TempFolder-rcore\1c6e91ee-4f87-4550-9a26-b0faa3d92502\scratchpad\deck2\img\4399-c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520440"/>
            <a:ext cx="2621280" cy="19659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40080" y="5541264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软件渲染 · StarryOS</a:t>
            </a:r>
            <a:endParaRPr lang="zh-CN" sz="1200" dirty="0"/>
          </a:p>
        </p:txBody>
      </p:sp>
      <p:pic>
        <p:nvPicPr>
          <p:cNvPr id="27" name="Image 1" descr="C:\Users\heke\AppData\Local\Temp\claude\C--Users-heke-AllProjects-TempFolder-rcore\1c6e91ee-4f87-4550-9a26-b0faa3d92502\scratchpad\deck2\img\4399-c-linu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936" y="3520440"/>
            <a:ext cx="2621280" cy="19659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566936" y="5541264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软件渲染 · Linux 6.12</a:t>
            </a:r>
            <a:endParaRPr lang="zh-CN" sz="1200" dirty="0"/>
          </a:p>
        </p:txBody>
      </p:sp>
      <p:pic>
        <p:nvPicPr>
          <p:cNvPr id="29" name="Image 2" descr="C:\Users\heke\AppData\Local\Temp\claude\C--Users-heke-AllProjects-TempFolder-rcore\1c6e91ee-4f87-4550-9a26-b0faa3d92502\scratchpad\deck2\img\4399-g-star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791" y="3520440"/>
            <a:ext cx="2376124" cy="19659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93791" y="5541264"/>
            <a:ext cx="2376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virgl · StarryOS</a:t>
            </a:r>
            <a:endParaRPr lang="zh-CN" sz="1200" dirty="0"/>
          </a:p>
        </p:txBody>
      </p:sp>
      <p:pic>
        <p:nvPicPr>
          <p:cNvPr id="31" name="Image 3" descr="C:\Users\heke\AppData\Local\Temp\claude\C--Users-heke-AllProjects-TempFolder-rcore\1c6e91ee-4f87-4550-9a26-b0faa3d92502\scratchpad\deck2\img\4399-g-linu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5491" y="3520440"/>
            <a:ext cx="2376124" cy="19659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75491" y="5541264"/>
            <a:ext cx="2376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virgl · Linux 6.12</a:t>
            </a:r>
            <a:endParaRPr lang="zh-CN" sz="1200" dirty="0"/>
          </a:p>
        </p:txBody>
      </p:sp>
      <p:sp>
        <p:nvSpPr>
          <p:cNvPr id="33" name="Text 27"/>
          <p:cNvSpPr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同一份根盘、同一个 Firefox，经 HTTPS 打开 4399；四格都完整渲染。</a:t>
            </a:r>
            <a:endParaRPr lang="zh-CN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对照方法：只换内核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6537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653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QEMU</a:t>
            </a:r>
            <a:endParaRPr lang="zh-CN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828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q35，4 核，6 GB，KVM</a:t>
            </a:r>
            <a:endParaRPr lang="zh-CN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505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054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根盘</a:t>
            </a:r>
            <a:endParaRPr lang="zh-CN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468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同一份镜像，两侧逐字节相同</a:t>
            </a:r>
            <a:endParaRPr lang="zh-CN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14553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455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3108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6.12-virt</a:t>
            </a:r>
            <a:endParaRPr lang="zh-CN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78561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856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控制项</a:t>
            </a:r>
            <a:endParaRPr lang="zh-CN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3749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纯用户态循环两侧比值 1.00</a:t>
            </a:r>
            <a:endParaRPr lang="zh-CN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5029200" cy="1280160"/>
          </a:xfrm>
          <a:prstGeom prst="roundRect">
            <a:avLst>
              <a:gd name="adj" fmla="val 8571"/>
            </a:avLst>
          </a:prstGeom>
          <a:solidFill>
            <a:srgbClr val="FBE9C4"/>
          </a:solidFill>
          <a:ln w="12700">
            <a:solidFill>
              <a:srgbClr val="FBE9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6817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15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判据</a:t>
            </a:r>
            <a:endParaRPr lang="zh-CN" sz="15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StarryOS 随压力放大而 Linux 平坦，才算缺陷线索。</a:t>
            </a:r>
            <a:endParaRPr lang="zh-CN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1828800"/>
            <a:ext cx="5516575" cy="1280160"/>
          </a:xfrm>
          <a:prstGeom prst="roundRect">
            <a:avLst>
              <a:gd name="adj" fmla="val 8571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0574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F2B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zh-CN" sz="3600" dirty="0"/>
          </a:p>
        </p:txBody>
      </p:sp>
      <p:sp>
        <p:nvSpPr>
          <p:cNvPr id="22" name="Text 20"/>
          <p:cNvSpPr/>
          <p:nvPr/>
        </p:nvSpPr>
        <p:spPr>
          <a:xfrm>
            <a:off x="6949440" y="1947672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端到端</a:t>
            </a:r>
            <a:endParaRPr lang="zh-CN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2340864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Firefox 启动、导航、取资源的耗时</a:t>
            </a:r>
            <a:endParaRPr lang="zh-CN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670048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回答：整体差多少</a:t>
            </a:r>
            <a:endParaRPr lang="zh-CN" sz="1300" dirty="0"/>
          </a:p>
        </p:txBody>
      </p:sp>
      <p:sp>
        <p:nvSpPr>
          <p:cNvPr id="25" name="Shape 23"/>
          <p:cNvSpPr/>
          <p:nvPr/>
        </p:nvSpPr>
        <p:spPr>
          <a:xfrm>
            <a:off x="6035040" y="3200400"/>
            <a:ext cx="5516575" cy="1280160"/>
          </a:xfrm>
          <a:prstGeom prst="roundRect">
            <a:avLst>
              <a:gd name="adj" fmla="val 8571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429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F2B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zh-CN" sz="3600" dirty="0"/>
          </a:p>
        </p:txBody>
      </p:sp>
      <p:sp>
        <p:nvSpPr>
          <p:cNvPr id="27" name="Text 25"/>
          <p:cNvSpPr/>
          <p:nvPr/>
        </p:nvSpPr>
        <p:spPr>
          <a:xfrm>
            <a:off x="6949440" y="3319272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压力基准</a:t>
            </a:r>
            <a:endParaRPr lang="zh-CN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3712464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18 个环节，各三档压力</a:t>
            </a:r>
            <a:endParaRPr lang="zh-CN" sz="1400" dirty="0"/>
          </a:p>
        </p:txBody>
      </p:sp>
      <p:sp>
        <p:nvSpPr>
          <p:cNvPr id="29" name="Text 27"/>
          <p:cNvSpPr/>
          <p:nvPr/>
        </p:nvSpPr>
        <p:spPr>
          <a:xfrm>
            <a:off x="6949440" y="4041648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回答：差在哪个环节，是否随规模放大</a:t>
            </a:r>
            <a:endParaRPr lang="zh-CN" sz="1300" dirty="0"/>
          </a:p>
        </p:txBody>
      </p:sp>
      <p:sp>
        <p:nvSpPr>
          <p:cNvPr id="30" name="Shape 28"/>
          <p:cNvSpPr/>
          <p:nvPr/>
        </p:nvSpPr>
        <p:spPr>
          <a:xfrm>
            <a:off x="6035040" y="4572000"/>
            <a:ext cx="5516575" cy="1280160"/>
          </a:xfrm>
          <a:prstGeom prst="roundRect">
            <a:avLst>
              <a:gd name="adj" fmla="val 8571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48006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F2B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zh-CN" sz="3600" dirty="0"/>
          </a:p>
        </p:txBody>
      </p:sp>
      <p:sp>
        <p:nvSpPr>
          <p:cNvPr id="32" name="Text 30"/>
          <p:cNvSpPr/>
          <p:nvPr/>
        </p:nvSpPr>
        <p:spPr>
          <a:xfrm>
            <a:off x="6949440" y="4690872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内核栈采样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6949440" y="5084064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负载运行时定时取全部线程的栈</a:t>
            </a:r>
            <a:endParaRPr lang="zh-CN" sz="1400" dirty="0"/>
          </a:p>
        </p:txBody>
      </p:sp>
      <p:sp>
        <p:nvSpPr>
          <p:cNvPr id="34" name="Text 32"/>
          <p:cNvSpPr/>
          <p:nvPr/>
        </p:nvSpPr>
        <p:spPr>
          <a:xfrm>
            <a:off x="6949440" y="5413248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回答：时间花在哪个函数</a:t>
            </a:r>
            <a:endParaRPr lang="zh-CN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实验设计：每条约束排除一种误判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zh-CN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108960"/>
                <a:gridCol w="3959352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怎么做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为了什么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不这样会怎样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两侧用同一份根盘，作业里用 cmp 校验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浏览器、脚本、字体必然相同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E2604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版本差异被算到内核头上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纯用户态循环作控制项，比值 1.00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两侧的 CPU 与计时可比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E2604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倍数不能直接读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预热 1 轮，再交替跑 3 轮，轮次相等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排除冷缓存与宿主抖动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E2604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mmap 曾因轮次不等显示变慢 1.9 倍，补齐后是 1.00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串口每行由宿主打单调时间戳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不依赖客体的时钟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E2604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客体的时钟本身是被测对象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画面取 QEMU 的 VNC 扫描输出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这才是屏幕上显示的内容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E2604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客体的 /dev/fb0 有数据，屏幕上未必出图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进程时间取 /proc/&lt;pid&gt;/stat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按实际在核时间拆分，不含阻塞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E2604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/proc/stat 在任务退出后回落，差值无意义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每个环节跑三档压力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看代价是否随规模放大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E2604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常数差与算法差分不开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原则：两侧的差异只能归到内核；每个数字都说得出它排除了什么。</a:t>
            </a:r>
            <a:endParaRPr lang="zh-CN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C 与 G 两侧：同一个应用，两份 QEMU 配置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zh-CN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6309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C 侧：软件渲染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G 侧：virgl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Firefox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软件 WebRender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硬件 WebRender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Weston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pixman 渲染器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GL 渲染器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客体设备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virtio-gpu-pci，2D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virtio-vga-gl，virgl 3D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宿主显示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-vnc :0</a:t>
                      </a:r>
                      <a:endParaRPr lang="zh-CN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egl-headless,gl=on 加 -vnc</a:t>
                      </a:r>
                      <a:endParaRPr lang="zh-CN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谁来画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客体的 CPU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绘制命令送到宿主的 GL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怎么跑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CI 默认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按需：--qemu-config 选 gpu 配置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0749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客体脚本只认一个开关 WEB_BROWSER_RENDERER=gl，两侧只在上面三层不同。再加一种后端只加一份配置，不改结构。</a:t>
            </a:r>
            <a:endParaRPr lang="zh-CN" sz="1400" dirty="0"/>
          </a:p>
        </p:txBody>
      </p:sp>
      <p:sp>
        <p:nvSpPr>
          <p:cNvPr id="8" name="Shape 5"/>
          <p:cNvSpPr/>
          <p:nvPr/>
        </p:nvSpPr>
        <p:spPr>
          <a:xfrm>
            <a:off x="7315200" y="173736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0" y="187452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87452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为什么放在一起</a:t>
            </a:r>
            <a:endParaRPr lang="zh-CN" sz="1200" dirty="0"/>
          </a:p>
        </p:txBody>
      </p:sp>
      <p:sp>
        <p:nvSpPr>
          <p:cNvPr id="11" name="Text 8"/>
          <p:cNvSpPr/>
          <p:nvPr/>
        </p:nvSpPr>
        <p:spPr>
          <a:xfrm>
            <a:off x="7498080" y="2286000"/>
            <a:ext cx="38706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同一个内核、同一份镜像、同一个页面，各跑一次。差异只能来自渲染路径，两侧互为对照；每一侧再各自对照 Linux。</a:t>
            </a:r>
            <a:endParaRPr lang="zh-CN" sz="1400" dirty="0"/>
          </a:p>
        </p:txBody>
      </p:sp>
      <p:sp>
        <p:nvSpPr>
          <p:cNvPr id="12" name="Shape 9"/>
          <p:cNvSpPr/>
          <p:nvPr/>
        </p:nvSpPr>
        <p:spPr>
          <a:xfrm>
            <a:off x="7315200" y="3520440"/>
            <a:ext cx="4236415" cy="2286000"/>
          </a:xfrm>
          <a:prstGeom prst="roundRect">
            <a:avLst>
              <a:gd name="adj" fmla="val 4800"/>
            </a:avLst>
          </a:prstGeom>
          <a:solidFill>
            <a:srgbClr val="FBE9C4"/>
          </a:solidFill>
          <a:ln w="12700">
            <a:solidFill>
              <a:srgbClr val="FBE9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0" y="365760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36576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G 侧的闸门</a:t>
            </a:r>
            <a:endParaRPr lang="zh-CN" sz="1200" dirty="0"/>
          </a:p>
        </p:txBody>
      </p:sp>
      <p:sp>
        <p:nvSpPr>
          <p:cNvPr id="15" name="Text 12"/>
          <p:cNvSpPr/>
          <p:nvPr/>
        </p:nvSpPr>
        <p:spPr>
          <a:xfrm>
            <a:off x="7498080" y="4069080"/>
            <a:ext cx="38706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5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Weston 报的 GL 渲染器是 virgl，不是 llvmpipe</a:t>
            </a:r>
            <a:endParaRPr lang="zh-CN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5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Weston 之外还有进程持有 /dev/dri/renderD128</a:t>
            </a:r>
            <a:endParaRPr lang="zh-CN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5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开关给了 gl 却不满足：判失败，不退回软件</a:t>
            </a:r>
            <a:endParaRPr lang="zh-CN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5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否则比的是 CPU 对 CPU，07.13 踩过</a:t>
            </a:r>
            <a:endParaRPr lang="zh-CN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对照暴露了什么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65376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Firefox 的 CPU 时间花在内核态</a:t>
            </a:r>
            <a:endParaRPr lang="zh-CN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57984"/>
            <a:ext cx="31190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92.3%</a:t>
            </a:r>
            <a:endParaRPr lang="zh-CN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2779776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Linux：39%</a:t>
            </a:r>
            <a:endParaRPr lang="zh-CN" sz="1200" dirty="0"/>
          </a:p>
        </p:txBody>
      </p:sp>
      <p:sp>
        <p:nvSpPr>
          <p:cNvPr id="10" name="Shape 8"/>
          <p:cNvSpPr/>
          <p:nvPr/>
        </p:nvSpPr>
        <p:spPr>
          <a:xfrm>
            <a:off x="4353458" y="173736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6338" y="1865376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主文档到第一个子资源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4536338" y="2157984"/>
            <a:ext cx="31190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E2604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3.26 秒</a:t>
            </a:r>
            <a:endParaRPr lang="zh-CN" sz="2400" dirty="0"/>
          </a:p>
        </p:txBody>
      </p:sp>
      <p:sp>
        <p:nvSpPr>
          <p:cNvPr id="13" name="Text 11"/>
          <p:cNvSpPr/>
          <p:nvPr/>
        </p:nvSpPr>
        <p:spPr>
          <a:xfrm>
            <a:off x="4536338" y="2779776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Linux：0.013 秒</a:t>
            </a:r>
            <a:endParaRPr lang="zh-CN" sz="1200" dirty="0"/>
          </a:p>
        </p:txBody>
      </p:sp>
      <p:sp>
        <p:nvSpPr>
          <p:cNvPr id="14" name="Shape 12"/>
          <p:cNvSpPr/>
          <p:nvPr/>
        </p:nvSpPr>
        <p:spPr>
          <a:xfrm>
            <a:off x="8066837" y="173736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9717" y="1865376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画面铺满窗口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8249717" y="2157984"/>
            <a:ext cx="31190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E2604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72 秒</a:t>
            </a:r>
            <a:endParaRPr lang="zh-CN" sz="2400" dirty="0"/>
          </a:p>
        </p:txBody>
      </p:sp>
      <p:sp>
        <p:nvSpPr>
          <p:cNvPr id="17" name="Text 15"/>
          <p:cNvSpPr/>
          <p:nvPr/>
        </p:nvSpPr>
        <p:spPr>
          <a:xfrm>
            <a:off x="8249717" y="2779776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Linux：20 秒</a:t>
            </a:r>
            <a:endParaRPr lang="zh-CN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547872"/>
            <a:ext cx="104241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54787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功能缺陷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1956816" y="3547872"/>
            <a:ext cx="19851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上没有</a:t>
            </a:r>
            <a:endParaRPr lang="zh-CN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3977640"/>
            <a:ext cx="31190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nc 等满 16 秒失败：TCP 半关闭后，状态变了却没通知出去</a:t>
            </a:r>
            <a:endParaRPr lang="zh-CN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冷启动 12 次里 5 次段错误：netlink 回复没有补齐</a:t>
            </a:r>
            <a:endParaRPr lang="zh-CN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xterm 起不来：打开 tty 不设控制终端</a:t>
            </a:r>
            <a:endParaRPr lang="zh-CN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鼠标放久了不跟手：epoll 套 epoll 时，作废的等待项吃掉了唤醒</a:t>
            </a:r>
            <a:endParaRPr lang="zh-CN" sz="1300" dirty="0"/>
          </a:p>
        </p:txBody>
      </p:sp>
      <p:sp>
        <p:nvSpPr>
          <p:cNvPr id="23" name="Shape 21"/>
          <p:cNvSpPr/>
          <p:nvPr/>
        </p:nvSpPr>
        <p:spPr>
          <a:xfrm>
            <a:off x="4353458" y="3383280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36338" y="3547872"/>
            <a:ext cx="1042416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6338" y="354787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性能热点</a:t>
            </a:r>
            <a:endParaRPr lang="zh-CN" sz="1200" dirty="0"/>
          </a:p>
        </p:txBody>
      </p:sp>
      <p:sp>
        <p:nvSpPr>
          <p:cNvPr id="26" name="Text 24"/>
          <p:cNvSpPr/>
          <p:nvPr/>
        </p:nvSpPr>
        <p:spPr>
          <a:xfrm>
            <a:off x="5670194" y="3547872"/>
            <a:ext cx="19851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随规模放大，而 Linux 平坦</a:t>
            </a:r>
            <a:endParaRPr lang="zh-CN" sz="1150" dirty="0"/>
          </a:p>
        </p:txBody>
      </p:sp>
      <p:sp>
        <p:nvSpPr>
          <p:cNvPr id="27" name="Text 25"/>
          <p:cNvSpPr/>
          <p:nvPr/>
        </p:nvSpPr>
        <p:spPr>
          <a:xfrm>
            <a:off x="4536338" y="3977640"/>
            <a:ext cx="31190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跨核唤醒：每次重建 APIC 句柄</a:t>
            </a:r>
            <a:endParaRPr lang="zh-CN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epoll：每次等待都把所有 fd 重新注册一遍</a:t>
            </a:r>
            <a:endParaRPr lang="zh-CN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mmap：一次调用走 11 遍全树</a:t>
            </a:r>
            <a:endParaRPr lang="zh-CN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fork：逐页平方级查重</a:t>
            </a:r>
            <a:endParaRPr lang="zh-CN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slab：分配时遍历整条 full 链表</a:t>
            </a:r>
            <a:endParaRPr lang="zh-CN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close：遍历全系统的 fd 找 flock</a:t>
            </a:r>
            <a:endParaRPr lang="zh-CN" sz="1300" dirty="0"/>
          </a:p>
        </p:txBody>
      </p:sp>
      <p:sp>
        <p:nvSpPr>
          <p:cNvPr id="28" name="Shape 26"/>
          <p:cNvSpPr/>
          <p:nvPr/>
        </p:nvSpPr>
        <p:spPr>
          <a:xfrm>
            <a:off x="8066837" y="3383280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49717" y="354787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7A859C"/>
          </a:solidFill>
          <a:ln w="12700">
            <a:solidFill>
              <a:srgbClr val="7A85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9717" y="354787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对照自身的问题</a:t>
            </a:r>
            <a:endParaRPr lang="zh-CN" sz="1200" dirty="0"/>
          </a:p>
        </p:txBody>
      </p:sp>
      <p:sp>
        <p:nvSpPr>
          <p:cNvPr id="31" name="Text 29"/>
          <p:cNvSpPr/>
          <p:nvPr/>
        </p:nvSpPr>
        <p:spPr>
          <a:xfrm>
            <a:off x="9932213" y="3547872"/>
            <a:ext cx="14365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先修掉，对照才成立</a:t>
            </a:r>
            <a:endParaRPr lang="zh-CN" sz="1150" dirty="0"/>
          </a:p>
        </p:txBody>
      </p:sp>
      <p:sp>
        <p:nvSpPr>
          <p:cNvPr id="32" name="Text 30"/>
          <p:cNvSpPr/>
          <p:nvPr/>
        </p:nvSpPr>
        <p:spPr>
          <a:xfrm>
            <a:off x="8249717" y="3977640"/>
            <a:ext cx="31190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侧没加载 evdev，Weston 直接退出</a:t>
            </a:r>
            <a:endParaRPr lang="zh-CN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探针 nc 失败，一度把站点判成不通</a:t>
            </a:r>
            <a:endParaRPr lang="zh-CN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WSL 上 virgl 落到 llvmpipe：只证明路径通</a:t>
            </a:r>
            <a:endParaRPr lang="zh-CN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日志计数的模式没对上，显示 0 个事务</a:t>
            </a:r>
            <a:endParaRPr lang="zh-CN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1996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上面三个数取自 09.16 的首轮对照；逐项的修复见后面十页。</a:t>
            </a:r>
            <a:endParaRPr lang="zh-CN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 · 对照用例 1/10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回环 TCP 往返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反映的问题</a:t>
            </a:r>
            <a:endParaRPr lang="zh-CN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03704"/>
            <a:ext cx="5394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跨核唤醒要发 IPI。每发一次都重新构造 APIC 句柄，构造时要读 CPUID；在虚拟机里，每读一次 CPUID 就要退出到宿主一次。</a:t>
            </a:r>
            <a:endParaRPr lang="zh-CN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</a:t>
            </a:r>
            <a:endParaRPr lang="zh-CN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52544"/>
            <a:ext cx="5394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#2432：句柄只建一次，之后复用；写 ICR 之前补上 mfence 与 lfence，做法与 Linux 相同。</a:t>
            </a:r>
            <a:endParaRPr lang="zh-CN" sz="17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修复前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415.7</a:t>
            </a:r>
            <a:endParaRPr lang="zh-CN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µs</a:t>
            </a:r>
            <a:endParaRPr lang="zh-CN" sz="1200" dirty="0"/>
          </a:p>
        </p:txBody>
      </p:sp>
      <p:sp>
        <p:nvSpPr>
          <p:cNvPr id="16" name="Shape 14"/>
          <p:cNvSpPr/>
          <p:nvPr/>
        </p:nvSpPr>
        <p:spPr>
          <a:xfrm>
            <a:off x="8239658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2538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修复后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422538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129.9</a:t>
            </a:r>
            <a:endParaRPr lang="zh-CN" sz="3000" dirty="0"/>
          </a:p>
        </p:txBody>
      </p:sp>
      <p:sp>
        <p:nvSpPr>
          <p:cNvPr id="19" name="Text 17"/>
          <p:cNvSpPr/>
          <p:nvPr/>
        </p:nvSpPr>
        <p:spPr>
          <a:xfrm>
            <a:off x="8422538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µs</a:t>
            </a:r>
            <a:endParaRPr lang="zh-CN" sz="1200" dirty="0"/>
          </a:p>
        </p:txBody>
      </p:sp>
      <p:sp>
        <p:nvSpPr>
          <p:cNvPr id="20" name="Shape 18"/>
          <p:cNvSpPr/>
          <p:nvPr/>
        </p:nvSpPr>
        <p:spPr>
          <a:xfrm>
            <a:off x="9987077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9957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6.12</a:t>
            </a:r>
            <a:endParaRPr lang="zh-CN" sz="1200" dirty="0"/>
          </a:p>
        </p:txBody>
      </p:sp>
      <p:sp>
        <p:nvSpPr>
          <p:cNvPr id="22" name="Text 20"/>
          <p:cNvSpPr/>
          <p:nvPr/>
        </p:nvSpPr>
        <p:spPr>
          <a:xfrm>
            <a:off x="10169957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34.3</a:t>
            </a:r>
            <a:endParaRPr lang="zh-CN" sz="3000" dirty="0"/>
          </a:p>
        </p:txBody>
      </p:sp>
      <p:sp>
        <p:nvSpPr>
          <p:cNvPr id="23" name="Text 21"/>
          <p:cNvSpPr/>
          <p:nvPr/>
        </p:nvSpPr>
        <p:spPr>
          <a:xfrm>
            <a:off x="10169957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µs</a:t>
            </a:r>
            <a:endParaRPr lang="zh-CN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492240" y="3429000"/>
          <a:ext cx="5059375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6492240" y="566928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这一处改动同时让线程创建从 891.3 降到 646.9 µs，futex 往返从 58.8 降到 28.2 µs。</a:t>
            </a:r>
            <a:endParaRPr lang="zh-CN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 · 对照用例 2/10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epoll 等待（1020 个 fd）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反映的问题</a:t>
            </a:r>
            <a:endParaRPr lang="zh-CN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03704"/>
            <a:ext cx="5394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每次 epoll_wait 都把所有 fd 重新注册一遍，fd 越多越慢。Linux 只看就绪链表，快慢与 fd 总数无关。</a:t>
            </a:r>
            <a:endParaRPr lang="zh-CN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</a:t>
            </a:r>
            <a:endParaRPr lang="zh-CN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52544"/>
            <a:ext cx="5394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#2302：只扫调用者要的那一段。</a:t>
            </a:r>
            <a:endParaRPr lang="zh-CN" sz="17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#2433：已经注册、还没被唤醒过的 fd，下次等待不再重新注册。</a:t>
            </a:r>
            <a:endParaRPr lang="zh-CN" sz="17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修复前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499.9</a:t>
            </a:r>
            <a:endParaRPr lang="zh-CN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µs</a:t>
            </a:r>
            <a:endParaRPr lang="zh-CN" sz="1200" dirty="0"/>
          </a:p>
        </p:txBody>
      </p:sp>
      <p:sp>
        <p:nvSpPr>
          <p:cNvPr id="16" name="Shape 14"/>
          <p:cNvSpPr/>
          <p:nvPr/>
        </p:nvSpPr>
        <p:spPr>
          <a:xfrm>
            <a:off x="8239658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2538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修复后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422538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37.0</a:t>
            </a:r>
            <a:endParaRPr lang="zh-CN" sz="3000" dirty="0"/>
          </a:p>
        </p:txBody>
      </p:sp>
      <p:sp>
        <p:nvSpPr>
          <p:cNvPr id="19" name="Text 17"/>
          <p:cNvSpPr/>
          <p:nvPr/>
        </p:nvSpPr>
        <p:spPr>
          <a:xfrm>
            <a:off x="8422538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µs</a:t>
            </a:r>
            <a:endParaRPr lang="zh-CN" sz="1200" dirty="0"/>
          </a:p>
        </p:txBody>
      </p:sp>
      <p:sp>
        <p:nvSpPr>
          <p:cNvPr id="20" name="Shape 18"/>
          <p:cNvSpPr/>
          <p:nvPr/>
        </p:nvSpPr>
        <p:spPr>
          <a:xfrm>
            <a:off x="9987077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9957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6.12</a:t>
            </a:r>
            <a:endParaRPr lang="zh-CN" sz="1200" dirty="0"/>
          </a:p>
        </p:txBody>
      </p:sp>
      <p:sp>
        <p:nvSpPr>
          <p:cNvPr id="22" name="Text 20"/>
          <p:cNvSpPr/>
          <p:nvPr/>
        </p:nvSpPr>
        <p:spPr>
          <a:xfrm>
            <a:off x="10169957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0.56</a:t>
            </a:r>
            <a:endParaRPr lang="zh-CN" sz="3000" dirty="0"/>
          </a:p>
        </p:txBody>
      </p:sp>
      <p:sp>
        <p:nvSpPr>
          <p:cNvPr id="23" name="Text 21"/>
          <p:cNvSpPr/>
          <p:nvPr/>
        </p:nvSpPr>
        <p:spPr>
          <a:xfrm>
            <a:off x="10169957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µs</a:t>
            </a:r>
            <a:endParaRPr lang="zh-CN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492240" y="3429000"/>
          <a:ext cx="5059375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6492240" y="566928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对 Linux 的倍数：891 → 66。等待时仍要把所有 fd 过一遍，下一步改成只看有变化的。</a:t>
            </a:r>
            <a:endParaRPr lang="zh-CN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 · 对照用例 3/10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fork（已触碰 64 MiB）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反映的问题</a:t>
            </a:r>
            <a:endParaRPr lang="zh-CN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03704"/>
            <a:ext cx="5394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给子进程建页表时，每放一页都要和已放过的页逐个比对，是平方级：16384 页约 1.34 亿次比较。</a:t>
            </a:r>
            <a:endParaRPr lang="zh-CN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</a:t>
            </a:r>
            <a:endParaRPr lang="zh-CN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52544"/>
            <a:ext cx="5394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perf/fork-owner-dedup：改成只查地址是否严格递增、互不重叠，一遍走完；大页与小页重叠也查得出。</a:t>
            </a:r>
            <a:endParaRPr lang="zh-CN" sz="17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修复前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84.5</a:t>
            </a:r>
            <a:endParaRPr lang="zh-CN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ms</a:t>
            </a:r>
            <a:endParaRPr lang="zh-CN" sz="1200" dirty="0"/>
          </a:p>
        </p:txBody>
      </p:sp>
      <p:sp>
        <p:nvSpPr>
          <p:cNvPr id="16" name="Shape 14"/>
          <p:cNvSpPr/>
          <p:nvPr/>
        </p:nvSpPr>
        <p:spPr>
          <a:xfrm>
            <a:off x="8239658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2538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修复后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422538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14.0</a:t>
            </a:r>
            <a:endParaRPr lang="zh-CN" sz="3000" dirty="0"/>
          </a:p>
        </p:txBody>
      </p:sp>
      <p:sp>
        <p:nvSpPr>
          <p:cNvPr id="19" name="Text 17"/>
          <p:cNvSpPr/>
          <p:nvPr/>
        </p:nvSpPr>
        <p:spPr>
          <a:xfrm>
            <a:off x="8422538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ms</a:t>
            </a:r>
            <a:endParaRPr lang="zh-CN" sz="1200" dirty="0"/>
          </a:p>
        </p:txBody>
      </p:sp>
      <p:sp>
        <p:nvSpPr>
          <p:cNvPr id="20" name="Shape 18"/>
          <p:cNvSpPr/>
          <p:nvPr/>
        </p:nvSpPr>
        <p:spPr>
          <a:xfrm>
            <a:off x="9987077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9957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6.12</a:t>
            </a:r>
            <a:endParaRPr lang="zh-CN" sz="1200" dirty="0"/>
          </a:p>
        </p:txBody>
      </p:sp>
      <p:sp>
        <p:nvSpPr>
          <p:cNvPr id="22" name="Text 20"/>
          <p:cNvSpPr/>
          <p:nvPr/>
        </p:nvSpPr>
        <p:spPr>
          <a:xfrm>
            <a:off x="10169957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0.17</a:t>
            </a:r>
            <a:endParaRPr lang="zh-CN" sz="3000" dirty="0"/>
          </a:p>
        </p:txBody>
      </p:sp>
      <p:sp>
        <p:nvSpPr>
          <p:cNvPr id="23" name="Text 21"/>
          <p:cNvSpPr/>
          <p:nvPr/>
        </p:nvSpPr>
        <p:spPr>
          <a:xfrm>
            <a:off x="10169957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ms</a:t>
            </a:r>
            <a:endParaRPr lang="zh-CN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492240" y="3429000"/>
          <a:ext cx="5059375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6492240" y="566928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剩下的差距在于每页都要建一条反向映射记录，得改数据结构，这次没动。</a:t>
            </a:r>
            <a:endParaRPr lang="zh-CN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 · 对照用例 4/10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open 加 close（持有 512 个 fd）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反映的问题</a:t>
            </a:r>
            <a:endParaRPr lang="zh-CN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03704"/>
            <a:ext cx="5394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close 为了判断要不要释放 flock，遍历全系统每个任务的每个 fd。</a:t>
            </a:r>
            <a:endParaRPr lang="zh-CN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</a:t>
            </a:r>
            <a:endParaRPr lang="zh-CN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52544"/>
            <a:ext cx="5394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fix/flock-release-at-last-reference：改成文件的最后一个引用关掉时才释放 flock，与 Linux 一致；全表扫描也就不需要了。</a:t>
            </a:r>
            <a:endParaRPr lang="zh-CN" sz="17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修复前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19.8</a:t>
            </a:r>
            <a:endParaRPr lang="zh-CN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µs</a:t>
            </a:r>
            <a:endParaRPr lang="zh-CN" sz="1200" dirty="0"/>
          </a:p>
        </p:txBody>
      </p:sp>
      <p:sp>
        <p:nvSpPr>
          <p:cNvPr id="16" name="Shape 14"/>
          <p:cNvSpPr/>
          <p:nvPr/>
        </p:nvSpPr>
        <p:spPr>
          <a:xfrm>
            <a:off x="8239658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2538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修复后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422538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</a:t>
            </a:r>
            <a:endParaRPr lang="zh-CN" sz="3000" dirty="0"/>
          </a:p>
        </p:txBody>
      </p:sp>
      <p:sp>
        <p:nvSpPr>
          <p:cNvPr id="19" name="Text 17"/>
          <p:cNvSpPr/>
          <p:nvPr/>
        </p:nvSpPr>
        <p:spPr>
          <a:xfrm>
            <a:off x="8422538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µs</a:t>
            </a:r>
            <a:endParaRPr lang="zh-CN" sz="1200" dirty="0"/>
          </a:p>
        </p:txBody>
      </p:sp>
      <p:sp>
        <p:nvSpPr>
          <p:cNvPr id="20" name="Shape 18"/>
          <p:cNvSpPr/>
          <p:nvPr/>
        </p:nvSpPr>
        <p:spPr>
          <a:xfrm>
            <a:off x="9987077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9957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6.12</a:t>
            </a:r>
            <a:endParaRPr lang="zh-CN" sz="1200" dirty="0"/>
          </a:p>
        </p:txBody>
      </p:sp>
      <p:sp>
        <p:nvSpPr>
          <p:cNvPr id="22" name="Text 20"/>
          <p:cNvSpPr/>
          <p:nvPr/>
        </p:nvSpPr>
        <p:spPr>
          <a:xfrm>
            <a:off x="10169957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2.3</a:t>
            </a:r>
            <a:endParaRPr lang="zh-CN" sz="3000" dirty="0"/>
          </a:p>
        </p:txBody>
      </p:sp>
      <p:sp>
        <p:nvSpPr>
          <p:cNvPr id="23" name="Text 21"/>
          <p:cNvSpPr/>
          <p:nvPr/>
        </p:nvSpPr>
        <p:spPr>
          <a:xfrm>
            <a:off x="10169957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µs</a:t>
            </a:r>
            <a:endParaRPr lang="zh-CN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492240" y="3429000"/>
          <a:ext cx="5059375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6492240" y="566928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顺带修好：fd 经 unix socket 传递的途中，flock 不再被提前释放。用例由 5 过 2 挂变为 7 项全过。</a:t>
            </a:r>
            <a:endParaRPr lang="zh-CN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 · 对照用例 5/10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mmap（已有 1024 个映射）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反映的问题</a:t>
            </a:r>
            <a:endParaRPr lang="zh-CN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03704"/>
            <a:ext cx="5394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查找、合并、找空闲区都先把整棵 VMA 树展开成数组，一次 mmap 加 munmap 走 11 遍全树。</a:t>
            </a:r>
            <a:endParaRPr lang="zh-CN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</a:t>
            </a:r>
            <a:endParaRPr lang="zh-CN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52544"/>
            <a:ext cx="5394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#2302 与 perf/vma-interval-queries：改成只访问用得到的那一段。</a:t>
            </a:r>
            <a:endParaRPr lang="zh-CN" sz="17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修复前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246.1</a:t>
            </a:r>
            <a:endParaRPr lang="zh-CN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µs</a:t>
            </a:r>
            <a:endParaRPr lang="zh-CN" sz="1200" dirty="0"/>
          </a:p>
        </p:txBody>
      </p:sp>
      <p:sp>
        <p:nvSpPr>
          <p:cNvPr id="16" name="Shape 14"/>
          <p:cNvSpPr/>
          <p:nvPr/>
        </p:nvSpPr>
        <p:spPr>
          <a:xfrm>
            <a:off x="8239658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2538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修复后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422538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207.3</a:t>
            </a:r>
            <a:endParaRPr lang="zh-CN" sz="3000" dirty="0"/>
          </a:p>
        </p:txBody>
      </p:sp>
      <p:sp>
        <p:nvSpPr>
          <p:cNvPr id="19" name="Text 17"/>
          <p:cNvSpPr/>
          <p:nvPr/>
        </p:nvSpPr>
        <p:spPr>
          <a:xfrm>
            <a:off x="8422538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µs</a:t>
            </a:r>
            <a:endParaRPr lang="zh-CN" sz="1200" dirty="0"/>
          </a:p>
        </p:txBody>
      </p:sp>
      <p:sp>
        <p:nvSpPr>
          <p:cNvPr id="20" name="Shape 18"/>
          <p:cNvSpPr/>
          <p:nvPr/>
        </p:nvSpPr>
        <p:spPr>
          <a:xfrm>
            <a:off x="9987077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9957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6.12</a:t>
            </a:r>
            <a:endParaRPr lang="zh-CN" sz="1200" dirty="0"/>
          </a:p>
        </p:txBody>
      </p:sp>
      <p:sp>
        <p:nvSpPr>
          <p:cNvPr id="22" name="Text 20"/>
          <p:cNvSpPr/>
          <p:nvPr/>
        </p:nvSpPr>
        <p:spPr>
          <a:xfrm>
            <a:off x="10169957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</a:t>
            </a:r>
            <a:endParaRPr lang="zh-CN" sz="3000" dirty="0"/>
          </a:p>
        </p:txBody>
      </p:sp>
      <p:sp>
        <p:nvSpPr>
          <p:cNvPr id="23" name="Text 21"/>
          <p:cNvSpPr/>
          <p:nvPr/>
        </p:nvSpPr>
        <p:spPr>
          <a:xfrm>
            <a:off x="10169957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µs</a:t>
            </a:r>
            <a:endParaRPr lang="zh-CN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492240" y="3429000"/>
          <a:ext cx="5059375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6492240" y="566928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当时仍是 Linux 的 47 倍。10.04 在最新 dev 上重测为 64 倍，本地分支补完区间化后降到 22 倍。</a:t>
            </a:r>
            <a:endParaRPr lang="zh-CN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 · 对照用例 6/10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内核栈采样：slab 分配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反映的问题</a:t>
            </a:r>
            <a:endParaRPr lang="zh-CN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03704"/>
            <a:ext cx="5394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浏览器负载下采样，栈顶最多的是：分配对象时把整条 full slab 链表走一遍，看有没有别的 CPU 释放回来的对象。这种释放很少，几乎每次都白走。</a:t>
            </a:r>
            <a:endParaRPr lang="zh-CN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</a:t>
            </a:r>
            <a:endParaRPr lang="zh-CN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52544"/>
            <a:ext cx="5394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#2301：别的 CPU 释放对象时做个标记，有标记才去走链表。</a:t>
            </a:r>
            <a:endParaRPr lang="zh-CN" sz="17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修复前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2701</a:t>
            </a:r>
            <a:endParaRPr lang="zh-CN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个节点</a:t>
            </a:r>
            <a:endParaRPr lang="zh-CN" sz="1200" dirty="0"/>
          </a:p>
        </p:txBody>
      </p:sp>
      <p:sp>
        <p:nvSpPr>
          <p:cNvPr id="16" name="Shape 14"/>
          <p:cNvSpPr/>
          <p:nvPr/>
        </p:nvSpPr>
        <p:spPr>
          <a:xfrm>
            <a:off x="8239658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2538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修复后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422538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zh-CN" sz="3000" dirty="0"/>
          </a:p>
        </p:txBody>
      </p:sp>
      <p:sp>
        <p:nvSpPr>
          <p:cNvPr id="19" name="Text 17"/>
          <p:cNvSpPr/>
          <p:nvPr/>
        </p:nvSpPr>
        <p:spPr>
          <a:xfrm>
            <a:off x="8422538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个节点</a:t>
            </a:r>
            <a:endParaRPr lang="zh-CN" sz="1200" dirty="0"/>
          </a:p>
        </p:txBody>
      </p:sp>
      <p:sp>
        <p:nvSpPr>
          <p:cNvPr id="20" name="Shape 18"/>
          <p:cNvSpPr/>
          <p:nvPr/>
        </p:nvSpPr>
        <p:spPr>
          <a:xfrm>
            <a:off x="9987077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9957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发现方式</a:t>
            </a:r>
            <a:endParaRPr lang="zh-CN" sz="1200" dirty="0"/>
          </a:p>
        </p:txBody>
      </p:sp>
      <p:sp>
        <p:nvSpPr>
          <p:cNvPr id="22" name="Text 20"/>
          <p:cNvSpPr/>
          <p:nvPr/>
        </p:nvSpPr>
        <p:spPr>
          <a:xfrm>
            <a:off x="10169957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栈采样</a:t>
            </a:r>
            <a:endParaRPr lang="zh-CN" sz="2400" dirty="0"/>
          </a:p>
        </p:txBody>
      </p:sp>
      <p:sp>
        <p:nvSpPr>
          <p:cNvPr id="23" name="Shape 21"/>
          <p:cNvSpPr/>
          <p:nvPr/>
        </p:nvSpPr>
        <p:spPr>
          <a:xfrm>
            <a:off x="6492240" y="3429000"/>
            <a:ext cx="5059375" cy="1572768"/>
          </a:xfrm>
          <a:prstGeom prst="roundRect">
            <a:avLst>
              <a:gd name="adj" fmla="val 697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3584448"/>
            <a:ext cx="46021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数字是 512 次分配遍历的 full slab 节点数。</a:t>
            </a:r>
            <a:endParaRPr lang="zh-CN" sz="1500" dirty="0"/>
          </a:p>
          <a:p>
            <a:pPr indent="0" marL="0">
              <a:spcAft>
                <a:spcPts val="8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采样方法：经 QEMU 的 gdb 接口定时取全部线程的栈。40 次采样里只有 1 次落在用户态，慢的是内核。</a:t>
            </a:r>
            <a:endParaRPr lang="zh-CN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 · 对照用例 7/10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nc 发 CONNECT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反映的问题</a:t>
            </a:r>
            <a:endParaRPr lang="zh-CN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03704"/>
            <a:ext cx="5394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TCP 半关闭之后，连接状态变了却没有通知等待方，poll 一直看到旧状态。nc 等满 16 秒失败，同一目标的 wget 正常。</a:t>
            </a:r>
            <a:endParaRPr lang="zh-CN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</a:t>
            </a:r>
            <a:endParaRPr lang="zh-CN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52544"/>
            <a:ext cx="5394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fix/tcp-half-close-reply：每次改完状态都通知等待方；poll 报告挂断的条件改成与 Linux 相同。</a:t>
            </a:r>
            <a:endParaRPr lang="zh-CN" sz="17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修复前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zh-CN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秒后失败</a:t>
            </a:r>
            <a:endParaRPr lang="zh-CN" sz="1200" dirty="0"/>
          </a:p>
        </p:txBody>
      </p:sp>
      <p:sp>
        <p:nvSpPr>
          <p:cNvPr id="16" name="Shape 14"/>
          <p:cNvSpPr/>
          <p:nvPr/>
        </p:nvSpPr>
        <p:spPr>
          <a:xfrm>
            <a:off x="8239658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2538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修复后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422538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zh-CN" sz="3000" dirty="0"/>
          </a:p>
        </p:txBody>
      </p:sp>
      <p:sp>
        <p:nvSpPr>
          <p:cNvPr id="19" name="Text 17"/>
          <p:cNvSpPr/>
          <p:nvPr/>
        </p:nvSpPr>
        <p:spPr>
          <a:xfrm>
            <a:off x="8422538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秒</a:t>
            </a:r>
            <a:endParaRPr lang="zh-CN" sz="1200" dirty="0"/>
          </a:p>
        </p:txBody>
      </p:sp>
      <p:sp>
        <p:nvSpPr>
          <p:cNvPr id="20" name="Shape 18"/>
          <p:cNvSpPr/>
          <p:nvPr/>
        </p:nvSpPr>
        <p:spPr>
          <a:xfrm>
            <a:off x="9987077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9957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6.12</a:t>
            </a:r>
            <a:endParaRPr lang="zh-CN" sz="1200" dirty="0"/>
          </a:p>
        </p:txBody>
      </p:sp>
      <p:sp>
        <p:nvSpPr>
          <p:cNvPr id="22" name="Text 20"/>
          <p:cNvSpPr/>
          <p:nvPr/>
        </p:nvSpPr>
        <p:spPr>
          <a:xfrm>
            <a:off x="10169957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zh-CN" sz="3000" dirty="0"/>
          </a:p>
        </p:txBody>
      </p:sp>
      <p:sp>
        <p:nvSpPr>
          <p:cNvPr id="23" name="Text 21"/>
          <p:cNvSpPr/>
          <p:nvPr/>
        </p:nvSpPr>
        <p:spPr>
          <a:xfrm>
            <a:off x="10169957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秒</a:t>
            </a:r>
            <a:endParaRPr lang="zh-CN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3429000"/>
            <a:ext cx="5059375" cy="1572768"/>
          </a:xfrm>
          <a:prstGeom prst="roundRect">
            <a:avLst>
              <a:gd name="adj" fmla="val 697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584448"/>
            <a:ext cx="46021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回归用例：22 过 8 挂 → 30 项全过，宿主 Linux 同为 30 项。</a:t>
            </a:r>
            <a:endParaRPr lang="zh-CN" sz="1500" dirty="0"/>
          </a:p>
          <a:p>
            <a:pPr indent="0" marL="0">
              <a:spcAft>
                <a:spcPts val="8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16 秒恰是 SYN 重传 1+2+4+8 的和，起初误判为连接没建成。</a:t>
            </a:r>
            <a:endParaRPr lang="zh-CN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 · 对照用例 8/10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Firefox 冷启动段错误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反映的问题</a:t>
            </a:r>
            <a:endParaRPr lang="zh-CN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03704"/>
            <a:ext cx="5394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netlink 的出错回复照抄请求的长度，没有补到 4 的倍数，是 37 字节。读的一方按 4 字节对齐读到第 40 字节，越界。</a:t>
            </a:r>
            <a:endParaRPr lang="zh-CN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</a:t>
            </a:r>
            <a:endParaRPr lang="zh-CN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52544"/>
            <a:ext cx="5394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fix/netlink-message-padding：回复补到 4 的倍数，与 Linux 一样是 40 字节。</a:t>
            </a:r>
            <a:endParaRPr lang="zh-CN" sz="17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修复前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5/12</a:t>
            </a:r>
            <a:endParaRPr lang="zh-CN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28254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次冷启动段错误</a:t>
            </a:r>
            <a:endParaRPr lang="zh-CN" sz="1200" dirty="0"/>
          </a:p>
        </p:txBody>
      </p:sp>
      <p:sp>
        <p:nvSpPr>
          <p:cNvPr id="16" name="Shape 14"/>
          <p:cNvSpPr/>
          <p:nvPr/>
        </p:nvSpPr>
        <p:spPr>
          <a:xfrm>
            <a:off x="8239658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2538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修复后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422538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0/12</a:t>
            </a:r>
            <a:endParaRPr lang="zh-CN" sz="3000" dirty="0"/>
          </a:p>
        </p:txBody>
      </p:sp>
      <p:sp>
        <p:nvSpPr>
          <p:cNvPr id="19" name="Shape 17"/>
          <p:cNvSpPr/>
          <p:nvPr/>
        </p:nvSpPr>
        <p:spPr>
          <a:xfrm>
            <a:off x="9987077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69957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6.12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10169957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zh-CN" sz="3000" dirty="0"/>
          </a:p>
        </p:txBody>
      </p:sp>
      <p:sp>
        <p:nvSpPr>
          <p:cNvPr id="22" name="Shape 20"/>
          <p:cNvSpPr/>
          <p:nvPr/>
        </p:nvSpPr>
        <p:spPr>
          <a:xfrm>
            <a:off x="6492240" y="3429000"/>
            <a:ext cx="5059375" cy="640080"/>
          </a:xfrm>
          <a:prstGeom prst="roundRect">
            <a:avLst>
              <a:gd name="adj" fmla="val 17143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3584448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同一次对照里，导航尝试次数从 1.7 降到 1。</a:t>
            </a:r>
            <a:endParaRPr lang="zh-CN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 · 对照用例 9/10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远程桌面里起 xterm（tty）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反映的问题</a:t>
            </a:r>
            <a:endParaRPr lang="zh-CN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03704"/>
            <a:ext cx="5394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五处与 Linux 不一致：打开 tty 不设控制终端；从端重新打开后，主端仍读到挂断；devpts 的编号不回收；命名空间里 tcgetpgrp 与 getpgrp 对不上；会话首进程 setpgid 返回 0。</a:t>
            </a:r>
            <a:endParaRPr lang="zh-CN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</a:t>
            </a:r>
            <a:endParaRPr lang="zh-CN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52544"/>
            <a:ext cx="5394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#2426：五处合成一个提交，逐条照 Linux 的 tty_open 等代码改。</a:t>
            </a:r>
            <a:endParaRPr lang="zh-CN" sz="17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修复前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E2604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起不来</a:t>
            </a:r>
            <a:endParaRPr lang="zh-CN" sz="2400" dirty="0"/>
          </a:p>
        </p:txBody>
      </p:sp>
      <p:sp>
        <p:nvSpPr>
          <p:cNvPr id="15" name="Shape 13"/>
          <p:cNvSpPr/>
          <p:nvPr/>
        </p:nvSpPr>
        <p:spPr>
          <a:xfrm>
            <a:off x="8239658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2538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修复后</a:t>
            </a:r>
            <a:endParaRPr lang="zh-CN" sz="1200" dirty="0"/>
          </a:p>
        </p:txBody>
      </p:sp>
      <p:sp>
        <p:nvSpPr>
          <p:cNvPr id="17" name="Text 15"/>
          <p:cNvSpPr/>
          <p:nvPr/>
        </p:nvSpPr>
        <p:spPr>
          <a:xfrm>
            <a:off x="8422538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FA89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正常</a:t>
            </a:r>
            <a:endParaRPr lang="zh-CN" sz="2400" dirty="0"/>
          </a:p>
        </p:txBody>
      </p:sp>
      <p:sp>
        <p:nvSpPr>
          <p:cNvPr id="18" name="Shape 16"/>
          <p:cNvSpPr/>
          <p:nvPr/>
        </p:nvSpPr>
        <p:spPr>
          <a:xfrm>
            <a:off x="9987077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9957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6.12</a:t>
            </a:r>
            <a:endParaRPr lang="zh-CN" sz="1200" dirty="0"/>
          </a:p>
        </p:txBody>
      </p:sp>
      <p:sp>
        <p:nvSpPr>
          <p:cNvPr id="20" name="Text 18"/>
          <p:cNvSpPr/>
          <p:nvPr/>
        </p:nvSpPr>
        <p:spPr>
          <a:xfrm>
            <a:off x="10169957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正常</a:t>
            </a:r>
            <a:endParaRPr lang="zh-CN" sz="2400" dirty="0"/>
          </a:p>
        </p:txBody>
      </p:sp>
      <p:sp>
        <p:nvSpPr>
          <p:cNvPr id="21" name="Shape 19"/>
          <p:cNvSpPr/>
          <p:nvPr/>
        </p:nvSpPr>
        <p:spPr>
          <a:xfrm>
            <a:off x="6492240" y="3429000"/>
            <a:ext cx="5059375" cy="1298448"/>
          </a:xfrm>
          <a:prstGeom prst="roundRect">
            <a:avLst>
              <a:gd name="adj" fmla="val 8451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584448"/>
            <a:ext cx="460217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五个用例的通过数与宿主 Linux 相同：18、21、15、3、9。</a:t>
            </a:r>
            <a:endParaRPr lang="zh-CN" sz="1500" dirty="0"/>
          </a:p>
          <a:p>
            <a:pPr indent="0" marL="0">
              <a:spcAft>
                <a:spcPts val="8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分组套件 520 项全过。</a:t>
            </a:r>
            <a:endParaRPr lang="zh-CN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 · 对照用例 10/10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鼠标久置后不跟随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反映的问题</a:t>
            </a:r>
            <a:endParaRPr lang="zh-CN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03704"/>
            <a:ext cx="5394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一个 epoll 里套着另一个 epoll。里层的等待返回后，没有把自己从等待队列里摘掉；后来的唤醒被这些作废的项吃掉，外层一直等到超时。</a:t>
            </a:r>
            <a:endParaRPr lang="zh-CN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</a:t>
            </a:r>
            <a:endParaRPr lang="zh-CN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52544"/>
            <a:ext cx="5394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dev 上已经换了实现；我们补了回归用例 #2378，防止以后再犯。</a:t>
            </a:r>
            <a:endParaRPr lang="zh-CN" sz="17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修复前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E2604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不跟随</a:t>
            </a:r>
            <a:endParaRPr lang="zh-CN" sz="2400" dirty="0"/>
          </a:p>
        </p:txBody>
      </p:sp>
      <p:sp>
        <p:nvSpPr>
          <p:cNvPr id="15" name="Shape 13"/>
          <p:cNvSpPr/>
          <p:nvPr/>
        </p:nvSpPr>
        <p:spPr>
          <a:xfrm>
            <a:off x="8239658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2538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修复后</a:t>
            </a:r>
            <a:endParaRPr lang="zh-CN" sz="1200" dirty="0"/>
          </a:p>
        </p:txBody>
      </p:sp>
      <p:sp>
        <p:nvSpPr>
          <p:cNvPr id="17" name="Text 15"/>
          <p:cNvSpPr/>
          <p:nvPr/>
        </p:nvSpPr>
        <p:spPr>
          <a:xfrm>
            <a:off x="8422538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FA89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正常</a:t>
            </a:r>
            <a:endParaRPr lang="zh-CN" sz="2400" dirty="0"/>
          </a:p>
        </p:txBody>
      </p:sp>
      <p:sp>
        <p:nvSpPr>
          <p:cNvPr id="18" name="Shape 16"/>
          <p:cNvSpPr/>
          <p:nvPr/>
        </p:nvSpPr>
        <p:spPr>
          <a:xfrm>
            <a:off x="9987077" y="1783080"/>
            <a:ext cx="1564538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9957" y="1911096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6.12</a:t>
            </a:r>
            <a:endParaRPr lang="zh-CN" sz="1200" dirty="0"/>
          </a:p>
        </p:txBody>
      </p:sp>
      <p:sp>
        <p:nvSpPr>
          <p:cNvPr id="20" name="Text 18"/>
          <p:cNvSpPr/>
          <p:nvPr/>
        </p:nvSpPr>
        <p:spPr>
          <a:xfrm>
            <a:off x="10169957" y="2203704"/>
            <a:ext cx="11987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正常</a:t>
            </a:r>
            <a:endParaRPr lang="zh-CN" sz="2400" dirty="0"/>
          </a:p>
        </p:txBody>
      </p:sp>
      <p:sp>
        <p:nvSpPr>
          <p:cNvPr id="21" name="Shape 19"/>
          <p:cNvSpPr/>
          <p:nvPr/>
        </p:nvSpPr>
        <p:spPr>
          <a:xfrm>
            <a:off x="6492240" y="3429000"/>
            <a:ext cx="5059375" cy="1572768"/>
          </a:xfrm>
          <a:prstGeom prst="roundRect">
            <a:avLst>
              <a:gd name="adj" fmla="val 697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584448"/>
            <a:ext cx="46021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同类问题：unix stream 两端共用一个等待队列，发送方把自己也叫醒，边沿触发的事件循环就在一个核上空转。</a:t>
            </a:r>
            <a:endParaRPr lang="zh-CN" sz="1500" dirty="0"/>
          </a:p>
          <a:p>
            <a:pPr indent="0" marL="0">
              <a:spcAft>
                <a:spcPts val="8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#2194：21 过 3 挂 → 24 项全过。</a:t>
            </a:r>
            <a:endParaRPr lang="zh-CN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端到端：Firefox 启动到导航完成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endParaRPr lang="zh-CN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73736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766560" y="1783080"/>
            <a:ext cx="4785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2.65 倍</a:t>
            </a:r>
            <a:pPr indent="0" marL="0">
              <a:buNone/>
            </a:pPr>
            <a:r>
              <a:rPr lang="zh-CN" altLang="en-US" sz="20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　→　</a:t>
            </a:r>
            <a:pPr indent="0" marL="0">
              <a:buNone/>
            </a:pPr>
            <a:r>
              <a:rPr lang="zh-CN" altLang="en-US" sz="34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1.88 倍</a:t>
            </a:r>
            <a:endParaRPr lang="zh-CN" sz="3400" dirty="0"/>
          </a:p>
        </p:txBody>
      </p:sp>
      <p:sp>
        <p:nvSpPr>
          <p:cNvPr id="8" name="Text 5"/>
          <p:cNvSpPr/>
          <p:nvPr/>
        </p:nvSpPr>
        <p:spPr>
          <a:xfrm>
            <a:off x="6766560" y="251460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对 Linux 的倍数</a:t>
            </a:r>
            <a:endParaRPr lang="zh-CN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3017520"/>
          <a:ext cx="4785055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  <a:gridCol w="914400"/>
                <a:gridCol w="8961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指标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09.16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09.28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Linux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导航尝试次数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1.7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1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1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nc 发 CONNECT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16 秒后失败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0 秒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0 秒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Firefox 内核态占比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92.3%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83.3%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39%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稳定时资源数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113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111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208</a:t>
                      </a:r>
                      <a:endParaRPr lang="zh-CN" sz="130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766560" y="5440680"/>
            <a:ext cx="4785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资源数仍只有一半：主文档到手后派发子资源慢，时间耗在内核态。</a:t>
            </a:r>
            <a:endParaRPr lang="zh-CN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02 浏览器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追平了哪些，还差哪些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72888" cy="4114800"/>
          </a:xfrm>
          <a:prstGeom prst="roundRect">
            <a:avLst>
              <a:gd name="adj" fmla="val 2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65960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追平或接近</a:t>
            </a:r>
            <a:endParaRPr lang="zh-CN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3261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空系统调用</a:t>
            </a:r>
            <a:endParaRPr lang="zh-CN" sz="1600" dirty="0"/>
          </a:p>
        </p:txBody>
      </p:sp>
      <p:sp>
        <p:nvSpPr>
          <p:cNvPr id="10" name="Text 8"/>
          <p:cNvSpPr/>
          <p:nvPr/>
        </p:nvSpPr>
        <p:spPr>
          <a:xfrm>
            <a:off x="4129888" y="2514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7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0.57×</a:t>
            </a:r>
            <a:endParaRPr lang="zh-CN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3063240"/>
            <a:ext cx="3261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管道往返</a:t>
            </a:r>
            <a:endParaRPr lang="zh-CN" sz="1600" dirty="0"/>
          </a:p>
        </p:txBody>
      </p:sp>
      <p:sp>
        <p:nvSpPr>
          <p:cNvPr id="12" name="Text 10"/>
          <p:cNvSpPr/>
          <p:nvPr/>
        </p:nvSpPr>
        <p:spPr>
          <a:xfrm>
            <a:off x="4129888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7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0.39×</a:t>
            </a:r>
            <a:endParaRPr lang="zh-CN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3611880"/>
            <a:ext cx="3261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stat</a:t>
            </a:r>
            <a:endParaRPr lang="zh-CN" sz="1600" dirty="0"/>
          </a:p>
        </p:txBody>
      </p:sp>
      <p:sp>
        <p:nvSpPr>
          <p:cNvPr id="14" name="Text 12"/>
          <p:cNvSpPr/>
          <p:nvPr/>
        </p:nvSpPr>
        <p:spPr>
          <a:xfrm>
            <a:off x="4129888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7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0.88×</a:t>
            </a:r>
            <a:endParaRPr lang="zh-CN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160520"/>
            <a:ext cx="3261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unix socket 往返</a:t>
            </a:r>
            <a:endParaRPr lang="zh-CN" sz="1600" dirty="0"/>
          </a:p>
        </p:txBody>
      </p:sp>
      <p:sp>
        <p:nvSpPr>
          <p:cNvPr id="16" name="Text 14"/>
          <p:cNvSpPr/>
          <p:nvPr/>
        </p:nvSpPr>
        <p:spPr>
          <a:xfrm>
            <a:off x="4129888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7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1.13×</a:t>
            </a:r>
            <a:endParaRPr lang="zh-CN" sz="1700" dirty="0"/>
          </a:p>
        </p:txBody>
      </p:sp>
      <p:sp>
        <p:nvSpPr>
          <p:cNvPr id="17" name="Text 15"/>
          <p:cNvSpPr/>
          <p:nvPr/>
        </p:nvSpPr>
        <p:spPr>
          <a:xfrm>
            <a:off x="868680" y="4709160"/>
            <a:ext cx="3261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写内存盘（1024 页）</a:t>
            </a:r>
            <a:endParaRPr lang="zh-CN" sz="1600" dirty="0"/>
          </a:p>
        </p:txBody>
      </p:sp>
      <p:sp>
        <p:nvSpPr>
          <p:cNvPr id="18" name="Text 16"/>
          <p:cNvSpPr/>
          <p:nvPr/>
        </p:nvSpPr>
        <p:spPr>
          <a:xfrm>
            <a:off x="4129888" y="4709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7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0.27×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5257800"/>
            <a:ext cx="3261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open 加 close</a:t>
            </a:r>
            <a:endParaRPr lang="zh-CN" sz="1600" dirty="0"/>
          </a:p>
        </p:txBody>
      </p:sp>
      <p:sp>
        <p:nvSpPr>
          <p:cNvPr id="20" name="Text 18"/>
          <p:cNvSpPr/>
          <p:nvPr/>
        </p:nvSpPr>
        <p:spPr>
          <a:xfrm>
            <a:off x="4129888" y="5257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7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1.4×</a:t>
            </a:r>
            <a:endParaRPr lang="zh-CN" sz="1700" dirty="0"/>
          </a:p>
        </p:txBody>
      </p:sp>
      <p:sp>
        <p:nvSpPr>
          <p:cNvPr id="21" name="Shape 19"/>
          <p:cNvSpPr/>
          <p:nvPr/>
        </p:nvSpPr>
        <p:spPr>
          <a:xfrm>
            <a:off x="6278728" y="1783080"/>
            <a:ext cx="5272888" cy="4114800"/>
          </a:xfrm>
          <a:prstGeom prst="roundRect">
            <a:avLst>
              <a:gd name="adj" fmla="val 2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07328" y="1965960"/>
            <a:ext cx="104241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7328" y="196596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还没追平</a:t>
            </a:r>
            <a:endParaRPr lang="zh-CN" sz="1100" dirty="0"/>
          </a:p>
        </p:txBody>
      </p:sp>
      <p:sp>
        <p:nvSpPr>
          <p:cNvPr id="24" name="Text 22"/>
          <p:cNvSpPr/>
          <p:nvPr/>
        </p:nvSpPr>
        <p:spPr>
          <a:xfrm>
            <a:off x="6507328" y="2514600"/>
            <a:ext cx="3261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解除映射（128 MiB）</a:t>
            </a:r>
            <a:endParaRPr lang="zh-CN" sz="1600" dirty="0"/>
          </a:p>
        </p:txBody>
      </p:sp>
      <p:sp>
        <p:nvSpPr>
          <p:cNvPr id="25" name="Text 23"/>
          <p:cNvSpPr/>
          <p:nvPr/>
        </p:nvSpPr>
        <p:spPr>
          <a:xfrm>
            <a:off x="9768535" y="2514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7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84×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6507328" y="3063240"/>
            <a:ext cx="3261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epoll 等待（1020 个 fd）</a:t>
            </a:r>
            <a:endParaRPr lang="zh-CN" sz="1600" dirty="0"/>
          </a:p>
        </p:txBody>
      </p:sp>
      <p:sp>
        <p:nvSpPr>
          <p:cNvPr id="27" name="Text 25"/>
          <p:cNvSpPr/>
          <p:nvPr/>
        </p:nvSpPr>
        <p:spPr>
          <a:xfrm>
            <a:off x="9768535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7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78×</a:t>
            </a:r>
            <a:endParaRPr lang="zh-CN" sz="1700" dirty="0"/>
          </a:p>
        </p:txBody>
      </p:sp>
      <p:sp>
        <p:nvSpPr>
          <p:cNvPr id="28" name="Text 26"/>
          <p:cNvSpPr/>
          <p:nvPr/>
        </p:nvSpPr>
        <p:spPr>
          <a:xfrm>
            <a:off x="6507328" y="3611880"/>
            <a:ext cx="3261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fork（64 MiB）</a:t>
            </a:r>
            <a:endParaRPr lang="zh-CN" sz="1600" dirty="0"/>
          </a:p>
        </p:txBody>
      </p:sp>
      <p:sp>
        <p:nvSpPr>
          <p:cNvPr id="29" name="Text 27"/>
          <p:cNvSpPr/>
          <p:nvPr/>
        </p:nvSpPr>
        <p:spPr>
          <a:xfrm>
            <a:off x="9768535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7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67×</a:t>
            </a:r>
            <a:endParaRPr lang="zh-CN" sz="1700" dirty="0"/>
          </a:p>
        </p:txBody>
      </p:sp>
      <p:sp>
        <p:nvSpPr>
          <p:cNvPr id="30" name="Text 28"/>
          <p:cNvSpPr/>
          <p:nvPr/>
        </p:nvSpPr>
        <p:spPr>
          <a:xfrm>
            <a:off x="6507328" y="4160520"/>
            <a:ext cx="3261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mmap（1024 个映射）</a:t>
            </a:r>
            <a:endParaRPr lang="zh-CN" sz="1600" dirty="0"/>
          </a:p>
        </p:txBody>
      </p:sp>
      <p:sp>
        <p:nvSpPr>
          <p:cNvPr id="31" name="Text 29"/>
          <p:cNvSpPr/>
          <p:nvPr/>
        </p:nvSpPr>
        <p:spPr>
          <a:xfrm>
            <a:off x="9768535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7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64×</a:t>
            </a:r>
            <a:endParaRPr lang="zh-CN" sz="1700" dirty="0"/>
          </a:p>
        </p:txBody>
      </p:sp>
      <p:sp>
        <p:nvSpPr>
          <p:cNvPr id="32" name="Text 30"/>
          <p:cNvSpPr/>
          <p:nvPr/>
        </p:nvSpPr>
        <p:spPr>
          <a:xfrm>
            <a:off x="6507328" y="4709160"/>
            <a:ext cx="3261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信号投递</a:t>
            </a:r>
            <a:endParaRPr lang="zh-CN" sz="1600" dirty="0"/>
          </a:p>
        </p:txBody>
      </p:sp>
      <p:sp>
        <p:nvSpPr>
          <p:cNvPr id="33" name="Text 31"/>
          <p:cNvSpPr/>
          <p:nvPr/>
        </p:nvSpPr>
        <p:spPr>
          <a:xfrm>
            <a:off x="9768535" y="4709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7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30×</a:t>
            </a:r>
            <a:endParaRPr lang="zh-CN" sz="1700" dirty="0"/>
          </a:p>
        </p:txBody>
      </p:sp>
      <p:sp>
        <p:nvSpPr>
          <p:cNvPr id="34" name="Text 32"/>
          <p:cNvSpPr/>
          <p:nvPr/>
        </p:nvSpPr>
        <p:spPr>
          <a:xfrm>
            <a:off x="6507328" y="5257800"/>
            <a:ext cx="3261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缺页</a:t>
            </a:r>
            <a:endParaRPr lang="zh-CN" sz="1600" dirty="0"/>
          </a:p>
        </p:txBody>
      </p:sp>
      <p:sp>
        <p:nvSpPr>
          <p:cNvPr id="35" name="Text 33"/>
          <p:cNvSpPr/>
          <p:nvPr/>
        </p:nvSpPr>
        <p:spPr>
          <a:xfrm>
            <a:off x="9768535" y="5257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7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8.7×</a:t>
            </a:r>
            <a:endParaRPr lang="zh-CN" sz="1700" dirty="0"/>
          </a:p>
        </p:txBody>
      </p:sp>
      <p:sp>
        <p:nvSpPr>
          <p:cNvPr id="36" name="Text 34"/>
          <p:cNvSpPr/>
          <p:nvPr/>
        </p:nvSpPr>
        <p:spPr>
          <a:xfrm>
            <a:off x="64008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StarryOS 耗时除以 Linux 耗时，10.04 在最新 dev 上重测。mmap 在本地分支上已降到 22 倍。</a:t>
            </a:r>
            <a:endParaRPr lang="zh-CN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188720"/>
            <a:ext cx="1371600" cy="137160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2743200"/>
            <a:ext cx="457200" cy="457200"/>
          </a:xfrm>
          <a:prstGeom prst="star4">
            <a:avLst/>
          </a:prstGeom>
          <a:solidFill>
            <a:srgbClr val="C9D2EA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3108960"/>
            <a:ext cx="274320" cy="274320"/>
          </a:xfrm>
          <a:prstGeom prst="star4">
            <a:avLst/>
          </a:prstGeom>
          <a:solidFill>
            <a:srgbClr val="C9D2EA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600" b="1" dirty="0">
                <a:solidFill>
                  <a:srgbClr val="F2B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zh-CN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Personality</a:t>
            </a:r>
            <a:endParaRPr lang="zh-CN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三套系统调用参考实现，目标是各自跑通对应平台的 CPython 3.14</a:t>
            </a:r>
            <a:endParaRPr lang="zh-CN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03 Personality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三个 Personality 包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54298" cy="4160520"/>
          </a:xfrm>
          <a:prstGeom prst="roundRect">
            <a:avLst>
              <a:gd name="adj" fmla="val 317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1991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ax-abi-linux</a:t>
            </a:r>
            <a:endParaRPr lang="zh-CN" sz="1700" dirty="0"/>
          </a:p>
        </p:txBody>
      </p:sp>
      <p:sp>
        <p:nvSpPr>
          <p:cNvPr id="8" name="Shape 6"/>
          <p:cNvSpPr/>
          <p:nvPr/>
        </p:nvSpPr>
        <p:spPr>
          <a:xfrm>
            <a:off x="2905658" y="20116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5658" y="20116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ELF</a:t>
            </a:r>
            <a:endParaRPr lang="zh-CN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4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23/23</a:t>
            </a:r>
            <a:endParaRPr lang="zh-CN" sz="4400" dirty="0"/>
          </a:p>
        </p:txBody>
      </p:sp>
      <p:sp>
        <p:nvSpPr>
          <p:cNvPr id="11" name="Text 9"/>
          <p:cNvSpPr/>
          <p:nvPr/>
        </p:nvSpPr>
        <p:spPr>
          <a:xfrm>
            <a:off x="868680" y="338328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套件全过</a:t>
            </a:r>
            <a:endParaRPr lang="zh-CN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886200"/>
            <a:ext cx="29970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验证用的二进制</a:t>
            </a:r>
            <a:endParaRPr lang="zh-CN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1605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Alpine 的 CPython 3.14.7</a:t>
            </a:r>
            <a:endParaRPr lang="zh-CN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709160"/>
            <a:ext cx="29970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StarryOS 原有的 Linux 系统调用迁入；ELF 加载也归它，内核不再解析 ELF。</a:t>
            </a:r>
            <a:endParaRPr lang="zh-CN" sz="1400" dirty="0"/>
          </a:p>
        </p:txBody>
      </p:sp>
      <p:sp>
        <p:nvSpPr>
          <p:cNvPr id="15" name="Shape 13"/>
          <p:cNvSpPr/>
          <p:nvPr/>
        </p:nvSpPr>
        <p:spPr>
          <a:xfrm>
            <a:off x="4368698" y="1783080"/>
            <a:ext cx="3454298" cy="4160520"/>
          </a:xfrm>
          <a:prstGeom prst="roundRect">
            <a:avLst>
              <a:gd name="adj" fmla="val 317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7298" y="1965960"/>
            <a:ext cx="1991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ax-abi-windows</a:t>
            </a:r>
            <a:endParaRPr lang="zh-CN" sz="1700" dirty="0"/>
          </a:p>
        </p:txBody>
      </p:sp>
      <p:sp>
        <p:nvSpPr>
          <p:cNvPr id="17" name="Shape 15"/>
          <p:cNvSpPr/>
          <p:nvPr/>
        </p:nvSpPr>
        <p:spPr>
          <a:xfrm>
            <a:off x="6634277" y="20116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4277" y="20116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PE</a:t>
            </a:r>
            <a:endParaRPr lang="zh-CN" sz="1100" dirty="0"/>
          </a:p>
        </p:txBody>
      </p:sp>
      <p:sp>
        <p:nvSpPr>
          <p:cNvPr id="19" name="Text 17"/>
          <p:cNvSpPr/>
          <p:nvPr/>
        </p:nvSpPr>
        <p:spPr>
          <a:xfrm>
            <a:off x="4597298" y="256032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400" b="1" dirty="0">
                <a:solidFill>
                  <a:srgbClr val="F2B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19/23</a:t>
            </a:r>
            <a:endParaRPr lang="zh-CN" sz="4400" dirty="0"/>
          </a:p>
        </p:txBody>
      </p:sp>
      <p:sp>
        <p:nvSpPr>
          <p:cNvPr id="20" name="Text 18"/>
          <p:cNvSpPr/>
          <p:nvPr/>
        </p:nvSpPr>
        <p:spPr>
          <a:xfrm>
            <a:off x="4597298" y="338328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套件模块通过</a:t>
            </a:r>
            <a:endParaRPr lang="zh-CN" sz="1300" dirty="0"/>
          </a:p>
        </p:txBody>
      </p:sp>
      <p:sp>
        <p:nvSpPr>
          <p:cNvPr id="21" name="Text 19"/>
          <p:cNvSpPr/>
          <p:nvPr/>
        </p:nvSpPr>
        <p:spPr>
          <a:xfrm>
            <a:off x="4597298" y="3886200"/>
            <a:ext cx="29970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验证用的二进制</a:t>
            </a:r>
            <a:endParaRPr lang="zh-CN" sz="1200" dirty="0"/>
          </a:p>
        </p:txBody>
      </p:sp>
      <p:sp>
        <p:nvSpPr>
          <p:cNvPr id="22" name="Text 20"/>
          <p:cNvSpPr/>
          <p:nvPr/>
        </p:nvSpPr>
        <p:spPr>
          <a:xfrm>
            <a:off x="4597298" y="41605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python.org 的 Windows 版 3.14.7</a:t>
            </a:r>
            <a:endParaRPr lang="zh-CN" sz="1500" dirty="0"/>
          </a:p>
        </p:txBody>
      </p:sp>
      <p:sp>
        <p:nvSpPr>
          <p:cNvPr id="23" name="Text 21"/>
          <p:cNvSpPr/>
          <p:nvPr/>
        </p:nvSpPr>
        <p:spPr>
          <a:xfrm>
            <a:off x="4597298" y="4709160"/>
            <a:ext cx="29970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NT 调用与 Win32；14 个系统库在进程里合成；运行时加载 .pyd；进程、线程、完成端口。</a:t>
            </a:r>
            <a:endParaRPr lang="zh-CN" sz="1400" dirty="0"/>
          </a:p>
        </p:txBody>
      </p:sp>
      <p:sp>
        <p:nvSpPr>
          <p:cNvPr id="24" name="Shape 22"/>
          <p:cNvSpPr/>
          <p:nvPr/>
        </p:nvSpPr>
        <p:spPr>
          <a:xfrm>
            <a:off x="8097317" y="1783080"/>
            <a:ext cx="3454298" cy="4160520"/>
          </a:xfrm>
          <a:prstGeom prst="roundRect">
            <a:avLst>
              <a:gd name="adj" fmla="val 317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5917" y="1965960"/>
            <a:ext cx="1991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ax-abi-darwin</a:t>
            </a:r>
            <a:endParaRPr lang="zh-CN" sz="1700" dirty="0"/>
          </a:p>
        </p:txBody>
      </p:sp>
      <p:sp>
        <p:nvSpPr>
          <p:cNvPr id="26" name="Shape 24"/>
          <p:cNvSpPr/>
          <p:nvPr/>
        </p:nvSpPr>
        <p:spPr>
          <a:xfrm>
            <a:off x="10362895" y="20116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62895" y="20116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Mach-O</a:t>
            </a:r>
            <a:endParaRPr lang="zh-CN" sz="1100" dirty="0"/>
          </a:p>
        </p:txBody>
      </p:sp>
      <p:sp>
        <p:nvSpPr>
          <p:cNvPr id="28" name="Text 26"/>
          <p:cNvSpPr/>
          <p:nvPr/>
        </p:nvSpPr>
        <p:spPr>
          <a:xfrm>
            <a:off x="8325917" y="256032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400" b="1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main</a:t>
            </a:r>
            <a:endParaRPr lang="zh-CN" sz="4400" dirty="0"/>
          </a:p>
        </p:txBody>
      </p:sp>
      <p:sp>
        <p:nvSpPr>
          <p:cNvPr id="29" name="Text 27"/>
          <p:cNvSpPr/>
          <p:nvPr/>
        </p:nvSpPr>
        <p:spPr>
          <a:xfrm>
            <a:off x="8325917" y="338328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加载、绑定、进到 main 已通</a:t>
            </a:r>
            <a:endParaRPr lang="zh-CN" sz="1300" dirty="0"/>
          </a:p>
        </p:txBody>
      </p:sp>
      <p:sp>
        <p:nvSpPr>
          <p:cNvPr id="30" name="Text 28"/>
          <p:cNvSpPr/>
          <p:nvPr/>
        </p:nvSpPr>
        <p:spPr>
          <a:xfrm>
            <a:off x="8325917" y="3886200"/>
            <a:ext cx="29970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验证用的二进制</a:t>
            </a:r>
            <a:endParaRPr lang="zh-CN" sz="1200" dirty="0"/>
          </a:p>
        </p:txBody>
      </p:sp>
      <p:sp>
        <p:nvSpPr>
          <p:cNvPr id="31" name="Text 29"/>
          <p:cNvSpPr/>
          <p:nvPr/>
        </p:nvSpPr>
        <p:spPr>
          <a:xfrm>
            <a:off x="8325917" y="41605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自制 Mach-O，形状同真实程序</a:t>
            </a:r>
            <a:endParaRPr lang="zh-CN" sz="1500" dirty="0"/>
          </a:p>
        </p:txBody>
      </p:sp>
      <p:sp>
        <p:nvSpPr>
          <p:cNvPr id="32" name="Text 30"/>
          <p:cNvSpPr/>
          <p:nvPr/>
        </p:nvSpPr>
        <p:spPr>
          <a:xfrm>
            <a:off x="8325917" y="4709160"/>
            <a:ext cx="29970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BSD 调用；读 dyld 的操作码流；libSystem 的入口在进程里合成。官方 macOS 版 CPython 还没跑起来。</a:t>
            </a:r>
            <a:endParaRPr lang="zh-CN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608076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套件共 23 个模块：语言与标准库、线程、多进程、网络与设备。不套用现成的用户态实现。</a:t>
            </a:r>
            <a:endParaRPr lang="zh-CN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03 Personality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同一个内核：ELF 的 shell 里起 PE 的 python.exe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endParaRPr lang="zh-CN" sz="1000" dirty="0"/>
          </a:p>
        </p:txBody>
      </p:sp>
      <p:pic>
        <p:nvPicPr>
          <p:cNvPr id="6" name="Image 0" descr="C:\Users\heke\AppData\Local\Temp\claude\C--Users-heke-AllProjects-TempFolder-rcore\1c6e91ee-4f87-4550-9a26-b0faa3d92502\scratchpad\deck2\img\p2202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10911535" cy="19072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010346"/>
            <a:ext cx="3454298" cy="1600200"/>
          </a:xfrm>
          <a:prstGeom prst="roundRect">
            <a:avLst>
              <a:gd name="adj" fmla="val 685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4193226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419322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加载</a:t>
            </a:r>
            <a:endParaRPr lang="zh-CN" sz="1200" dirty="0"/>
          </a:p>
        </p:txBody>
      </p:sp>
      <p:sp>
        <p:nvSpPr>
          <p:cNvPr id="10" name="Text 7"/>
          <p:cNvSpPr/>
          <p:nvPr/>
        </p:nvSpPr>
        <p:spPr>
          <a:xfrm>
            <a:off x="841248" y="4632138"/>
            <a:ext cx="30519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python.exe、python314.dll、vcruntime140.dll、ucrtbase.dll 逐个映射，日志来自内核里的适配器</a:t>
            </a:r>
            <a:endParaRPr lang="zh-CN" sz="1400" dirty="0"/>
          </a:p>
        </p:txBody>
      </p:sp>
      <p:sp>
        <p:nvSpPr>
          <p:cNvPr id="11" name="Shape 8"/>
          <p:cNvSpPr/>
          <p:nvPr/>
        </p:nvSpPr>
        <p:spPr>
          <a:xfrm>
            <a:off x="4368698" y="4010346"/>
            <a:ext cx="3454298" cy="1600200"/>
          </a:xfrm>
          <a:prstGeom prst="roundRect">
            <a:avLst>
              <a:gd name="adj" fmla="val 685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69866" y="4193226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9866" y="419322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陷入</a:t>
            </a:r>
            <a:endParaRPr lang="zh-CN" sz="1200" dirty="0"/>
          </a:p>
        </p:txBody>
      </p:sp>
      <p:sp>
        <p:nvSpPr>
          <p:cNvPr id="14" name="Text 11"/>
          <p:cNvSpPr/>
          <p:nvPr/>
        </p:nvSpPr>
        <p:spPr>
          <a:xfrm>
            <a:off x="4569866" y="4632138"/>
            <a:ext cx="30519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Win32 入口落到 ax-abi-windows；ELF 的 shell 仍走 ax-abi-linux</a:t>
            </a:r>
            <a:endParaRPr lang="zh-CN" sz="1400" dirty="0"/>
          </a:p>
        </p:txBody>
      </p:sp>
      <p:sp>
        <p:nvSpPr>
          <p:cNvPr id="15" name="Shape 12"/>
          <p:cNvSpPr/>
          <p:nvPr/>
        </p:nvSpPr>
        <p:spPr>
          <a:xfrm>
            <a:off x="8097317" y="4010346"/>
            <a:ext cx="3454298" cy="1600200"/>
          </a:xfrm>
          <a:prstGeom prst="roundRect">
            <a:avLst>
              <a:gd name="adj" fmla="val 685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98485" y="4193226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98485" y="419322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结果</a:t>
            </a:r>
            <a:endParaRPr lang="zh-CN" sz="1200" dirty="0"/>
          </a:p>
        </p:txBody>
      </p:sp>
      <p:sp>
        <p:nvSpPr>
          <p:cNvPr id="18" name="Text 15"/>
          <p:cNvSpPr/>
          <p:nvPr/>
        </p:nvSpPr>
        <p:spPr>
          <a:xfrm>
            <a:off x="8298485" y="4632138"/>
            <a:ext cx="30519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解释器报 Python 3.14.7 … on win32，进入交互</a:t>
            </a:r>
            <a:endParaRPr lang="zh-CN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579342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内核多开一个 abi-win，ELF 与 PE 同时可跑。</a:t>
            </a:r>
            <a:endParaRPr lang="zh-CN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03 Personality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分包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2B441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分发包</a:t>
            </a:r>
            <a:endParaRPr lang="zh-CN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1920240"/>
            <a:ext cx="844265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920240"/>
            <a:ext cx="82963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ax-abi</a:t>
            </a:r>
            <a:endParaRPr lang="zh-CN" sz="13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按 feature 选哪几套进链接，给出默认分发策略</a:t>
            </a:r>
            <a:endParaRPr lang="zh-CN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80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系统调用参考实现</a:t>
            </a:r>
            <a:endParaRPr lang="zh-CN" sz="1500" dirty="0"/>
          </a:p>
        </p:txBody>
      </p:sp>
      <p:sp>
        <p:nvSpPr>
          <p:cNvPr id="12" name="Shape 10"/>
          <p:cNvSpPr/>
          <p:nvPr/>
        </p:nvSpPr>
        <p:spPr>
          <a:xfrm>
            <a:off x="2926080" y="3017520"/>
            <a:ext cx="154222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3017520"/>
            <a:ext cx="13959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ax-abi-linux</a:t>
            </a:r>
            <a:endParaRPr lang="zh-CN" sz="13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ELF</a:t>
            </a:r>
            <a:endParaRPr lang="zh-CN" sz="1300" dirty="0"/>
          </a:p>
        </p:txBody>
      </p:sp>
      <p:sp>
        <p:nvSpPr>
          <p:cNvPr id="14" name="Shape 12"/>
          <p:cNvSpPr/>
          <p:nvPr/>
        </p:nvSpPr>
        <p:spPr>
          <a:xfrm>
            <a:off x="4651187" y="3017520"/>
            <a:ext cx="154222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4339" y="3017520"/>
            <a:ext cx="13959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ax-abi-windows</a:t>
            </a:r>
            <a:endParaRPr lang="zh-CN" sz="13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PE</a:t>
            </a:r>
            <a:endParaRPr lang="zh-CN" sz="1300" dirty="0"/>
          </a:p>
        </p:txBody>
      </p:sp>
      <p:sp>
        <p:nvSpPr>
          <p:cNvPr id="16" name="Shape 14"/>
          <p:cNvSpPr/>
          <p:nvPr/>
        </p:nvSpPr>
        <p:spPr>
          <a:xfrm>
            <a:off x="6376294" y="3017520"/>
            <a:ext cx="154222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9446" y="3017520"/>
            <a:ext cx="13959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ax-abi-darwin</a:t>
            </a:r>
            <a:endParaRPr lang="zh-CN" sz="13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Mach-O</a:t>
            </a:r>
            <a:endParaRPr lang="zh-CN" sz="1300" dirty="0"/>
          </a:p>
        </p:txBody>
      </p:sp>
      <p:sp>
        <p:nvSpPr>
          <p:cNvPr id="18" name="Shape 16"/>
          <p:cNvSpPr/>
          <p:nvPr/>
        </p:nvSpPr>
        <p:spPr>
          <a:xfrm>
            <a:off x="8101401" y="3017520"/>
            <a:ext cx="154222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4553" y="3017520"/>
            <a:ext cx="13959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ax-abi-embedded</a:t>
            </a:r>
            <a:endParaRPr lang="zh-CN" sz="13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向量表</a:t>
            </a:r>
            <a:endParaRPr lang="zh-CN" sz="1300" dirty="0"/>
          </a:p>
        </p:txBody>
      </p:sp>
      <p:sp>
        <p:nvSpPr>
          <p:cNvPr id="20" name="Shape 18"/>
          <p:cNvSpPr/>
          <p:nvPr/>
        </p:nvSpPr>
        <p:spPr>
          <a:xfrm>
            <a:off x="9826508" y="3017520"/>
            <a:ext cx="154222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99660" y="3017520"/>
            <a:ext cx="13959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ax-abi-custom</a:t>
            </a:r>
            <a:endParaRPr lang="zh-CN" sz="13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保留号段的扩展</a:t>
            </a:r>
            <a:endParaRPr lang="zh-CN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2062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20624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框架</a:t>
            </a:r>
            <a:endParaRPr lang="zh-CN" sz="1500" dirty="0"/>
          </a:p>
        </p:txBody>
      </p:sp>
      <p:sp>
        <p:nvSpPr>
          <p:cNvPr id="24" name="Shape 22"/>
          <p:cNvSpPr/>
          <p:nvPr/>
        </p:nvSpPr>
        <p:spPr>
          <a:xfrm>
            <a:off x="2926080" y="4343400"/>
            <a:ext cx="269229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4343400"/>
            <a:ext cx="2545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ax-dispatch</a:t>
            </a:r>
            <a:endParaRPr lang="zh-CN" sz="13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注册与分发</a:t>
            </a:r>
            <a:endParaRPr lang="zh-CN" sz="1300" dirty="0"/>
          </a:p>
        </p:txBody>
      </p:sp>
      <p:sp>
        <p:nvSpPr>
          <p:cNvPr id="26" name="Shape 24"/>
          <p:cNvSpPr/>
          <p:nvPr/>
        </p:nvSpPr>
        <p:spPr>
          <a:xfrm>
            <a:off x="5801258" y="4343400"/>
            <a:ext cx="269229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4410" y="4343400"/>
            <a:ext cx="2545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ax-binfmt</a:t>
            </a:r>
            <a:endParaRPr lang="zh-CN" sz="13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识别与加载格式</a:t>
            </a:r>
            <a:endParaRPr lang="zh-CN" sz="1300" dirty="0"/>
          </a:p>
        </p:txBody>
      </p:sp>
      <p:sp>
        <p:nvSpPr>
          <p:cNvPr id="28" name="Shape 26"/>
          <p:cNvSpPr/>
          <p:nvPr/>
        </p:nvSpPr>
        <p:spPr>
          <a:xfrm>
            <a:off x="8676437" y="4343400"/>
            <a:ext cx="269229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49589" y="4343400"/>
            <a:ext cx="2545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ax-abi-port</a:t>
            </a:r>
            <a:endParaRPr lang="zh-CN" sz="13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能力端口</a:t>
            </a:r>
            <a:endParaRPr lang="zh-CN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303520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303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内核</a:t>
            </a:r>
            <a:endParaRPr lang="zh-CN" sz="1500" dirty="0"/>
          </a:p>
        </p:txBody>
      </p:sp>
      <p:sp>
        <p:nvSpPr>
          <p:cNvPr id="32" name="Shape 30"/>
          <p:cNvSpPr/>
          <p:nvPr/>
        </p:nvSpPr>
        <p:spPr>
          <a:xfrm>
            <a:off x="2926080" y="5440680"/>
            <a:ext cx="844265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99232" y="5440680"/>
            <a:ext cx="8296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StarryOS</a:t>
            </a:r>
            <a:endParaRPr lang="zh-CN" sz="13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fd 表、地址空间、线程、时钟：端口只实现一遍</a:t>
            </a:r>
            <a:endParaRPr lang="zh-CN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188720"/>
            <a:ext cx="1371600" cy="137160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2743200"/>
            <a:ext cx="457200" cy="457200"/>
          </a:xfrm>
          <a:prstGeom prst="star4">
            <a:avLst/>
          </a:prstGeom>
          <a:solidFill>
            <a:srgbClr val="C9D2EA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3108960"/>
            <a:ext cx="274320" cy="274320"/>
          </a:xfrm>
          <a:prstGeom prst="star4">
            <a:avLst/>
          </a:prstGeom>
          <a:solidFill>
            <a:srgbClr val="C9D2EA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600" b="1" dirty="0">
                <a:solidFill>
                  <a:srgbClr val="F2B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zh-CN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架构</a:t>
            </a:r>
            <a:endParaRPr lang="zh-CN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系统调用为什么能拆出来，拆出来之后怎么接回去</a:t>
            </a:r>
            <a:endParaRPr lang="zh-CN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04 架构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硬件还是硬件，软件还是软件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6400800" cy="731520"/>
          </a:xfrm>
          <a:prstGeom prst="roundRect">
            <a:avLst>
              <a:gd name="adj" fmla="val 15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应用程序</a:t>
            </a:r>
            <a:endParaRPr lang="zh-CN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2B441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</a:t>
            </a:r>
            <a:endParaRPr lang="zh-CN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sys_read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2834640" y="269748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2B441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Windows</a:t>
            </a:r>
            <a:endParaRPr lang="zh-CN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NtReadFile</a:t>
            </a:r>
            <a:endParaRPr lang="zh-CN" sz="1700" dirty="0"/>
          </a:p>
        </p:txBody>
      </p:sp>
      <p:sp>
        <p:nvSpPr>
          <p:cNvPr id="14" name="Shape 12"/>
          <p:cNvSpPr/>
          <p:nvPr/>
        </p:nvSpPr>
        <p:spPr>
          <a:xfrm>
            <a:off x="5029200" y="269748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2B441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macOS</a:t>
            </a:r>
            <a:endParaRPr lang="zh-CN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BSD read</a:t>
            </a:r>
            <a:endParaRPr lang="zh-CN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6400800" cy="731520"/>
          </a:xfrm>
          <a:prstGeom prst="roundRect">
            <a:avLst>
              <a:gd name="adj" fmla="val 15000"/>
            </a:avLst>
          </a:prstGeom>
          <a:solidFill>
            <a:srgbClr val="FBE9C4"/>
          </a:solidFill>
          <a:ln w="12700">
            <a:solidFill>
              <a:srgbClr val="FBE9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97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同一项能力：读文件</a:t>
            </a:r>
            <a:endParaRPr lang="zh-CN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6400800" cy="731520"/>
          </a:xfrm>
          <a:prstGeom prst="roundRect">
            <a:avLst>
              <a:gd name="adj" fmla="val 15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212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硬件</a:t>
            </a:r>
            <a:endParaRPr lang="zh-CN" sz="1700" dirty="0"/>
          </a:p>
        </p:txBody>
      </p:sp>
      <p:sp>
        <p:nvSpPr>
          <p:cNvPr id="21" name="Text 19"/>
          <p:cNvSpPr/>
          <p:nvPr/>
        </p:nvSpPr>
        <p:spPr>
          <a:xfrm>
            <a:off x="7498080" y="1783080"/>
            <a:ext cx="4053535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中间的操作系统，只是用不同的规范组织同一批能力。</a:t>
            </a:r>
            <a:endParaRPr lang="zh-CN" sz="1700" dirty="0"/>
          </a:p>
          <a:p>
            <a:pPr indent="0" marL="0">
              <a:spcAft>
                <a:spcPts val="1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系统调用是把能力接到应用上的那张表，像中断向量表。</a:t>
            </a:r>
            <a:endParaRPr lang="zh-CN" sz="1700" dirty="0"/>
          </a:p>
          <a:p>
            <a:pPr indent="0" marL="0">
              <a:spcAft>
                <a:spcPts val="1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把它与内核解耦：能力按 feature 注册，注册的排列组合成当前的 syscall。</a:t>
            </a:r>
            <a:endParaRPr lang="zh-CN" sz="1700" dirty="0"/>
          </a:p>
          <a:p>
            <a:pPr indent="0" marL="0">
              <a:spcAft>
                <a:spcPts val="1600"/>
              </a:spcAft>
              <a:buNone/>
            </a:pPr>
            <a:r>
              <a:rPr lang="zh-CN" altLang="en-US" sz="17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Linux、Windows、macOS 三种样式作为参考实现。</a:t>
            </a:r>
            <a:endParaRPr lang="zh-CN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04 架构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拆之前，拆之后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72888" cy="4114800"/>
          </a:xfrm>
          <a:prstGeom prst="roundRect">
            <a:avLst>
              <a:gd name="adj" fmla="val 2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6596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之前</a:t>
            </a:r>
            <a:endParaRPr lang="zh-CN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zh-CN" altLang="en-US" sz="18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加载器只认 ELF。</a:t>
            </a:r>
            <a:endParaRPr lang="zh-CN" sz="1800" dirty="0"/>
          </a:p>
          <a:p>
            <a:pPr indent="0" marL="0">
              <a:spcAft>
                <a:spcPts val="1600"/>
              </a:spcAft>
              <a:buNone/>
            </a:pPr>
            <a:r>
              <a:rPr lang="zh-CN" altLang="en-US" sz="18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handle_syscall 是一张按 Linux 调用号写死的表。</a:t>
            </a:r>
            <a:endParaRPr lang="zh-CN" sz="1800" dirty="0"/>
          </a:p>
          <a:p>
            <a:pPr indent="0" marL="0">
              <a:spcAft>
                <a:spcPts val="1600"/>
              </a:spcAft>
              <a:buNone/>
            </a:pPr>
            <a:r>
              <a:rPr lang="zh-CN" altLang="en-US" sz="18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错误只会编码成负 errno。</a:t>
            </a:r>
            <a:endParaRPr lang="zh-CN" sz="1800" dirty="0"/>
          </a:p>
          <a:p>
            <a:pPr indent="0" marL="0">
              <a:spcAft>
                <a:spcPts val="1600"/>
              </a:spcAft>
              <a:buNone/>
            </a:pPr>
            <a:r>
              <a:rPr lang="zh-CN" altLang="en-US" sz="18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想跑别的 ABI，只能改内核。</a:t>
            </a:r>
            <a:endParaRPr lang="zh-CN" sz="1800" dirty="0"/>
          </a:p>
        </p:txBody>
      </p:sp>
      <p:sp>
        <p:nvSpPr>
          <p:cNvPr id="10" name="Shape 8"/>
          <p:cNvSpPr/>
          <p:nvPr/>
        </p:nvSpPr>
        <p:spPr>
          <a:xfrm>
            <a:off x="6278728" y="1783080"/>
            <a:ext cx="5272888" cy="4114800"/>
          </a:xfrm>
          <a:prstGeom prst="roundRect">
            <a:avLst>
              <a:gd name="adj" fmla="val 2667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07328" y="196596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7328" y="196596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0B143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之后</a:t>
            </a:r>
            <a:endParaRPr lang="zh-CN" sz="1200" dirty="0"/>
          </a:p>
        </p:txBody>
      </p:sp>
      <p:sp>
        <p:nvSpPr>
          <p:cNvPr id="13" name="Text 11"/>
          <p:cNvSpPr/>
          <p:nvPr/>
        </p:nvSpPr>
        <p:spPr>
          <a:xfrm>
            <a:off x="6507328" y="251460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zh-CN" altLang="en-US" sz="180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内核只留能力端口，实现一遍。</a:t>
            </a:r>
            <a:endParaRPr lang="zh-CN" sz="1800" dirty="0"/>
          </a:p>
          <a:p>
            <a:pPr indent="0" marL="0">
              <a:spcAft>
                <a:spcPts val="1600"/>
              </a:spcAft>
              <a:buNone/>
            </a:pPr>
            <a:r>
              <a:rPr lang="zh-CN" altLang="en-US" sz="180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每套参考实现是一个包，链接进来就自己注册。</a:t>
            </a:r>
            <a:endParaRPr lang="zh-CN" sz="1800" dirty="0"/>
          </a:p>
          <a:p>
            <a:pPr indent="0" marL="0">
              <a:spcAft>
                <a:spcPts val="1600"/>
              </a:spcAft>
              <a:buNone/>
            </a:pPr>
            <a:r>
              <a:rPr lang="zh-CN" altLang="en-US" sz="180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返回值由实现自己写回：负 errno、NTSTATUS、errno 加进位标志。</a:t>
            </a:r>
            <a:endParaRPr lang="zh-CN" sz="1800" dirty="0"/>
          </a:p>
          <a:p>
            <a:pPr indent="0" marL="0">
              <a:spcAft>
                <a:spcPts val="1600"/>
              </a:spcAft>
              <a:buNone/>
            </a:pPr>
            <a:r>
              <a:rPr lang="zh-CN" altLang="en-US" sz="180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摘掉一个包，内核不用改。</a:t>
            </a:r>
            <a:endParaRPr lang="zh-CN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04 架构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两种用法：直接依赖对应的包，或用分发包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773936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直接依赖对应的包</a:t>
            </a:r>
            <a:endParaRPr lang="zh-CN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5272888" cy="2514600"/>
          </a:xfrm>
          <a:prstGeom prst="roundRect">
            <a:avLst>
              <a:gd name="adj" fmla="val 363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77440"/>
            <a:ext cx="48156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[dependencies]</a:t>
            </a:r>
            <a:endParaRPr lang="zh-CN" sz="13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ax-dispatch    = { workspace = true }</a:t>
            </a:r>
            <a:endParaRPr lang="zh-CN" sz="13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ax-binfmt      = { workspace = true }</a:t>
            </a:r>
            <a:endParaRPr lang="zh-CN" sz="13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ax-abi-port    = { workspace = true }</a:t>
            </a:r>
            <a:endParaRPr lang="zh-CN" sz="13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ax-abi-windows = { workspace = true }</a:t>
            </a:r>
            <a:endParaRPr lang="zh-CN" sz="1300" dirty="0"/>
          </a:p>
          <a:p>
            <a:pPr indent="0" marL="0">
              <a:spcAft>
                <a:spcPts val="200"/>
              </a:spcAft>
              <a:buNone/>
            </a:pPr>
            <a:endParaRPr lang="zh-CN" sz="13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分发策略自己写</a:t>
            </a:r>
            <a:endParaRPr lang="zh-CN" sz="13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 TrapDispatch for Mine { .. }</a:t>
            </a:r>
            <a:endParaRPr lang="zh-CN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527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只要其中一套，或者要自己的分发顺序时用。依赖哪个包，哪个包就在；策略由宿主实现。</a:t>
            </a:r>
            <a:endParaRPr lang="zh-CN" sz="1500" dirty="0"/>
          </a:p>
        </p:txBody>
      </p:sp>
      <p:sp>
        <p:nvSpPr>
          <p:cNvPr id="11" name="Shape 9"/>
          <p:cNvSpPr/>
          <p:nvPr/>
        </p:nvSpPr>
        <p:spPr>
          <a:xfrm>
            <a:off x="6278728" y="1783080"/>
            <a:ext cx="1042416" cy="310896"/>
          </a:xfrm>
          <a:prstGeom prst="roundRect">
            <a:avLst>
              <a:gd name="adj" fmla="val 23529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8728" y="178308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0B143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用分发包</a:t>
            </a:r>
            <a:endParaRPr lang="zh-CN" sz="1200" dirty="0"/>
          </a:p>
        </p:txBody>
      </p:sp>
      <p:sp>
        <p:nvSpPr>
          <p:cNvPr id="13" name="Shape 11"/>
          <p:cNvSpPr/>
          <p:nvPr/>
        </p:nvSpPr>
        <p:spPr>
          <a:xfrm>
            <a:off x="6278728" y="2240280"/>
            <a:ext cx="5272888" cy="2514600"/>
          </a:xfrm>
          <a:prstGeom prst="roundRect">
            <a:avLst>
              <a:gd name="adj" fmla="val 363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2377440"/>
            <a:ext cx="48156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[dependencies]</a:t>
            </a:r>
            <a:endParaRPr lang="zh-CN" sz="13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ax-abi = { workspace = true, features = [</a:t>
            </a:r>
            <a:endParaRPr lang="zh-CN" sz="13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"linux", "linux-elf", "auto-dispatch",</a:t>
            </a:r>
            <a:endParaRPr lang="zh-CN" sz="13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 }</a:t>
            </a:r>
            <a:endParaRPr lang="zh-CN" sz="1300" dirty="0"/>
          </a:p>
          <a:p>
            <a:pPr indent="0" marL="0">
              <a:spcAft>
                <a:spcPts val="200"/>
              </a:spcAft>
              <a:buNone/>
            </a:pPr>
            <a:endParaRPr lang="zh-CN" sz="13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[features]            # StarryOS 内核</a:t>
            </a:r>
            <a:endParaRPr lang="zh-CN" sz="13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abi-win = ["ax-abi/win"]</a:t>
            </a:r>
            <a:endParaRPr lang="zh-CN" sz="13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abi-mac = ["ax-abi/mac"]</a:t>
            </a:r>
            <a:endParaRPr lang="zh-CN" sz="1300" dirty="0"/>
          </a:p>
        </p:txBody>
      </p:sp>
      <p:sp>
        <p:nvSpPr>
          <p:cNvPr id="15" name="Text 13"/>
          <p:cNvSpPr/>
          <p:nvPr/>
        </p:nvSpPr>
        <p:spPr>
          <a:xfrm>
            <a:off x="6278728" y="4937760"/>
            <a:ext cx="5090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一个依赖拿全。feature 只决定哪些包进链接，进来的自己注册。分发包不做运行时选择，只给默认策略：按 abi_slot 取实现，没人认领的号交给扩展。</a:t>
            </a:r>
            <a:endParaRPr lang="zh-CN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04 架构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进程控制块的改造：记下任务属于哪套 ABI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4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 struct ProcessData {</a:t>
            </a:r>
            <a:endParaRPr lang="zh-CN" sz="14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4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..</a:t>
            </a:r>
            <a:endParaRPr lang="zh-CN" sz="14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4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/// 所属实现在注册表里的位置，加一；</a:t>
            </a:r>
            <a:endParaRPr lang="zh-CN" sz="14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4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/// 零表示还没定。</a:t>
            </a:r>
            <a:endParaRPr lang="zh-CN" sz="14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4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pub abi_slot: AtomicU32,</a:t>
            </a:r>
            <a:endParaRPr lang="zh-CN" sz="14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4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zh-CN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BE9C4"/>
          </a:solidFill>
          <a:ln w="12700">
            <a:solidFill>
              <a:srgbClr val="FBE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1480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5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为什么要记</a:t>
            </a:r>
            <a:endParaRPr lang="zh-CN" sz="15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调用号在不同 ABI 之间相撞：NT 的 WriteFile 与 Linux 的 write 在 x86-64 上都是 1。只按号分发会分错。</a:t>
            </a:r>
            <a:endParaRPr lang="zh-CN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42255" cy="1280160"/>
          </a:xfrm>
          <a:prstGeom prst="roundRect">
            <a:avLst>
              <a:gd name="adj" fmla="val 8571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984248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842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exec</a:t>
            </a:r>
            <a:endParaRPr lang="zh-CN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1892808"/>
            <a:ext cx="3870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加载器认出镜像格式，查到对应实现的位置，写进 abi_slot</a:t>
            </a:r>
            <a:endParaRPr lang="zh-CN" sz="1500" dirty="0"/>
          </a:p>
        </p:txBody>
      </p:sp>
      <p:sp>
        <p:nvSpPr>
          <p:cNvPr id="14" name="Text 12"/>
          <p:cNvSpPr/>
          <p:nvPr/>
        </p:nvSpPr>
        <p:spPr>
          <a:xfrm>
            <a:off x="7498080" y="2606040"/>
            <a:ext cx="3870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slot_of(format.abi())</a:t>
            </a:r>
            <a:endParaRPr lang="zh-CN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200400"/>
            <a:ext cx="5242255" cy="1280160"/>
          </a:xfrm>
          <a:prstGeom prst="roundRect">
            <a:avLst>
              <a:gd name="adj" fmla="val 8571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3401568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40156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fork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3310128"/>
            <a:ext cx="3870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子进程照抄父进程的值；再 exec 时按新镜像重置</a:t>
            </a:r>
            <a:endParaRPr lang="zh-CN" sz="1500" dirty="0"/>
          </a:p>
        </p:txBody>
      </p:sp>
      <p:sp>
        <p:nvSpPr>
          <p:cNvPr id="19" name="Text 17"/>
          <p:cNvSpPr/>
          <p:nvPr/>
        </p:nvSpPr>
        <p:spPr>
          <a:xfrm>
            <a:off x="7498080" y="4023360"/>
            <a:ext cx="3870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child.abi_slot = parent.abi_slot</a:t>
            </a:r>
            <a:endParaRPr lang="zh-CN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617720"/>
            <a:ext cx="5242255" cy="1280160"/>
          </a:xfrm>
          <a:prstGeom prst="roundRect">
            <a:avLst>
              <a:gd name="adj" fmla="val 8571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818888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8188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陷入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4727448"/>
            <a:ext cx="3870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读出 abi_slot，按下标直接取实现；不搜索，不比较</a:t>
            </a:r>
            <a:endParaRPr lang="zh-CN" sz="1500" dirty="0"/>
          </a:p>
        </p:txBody>
      </p:sp>
      <p:sp>
        <p:nvSpPr>
          <p:cNvPr id="24" name="Text 22"/>
          <p:cNvSpPr/>
          <p:nvPr/>
        </p:nvSpPr>
        <p:spPr>
          <a:xfrm>
            <a:off x="7498080" y="5440680"/>
            <a:ext cx="3870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dispatch_at(slot, env)</a:t>
            </a:r>
            <a:endParaRPr lang="zh-CN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04 架构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一次陷入怎么走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627632" cy="1737360"/>
          </a:xfrm>
          <a:prstGeom prst="roundRect">
            <a:avLst>
              <a:gd name="adj" fmla="val 6742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659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用户态陷入</a:t>
            </a:r>
            <a:endParaRPr lang="zh-CN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5603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syscall 指令</a:t>
            </a:r>
            <a:endParaRPr lang="zh-CN" sz="1300" dirty="0"/>
          </a:p>
        </p:txBody>
      </p:sp>
      <p:sp>
        <p:nvSpPr>
          <p:cNvPr id="9" name="Shape 7"/>
          <p:cNvSpPr/>
          <p:nvPr/>
        </p:nvSpPr>
        <p:spPr>
          <a:xfrm>
            <a:off x="2290572" y="256032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1783080"/>
            <a:ext cx="1627632" cy="1737360"/>
          </a:xfrm>
          <a:prstGeom prst="roundRect">
            <a:avLst>
              <a:gd name="adj" fmla="val 6742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9464" y="19659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handle_syscall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5603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内核入口</a:t>
            </a:r>
            <a:endParaRPr lang="zh-CN" sz="1300" dirty="0"/>
          </a:p>
        </p:txBody>
      </p:sp>
      <p:sp>
        <p:nvSpPr>
          <p:cNvPr id="13" name="Shape 11"/>
          <p:cNvSpPr/>
          <p:nvPr/>
        </p:nvSpPr>
        <p:spPr>
          <a:xfrm>
            <a:off x="4146804" y="256032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2544" y="1783080"/>
            <a:ext cx="1627632" cy="1737360"/>
          </a:xfrm>
          <a:prstGeom prst="roundRect">
            <a:avLst>
              <a:gd name="adj" fmla="val 6742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19659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TrapDispatch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4462272" y="25603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分发包的策略</a:t>
            </a:r>
            <a:endParaRPr lang="zh-CN" sz="1300" dirty="0"/>
          </a:p>
        </p:txBody>
      </p:sp>
      <p:sp>
        <p:nvSpPr>
          <p:cNvPr id="17" name="Shape 15"/>
          <p:cNvSpPr/>
          <p:nvPr/>
        </p:nvSpPr>
        <p:spPr>
          <a:xfrm>
            <a:off x="6003036" y="256032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8776" y="1783080"/>
            <a:ext cx="1627632" cy="1737360"/>
          </a:xfrm>
          <a:prstGeom prst="roundRect">
            <a:avLst>
              <a:gd name="adj" fmla="val 6742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9659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dispatch_at</a:t>
            </a:r>
            <a:endParaRPr lang="zh-CN" sz="1200" dirty="0"/>
          </a:p>
        </p:txBody>
      </p:sp>
      <p:sp>
        <p:nvSpPr>
          <p:cNvPr id="20" name="Text 18"/>
          <p:cNvSpPr/>
          <p:nvPr/>
        </p:nvSpPr>
        <p:spPr>
          <a:xfrm>
            <a:off x="6318504" y="25603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按 abi_slot 取实现</a:t>
            </a:r>
            <a:endParaRPr lang="zh-CN" sz="1300" dirty="0"/>
          </a:p>
        </p:txBody>
      </p:sp>
      <p:sp>
        <p:nvSpPr>
          <p:cNvPr id="21" name="Shape 19"/>
          <p:cNvSpPr/>
          <p:nvPr/>
        </p:nvSpPr>
        <p:spPr>
          <a:xfrm>
            <a:off x="7859268" y="256032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65008" y="1783080"/>
            <a:ext cx="1627632" cy="1737360"/>
          </a:xfrm>
          <a:prstGeom prst="roundRect">
            <a:avLst>
              <a:gd name="adj" fmla="val 6742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19659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2B441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参考实现</a:t>
            </a:r>
            <a:endParaRPr lang="zh-CN" sz="1400" dirty="0"/>
          </a:p>
        </p:txBody>
      </p:sp>
      <p:sp>
        <p:nvSpPr>
          <p:cNvPr id="24" name="Text 22"/>
          <p:cNvSpPr/>
          <p:nvPr/>
        </p:nvSpPr>
        <p:spPr>
          <a:xfrm>
            <a:off x="8174736" y="25603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校验参数，决定语义与错误码</a:t>
            </a:r>
            <a:endParaRPr lang="zh-CN" sz="1300" dirty="0"/>
          </a:p>
        </p:txBody>
      </p:sp>
      <p:sp>
        <p:nvSpPr>
          <p:cNvPr id="25" name="Shape 23"/>
          <p:cNvSpPr/>
          <p:nvPr/>
        </p:nvSpPr>
        <p:spPr>
          <a:xfrm>
            <a:off x="9715500" y="256032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1240" y="1783080"/>
            <a:ext cx="1627632" cy="1737360"/>
          </a:xfrm>
          <a:prstGeom prst="roundRect">
            <a:avLst>
              <a:gd name="adj" fmla="val 6742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94392" y="19659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能力端口</a:t>
            </a:r>
            <a:endParaRPr lang="zh-CN" sz="1400" dirty="0"/>
          </a:p>
        </p:txBody>
      </p:sp>
      <p:sp>
        <p:nvSpPr>
          <p:cNvPr id="28" name="Text 26"/>
          <p:cNvSpPr/>
          <p:nvPr/>
        </p:nvSpPr>
        <p:spPr>
          <a:xfrm>
            <a:off x="10030968" y="25603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读写 fd 表、地址空间、线程</a:t>
            </a:r>
            <a:endParaRPr lang="zh-CN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返回值由认领的实现自己写回陷入帧</a:t>
            </a:r>
            <a:endParaRPr lang="zh-CN" sz="1700" dirty="0"/>
          </a:p>
        </p:txBody>
      </p:sp>
      <p:sp>
        <p:nvSpPr>
          <p:cNvPr id="30" name="Shape 28"/>
          <p:cNvSpPr/>
          <p:nvPr/>
        </p:nvSpPr>
        <p:spPr>
          <a:xfrm>
            <a:off x="640080" y="4389120"/>
            <a:ext cx="3484778" cy="914400"/>
          </a:xfrm>
          <a:prstGeom prst="roundRect">
            <a:avLst>
              <a:gd name="adj" fmla="val 12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389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</a:t>
            </a:r>
            <a:endParaRPr lang="zh-CN" sz="1600" dirty="0"/>
          </a:p>
        </p:txBody>
      </p:sp>
      <p:sp>
        <p:nvSpPr>
          <p:cNvPr id="32" name="Text 30"/>
          <p:cNvSpPr/>
          <p:nvPr/>
        </p:nvSpPr>
        <p:spPr>
          <a:xfrm>
            <a:off x="2057400" y="4389120"/>
            <a:ext cx="1930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负 errno</a:t>
            </a:r>
            <a:endParaRPr lang="zh-CN" sz="1500" dirty="0"/>
          </a:p>
        </p:txBody>
      </p:sp>
      <p:sp>
        <p:nvSpPr>
          <p:cNvPr id="33" name="Shape 31"/>
          <p:cNvSpPr/>
          <p:nvPr/>
        </p:nvSpPr>
        <p:spPr>
          <a:xfrm>
            <a:off x="4353458" y="4389120"/>
            <a:ext cx="3484778" cy="914400"/>
          </a:xfrm>
          <a:prstGeom prst="roundRect">
            <a:avLst>
              <a:gd name="adj" fmla="val 12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82058" y="4389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Windows</a:t>
            </a:r>
            <a:endParaRPr lang="zh-CN" sz="1600" dirty="0"/>
          </a:p>
        </p:txBody>
      </p:sp>
      <p:sp>
        <p:nvSpPr>
          <p:cNvPr id="35" name="Text 33"/>
          <p:cNvSpPr/>
          <p:nvPr/>
        </p:nvSpPr>
        <p:spPr>
          <a:xfrm>
            <a:off x="5770778" y="4389120"/>
            <a:ext cx="1930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NTSTATUS</a:t>
            </a:r>
            <a:endParaRPr lang="zh-CN" sz="1500" dirty="0"/>
          </a:p>
        </p:txBody>
      </p:sp>
      <p:sp>
        <p:nvSpPr>
          <p:cNvPr id="36" name="Shape 34"/>
          <p:cNvSpPr/>
          <p:nvPr/>
        </p:nvSpPr>
        <p:spPr>
          <a:xfrm>
            <a:off x="8066837" y="4389120"/>
            <a:ext cx="3484778" cy="914400"/>
          </a:xfrm>
          <a:prstGeom prst="roundRect">
            <a:avLst>
              <a:gd name="adj" fmla="val 12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95437" y="4389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Darwin</a:t>
            </a:r>
            <a:endParaRPr lang="zh-CN" sz="1600" dirty="0"/>
          </a:p>
        </p:txBody>
      </p:sp>
      <p:sp>
        <p:nvSpPr>
          <p:cNvPr id="38" name="Text 36"/>
          <p:cNvSpPr/>
          <p:nvPr/>
        </p:nvSpPr>
        <p:spPr>
          <a:xfrm>
            <a:off x="9484157" y="4389120"/>
            <a:ext cx="1930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errno，并抬起进位标志</a:t>
            </a:r>
            <a:endParaRPr lang="zh-CN" sz="1500" dirty="0"/>
          </a:p>
        </p:txBody>
      </p:sp>
      <p:sp>
        <p:nvSpPr>
          <p:cNvPr id="39" name="Text 37"/>
          <p:cNvSpPr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参考实现只依赖端口，不依赖内核类型；用模拟端口就能在宿主机上做单元测试。</a:t>
            </a:r>
            <a:endParaRPr lang="zh-CN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04 架构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三种系统调用风格：稳定的边界在哪一层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</a:t>
            </a:r>
            <a:endParaRPr lang="zh-CN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97480"/>
                <a:gridCol w="3246120"/>
                <a:gridCol w="304495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Linux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Windows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macOS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稳定的边界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调用号本身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DLL 导出的函数名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libSystem 导出的符号名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应用怎么找到调用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自己或静态链接的 libc 执行 syscall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导入表写「库名加函数名」，加载器绑定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bind 操作码流写「库序号加符号名」，dyld 绑定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调用号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固定：x86-64 上 write 一直是 1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随版本变：NtCreateThreadEx 在 Win7 是 0xA5，Win11 24H2 是 0xC9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不承诺稳定；高位带类别：2 是 BSD，1 是 Mach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谁知道调用号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应用自己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只有与内核同版本的 ntdll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只有与内核同版本的 libSystem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出错怎么报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负 errno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NTSTATUS，kernel32 再转成 GetLastError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进位标志加 errno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原生的接口层在哪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内核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用户态：kernel32 到 ntdll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用户态：libSystem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我们放在哪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ax-abi-linux：按号分发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ax-abi-windows：加载器与 Win32 入口都在包里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ax-abi-darwin：加载器与 libSystem 入口都在包里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C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98932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后两家的接口层原本在用户态，靠名字找到；我们把它移进随内核运行的包。Windows 的调用号取自 j00ru/windows-syscalls 的 x64 表。</a:t>
            </a:r>
            <a:endParaRPr lang="zh-CN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04 架构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Windows：调用号在 ntdll 里，应用只认函数名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03911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391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0B143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原生 Windows</a:t>
            </a:r>
            <a:endParaRPr lang="zh-CN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69164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76479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python.exe</a:t>
            </a:r>
            <a:endParaRPr lang="zh-CN" sz="1300" dirty="0"/>
          </a:p>
        </p:txBody>
      </p:sp>
      <p:sp>
        <p:nvSpPr>
          <p:cNvPr id="10" name="Text 8"/>
          <p:cNvSpPr/>
          <p:nvPr/>
        </p:nvSpPr>
        <p:spPr>
          <a:xfrm>
            <a:off x="2057400" y="209397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导入表写着 KERNEL32.dll 的 WriteFile：库名加函数名</a:t>
            </a:r>
            <a:endParaRPr lang="zh-CN" sz="1200" dirty="0"/>
          </a:p>
        </p:txBody>
      </p:sp>
      <p:sp>
        <p:nvSpPr>
          <p:cNvPr id="11" name="Shape 9"/>
          <p:cNvSpPr/>
          <p:nvPr/>
        </p:nvSpPr>
        <p:spPr>
          <a:xfrm>
            <a:off x="4172636" y="210312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92092" y="169164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9252" y="176479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kernel32.dll</a:t>
            </a:r>
            <a:endParaRPr lang="zh-CN" sz="1300" dirty="0"/>
          </a:p>
        </p:txBody>
      </p:sp>
      <p:sp>
        <p:nvSpPr>
          <p:cNvPr id="14" name="Text 12"/>
          <p:cNvSpPr/>
          <p:nvPr/>
        </p:nvSpPr>
        <p:spPr>
          <a:xfrm>
            <a:off x="4529252" y="209397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Win32 的语义在这里：检查参数，转成 NT 调用</a:t>
            </a:r>
            <a:endParaRPr lang="zh-CN" sz="1200" dirty="0"/>
          </a:p>
        </p:txBody>
      </p:sp>
      <p:sp>
        <p:nvSpPr>
          <p:cNvPr id="15" name="Shape 13"/>
          <p:cNvSpPr/>
          <p:nvPr/>
        </p:nvSpPr>
        <p:spPr>
          <a:xfrm>
            <a:off x="6644488" y="210312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63944" y="169164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1104" y="176479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ntdll.dll</a:t>
            </a:r>
            <a:endParaRPr lang="zh-CN" sz="1300" dirty="0"/>
          </a:p>
        </p:txBody>
      </p:sp>
      <p:sp>
        <p:nvSpPr>
          <p:cNvPr id="18" name="Text 16"/>
          <p:cNvSpPr/>
          <p:nvPr/>
        </p:nvSpPr>
        <p:spPr>
          <a:xfrm>
            <a:off x="7001104" y="209397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NtWriteFile：mov eax, 8 后 syscall。加载器也在这里</a:t>
            </a:r>
            <a:endParaRPr lang="zh-CN" sz="1200" dirty="0"/>
          </a:p>
        </p:txBody>
      </p:sp>
      <p:sp>
        <p:nvSpPr>
          <p:cNvPr id="19" name="Shape 17"/>
          <p:cNvSpPr/>
          <p:nvPr/>
        </p:nvSpPr>
        <p:spPr>
          <a:xfrm>
            <a:off x="9116339" y="210312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35795" y="169164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2955" y="176479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F2B441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ntoskrnl.exe</a:t>
            </a:r>
            <a:endParaRPr lang="zh-CN" sz="1300" dirty="0"/>
          </a:p>
        </p:txBody>
      </p:sp>
      <p:sp>
        <p:nvSpPr>
          <p:cNvPr id="22" name="Text 20"/>
          <p:cNvSpPr/>
          <p:nvPr/>
        </p:nvSpPr>
        <p:spPr>
          <a:xfrm>
            <a:off x="9472955" y="209397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按号查服务表。号与同版本的 ntdll 一一对应</a:t>
            </a:r>
            <a:endParaRPr lang="zh-CN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1363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363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0B143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StarryOS</a:t>
            </a:r>
            <a:endParaRPr lang="zh-CN" sz="1200" dirty="0"/>
          </a:p>
        </p:txBody>
      </p:sp>
      <p:sp>
        <p:nvSpPr>
          <p:cNvPr id="25" name="Shape 23"/>
          <p:cNvSpPr/>
          <p:nvPr/>
        </p:nvSpPr>
        <p:spPr>
          <a:xfrm>
            <a:off x="1920240" y="278892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286207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python.exe</a:t>
            </a:r>
            <a:endParaRPr lang="zh-CN" sz="1300" dirty="0"/>
          </a:p>
        </p:txBody>
      </p:sp>
      <p:sp>
        <p:nvSpPr>
          <p:cNvPr id="27" name="Text 25"/>
          <p:cNvSpPr/>
          <p:nvPr/>
        </p:nvSpPr>
        <p:spPr>
          <a:xfrm>
            <a:off x="2057400" y="319125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同一份文件，不改</a:t>
            </a:r>
            <a:endParaRPr lang="zh-CN" sz="1200" dirty="0"/>
          </a:p>
        </p:txBody>
      </p:sp>
      <p:sp>
        <p:nvSpPr>
          <p:cNvPr id="28" name="Shape 26"/>
          <p:cNvSpPr/>
          <p:nvPr/>
        </p:nvSpPr>
        <p:spPr>
          <a:xfrm>
            <a:off x="4172636" y="320040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92092" y="278892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9252" y="286207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F2B441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包里的加载器</a:t>
            </a:r>
            <a:endParaRPr lang="zh-CN" sz="1300" dirty="0"/>
          </a:p>
        </p:txBody>
      </p:sp>
      <p:sp>
        <p:nvSpPr>
          <p:cNvPr id="31" name="Text 29"/>
          <p:cNvSpPr/>
          <p:nvPr/>
        </p:nvSpPr>
        <p:spPr>
          <a:xfrm>
            <a:off x="4529252" y="319125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走导入表。系统库不是文件，每个导入绑到一段合成指令</a:t>
            </a:r>
            <a:endParaRPr lang="zh-CN" sz="1200" dirty="0"/>
          </a:p>
        </p:txBody>
      </p:sp>
      <p:sp>
        <p:nvSpPr>
          <p:cNvPr id="32" name="Shape 30"/>
          <p:cNvSpPr/>
          <p:nvPr/>
        </p:nvSpPr>
        <p:spPr>
          <a:xfrm>
            <a:off x="6644488" y="320040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63944" y="278892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01104" y="286207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合成指令</a:t>
            </a:r>
            <a:endParaRPr lang="zh-CN" sz="1300" dirty="0"/>
          </a:p>
        </p:txBody>
      </p:sp>
      <p:sp>
        <p:nvSpPr>
          <p:cNvPr id="35" name="Text 33"/>
          <p:cNvSpPr/>
          <p:nvPr/>
        </p:nvSpPr>
        <p:spPr>
          <a:xfrm>
            <a:off x="7001104" y="319125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换参数寄存器，mov eax, 0x1000+i 后 syscall</a:t>
            </a:r>
            <a:endParaRPr lang="zh-CN" sz="1200" dirty="0"/>
          </a:p>
        </p:txBody>
      </p:sp>
      <p:sp>
        <p:nvSpPr>
          <p:cNvPr id="36" name="Shape 34"/>
          <p:cNvSpPr/>
          <p:nvPr/>
        </p:nvSpPr>
        <p:spPr>
          <a:xfrm>
            <a:off x="9116339" y="320040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35795" y="278892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72955" y="286207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F2B441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ax-abi-windows</a:t>
            </a:r>
            <a:endParaRPr lang="zh-CN" sz="1300" dirty="0"/>
          </a:p>
        </p:txBody>
      </p:sp>
      <p:sp>
        <p:nvSpPr>
          <p:cNvPr id="39" name="Text 37"/>
          <p:cNvSpPr/>
          <p:nvPr/>
        </p:nvSpPr>
        <p:spPr>
          <a:xfrm>
            <a:off x="9472955" y="319125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Win32 的语义在这里，经能力端口落到内核</a:t>
            </a:r>
            <a:endParaRPr lang="zh-CN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3877056"/>
            <a:ext cx="1956816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87705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一个入口的合成指令</a:t>
            </a:r>
            <a:endParaRPr lang="zh-CN" sz="1100" dirty="0"/>
          </a:p>
        </p:txBody>
      </p:sp>
      <p:sp>
        <p:nvSpPr>
          <p:cNvPr id="42" name="Text 40"/>
          <p:cNvSpPr/>
          <p:nvPr/>
        </p:nvSpPr>
        <p:spPr>
          <a:xfrm>
            <a:off x="2779776" y="3877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浅色在用户态，深色在内核态。</a:t>
            </a:r>
            <a:endParaRPr lang="zh-CN" sz="1150" dirty="0"/>
          </a:p>
        </p:txBody>
      </p:sp>
      <p:sp>
        <p:nvSpPr>
          <p:cNvPr id="43" name="Shape 41"/>
          <p:cNvSpPr/>
          <p:nvPr/>
        </p:nvSpPr>
        <p:spPr>
          <a:xfrm>
            <a:off x="640080" y="4261104"/>
            <a:ext cx="5394960" cy="2066544"/>
          </a:xfrm>
          <a:prstGeom prst="roundRect">
            <a:avLst>
              <a:gd name="adj" fmla="val 4425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4398264"/>
            <a:ext cx="49377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push rdi / push rsi     ; Windows 里这两个归调用者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  rdi, rcx           ; 参数 1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  rsi, rdx           ; 参数 2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  r10, r9            ; 参数 4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  rdx, r8            ; 参数 3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  r8,  [rsp+0x38]    ; 参数 5、6 在栈上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  r9,  [rsp+0x40]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  eax, 0x1000 + i    ; 入口在表里的下标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syscall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pop rsi / pop rdi / ret</a:t>
            </a:r>
            <a:endParaRPr lang="zh-CN" sz="1000" dirty="0"/>
          </a:p>
        </p:txBody>
      </p:sp>
      <p:sp>
        <p:nvSpPr>
          <p:cNvPr id="45" name="Text 43"/>
          <p:cNvSpPr/>
          <p:nvPr/>
        </p:nvSpPr>
        <p:spPr>
          <a:xfrm>
            <a:off x="6355080" y="4261104"/>
            <a:ext cx="4739335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14 个系统库共 421 个入口在进程里合成：KERNEL32 306 个，WS2_32 50 个，ADVAPI32 28 个</a:t>
            </a:r>
            <a:endParaRPr lang="zh-CN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号是自己表里的下标，程序看不到，不随 Windows 版本变</a:t>
            </a:r>
            <a:endParaRPr lang="zh-CN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随程序发布的 DLL 照常按 PE 映射：python314、vcruntime140、ucrtbase、各 .pyd</a:t>
            </a:r>
            <a:endParaRPr lang="zh-CN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合成库带导出目录，GetModuleHandleW 加 GetProcAddress 照样能答</a:t>
            </a:r>
            <a:endParaRPr lang="zh-CN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建 TEB 与 PEB，gs 指向 TEB；先跑各 DLL 的入口，再进程序</a:t>
            </a:r>
            <a:endParaRPr lang="zh-CN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04 架构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macOS：调用号在 libSystem 里，应用只认符号名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03911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391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0B143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原生 macOS</a:t>
            </a:r>
            <a:endParaRPr lang="zh-CN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69164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76479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python3.14</a:t>
            </a:r>
            <a:endParaRPr lang="zh-CN" sz="1300" dirty="0"/>
          </a:p>
        </p:txBody>
      </p:sp>
      <p:sp>
        <p:nvSpPr>
          <p:cNvPr id="10" name="Text 8"/>
          <p:cNvSpPr/>
          <p:nvPr/>
        </p:nvSpPr>
        <p:spPr>
          <a:xfrm>
            <a:off x="2057400" y="209397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bind 流写着 libSystem 的 _write：库序号加符号名</a:t>
            </a:r>
            <a:endParaRPr lang="zh-CN" sz="1200" dirty="0"/>
          </a:p>
        </p:txBody>
      </p:sp>
      <p:sp>
        <p:nvSpPr>
          <p:cNvPr id="11" name="Shape 9"/>
          <p:cNvSpPr/>
          <p:nvPr/>
        </p:nvSpPr>
        <p:spPr>
          <a:xfrm>
            <a:off x="4172636" y="210312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92092" y="169164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9252" y="176479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dyld</a:t>
            </a:r>
            <a:endParaRPr lang="zh-CN" sz="1300" dirty="0"/>
          </a:p>
        </p:txBody>
      </p:sp>
      <p:sp>
        <p:nvSpPr>
          <p:cNvPr id="14" name="Text 12"/>
          <p:cNvSpPr/>
          <p:nvPr/>
        </p:nvSpPr>
        <p:spPr>
          <a:xfrm>
            <a:off x="4529252" y="209397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映射各库，读操作码流，按符号名绑定</a:t>
            </a:r>
            <a:endParaRPr lang="zh-CN" sz="1200" dirty="0"/>
          </a:p>
        </p:txBody>
      </p:sp>
      <p:sp>
        <p:nvSpPr>
          <p:cNvPr id="15" name="Shape 13"/>
          <p:cNvSpPr/>
          <p:nvPr/>
        </p:nvSpPr>
        <p:spPr>
          <a:xfrm>
            <a:off x="6644488" y="210312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63944" y="169164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1104" y="176479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libSystem</a:t>
            </a:r>
            <a:endParaRPr lang="zh-CN" sz="1300" dirty="0"/>
          </a:p>
        </p:txBody>
      </p:sp>
      <p:sp>
        <p:nvSpPr>
          <p:cNvPr id="18" name="Text 16"/>
          <p:cNvSpPr/>
          <p:nvPr/>
        </p:nvSpPr>
        <p:spPr>
          <a:xfrm>
            <a:off x="7001104" y="209397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_write：mov eax, 0x2000004 后 syscall</a:t>
            </a:r>
            <a:endParaRPr lang="zh-CN" sz="1200" dirty="0"/>
          </a:p>
        </p:txBody>
      </p:sp>
      <p:sp>
        <p:nvSpPr>
          <p:cNvPr id="19" name="Shape 17"/>
          <p:cNvSpPr/>
          <p:nvPr/>
        </p:nvSpPr>
        <p:spPr>
          <a:xfrm>
            <a:off x="9116339" y="210312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35795" y="169164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2955" y="176479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F2B441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XNU</a:t>
            </a:r>
            <a:endParaRPr lang="zh-CN" sz="1300" dirty="0"/>
          </a:p>
        </p:txBody>
      </p:sp>
      <p:sp>
        <p:nvSpPr>
          <p:cNvPr id="22" name="Text 20"/>
          <p:cNvSpPr/>
          <p:nvPr/>
        </p:nvSpPr>
        <p:spPr>
          <a:xfrm>
            <a:off x="9472955" y="209397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按类别与号分发：2 是 BSD，1 是 Mach</a:t>
            </a:r>
            <a:endParaRPr lang="zh-CN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1363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363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0B143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StarryOS</a:t>
            </a:r>
            <a:endParaRPr lang="zh-CN" sz="1200" dirty="0"/>
          </a:p>
        </p:txBody>
      </p:sp>
      <p:sp>
        <p:nvSpPr>
          <p:cNvPr id="25" name="Shape 23"/>
          <p:cNvSpPr/>
          <p:nvPr/>
        </p:nvSpPr>
        <p:spPr>
          <a:xfrm>
            <a:off x="1920240" y="278892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286207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python3.14</a:t>
            </a:r>
            <a:endParaRPr lang="zh-CN" sz="1300" dirty="0"/>
          </a:p>
        </p:txBody>
      </p:sp>
      <p:sp>
        <p:nvSpPr>
          <p:cNvPr id="27" name="Text 25"/>
          <p:cNvSpPr/>
          <p:nvPr/>
        </p:nvSpPr>
        <p:spPr>
          <a:xfrm>
            <a:off x="2057400" y="319125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同一份文件，不改</a:t>
            </a:r>
            <a:endParaRPr lang="zh-CN" sz="1200" dirty="0"/>
          </a:p>
        </p:txBody>
      </p:sp>
      <p:sp>
        <p:nvSpPr>
          <p:cNvPr id="28" name="Shape 26"/>
          <p:cNvSpPr/>
          <p:nvPr/>
        </p:nvSpPr>
        <p:spPr>
          <a:xfrm>
            <a:off x="4172636" y="320040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92092" y="278892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9252" y="286207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F2B441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包里的加载器</a:t>
            </a:r>
            <a:endParaRPr lang="zh-CN" sz="1300" dirty="0"/>
          </a:p>
        </p:txBody>
      </p:sp>
      <p:sp>
        <p:nvSpPr>
          <p:cNvPr id="31" name="Text 29"/>
          <p:cNvSpPr/>
          <p:nvPr/>
        </p:nvSpPr>
        <p:spPr>
          <a:xfrm>
            <a:off x="4529252" y="319125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读 rebase 与 bind 两条操作码流，启动前全部绑完</a:t>
            </a:r>
            <a:endParaRPr lang="zh-CN" sz="1200" dirty="0"/>
          </a:p>
        </p:txBody>
      </p:sp>
      <p:sp>
        <p:nvSpPr>
          <p:cNvPr id="32" name="Shape 30"/>
          <p:cNvSpPr/>
          <p:nvPr/>
        </p:nvSpPr>
        <p:spPr>
          <a:xfrm>
            <a:off x="6644488" y="320040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63944" y="278892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01104" y="286207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合成的 libSystem</a:t>
            </a:r>
            <a:endParaRPr lang="zh-CN" sz="1300" dirty="0"/>
          </a:p>
        </p:txBody>
      </p:sp>
      <p:sp>
        <p:nvSpPr>
          <p:cNvPr id="35" name="Text 33"/>
          <p:cNvSpPr/>
          <p:nvPr/>
        </p:nvSpPr>
        <p:spPr>
          <a:xfrm>
            <a:off x="7001104" y="319125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每个入口一段指令：挪开 rcx 后 syscall</a:t>
            </a:r>
            <a:endParaRPr lang="zh-CN" sz="1200" dirty="0"/>
          </a:p>
        </p:txBody>
      </p:sp>
      <p:sp>
        <p:nvSpPr>
          <p:cNvPr id="36" name="Shape 34"/>
          <p:cNvSpPr/>
          <p:nvPr/>
        </p:nvSpPr>
        <p:spPr>
          <a:xfrm>
            <a:off x="9116339" y="3200400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35795" y="2788920"/>
            <a:ext cx="2215820" cy="1005840"/>
          </a:xfrm>
          <a:prstGeom prst="roundRect">
            <a:avLst>
              <a:gd name="adj" fmla="val 1090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72955" y="2862072"/>
            <a:ext cx="1941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F2B441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ax-abi-darwin</a:t>
            </a:r>
            <a:endParaRPr lang="zh-CN" sz="1300" dirty="0"/>
          </a:p>
        </p:txBody>
      </p:sp>
      <p:sp>
        <p:nvSpPr>
          <p:cNvPr id="39" name="Text 37"/>
          <p:cNvSpPr/>
          <p:nvPr/>
        </p:nvSpPr>
        <p:spPr>
          <a:xfrm>
            <a:off x="9472955" y="3191256"/>
            <a:ext cx="1941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libc 的函数体在这里，经能力端口落到内核</a:t>
            </a:r>
            <a:endParaRPr lang="zh-CN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3877056"/>
            <a:ext cx="1956816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87705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一个入口的合成指令</a:t>
            </a:r>
            <a:endParaRPr lang="zh-CN" sz="1100" dirty="0"/>
          </a:p>
        </p:txBody>
      </p:sp>
      <p:sp>
        <p:nvSpPr>
          <p:cNvPr id="42" name="Text 40"/>
          <p:cNvSpPr/>
          <p:nvPr/>
        </p:nvSpPr>
        <p:spPr>
          <a:xfrm>
            <a:off x="2779776" y="3877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浅色在用户态，深色在内核态。</a:t>
            </a:r>
            <a:endParaRPr lang="zh-CN" sz="1150" dirty="0"/>
          </a:p>
        </p:txBody>
      </p:sp>
      <p:sp>
        <p:nvSpPr>
          <p:cNvPr id="43" name="Shape 41"/>
          <p:cNvSpPr/>
          <p:nvPr/>
        </p:nvSpPr>
        <p:spPr>
          <a:xfrm>
            <a:off x="640080" y="4261104"/>
            <a:ext cx="5394960" cy="2066544"/>
          </a:xfrm>
          <a:prstGeom prst="roundRect">
            <a:avLst>
              <a:gd name="adj" fmla="val 4425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4398264"/>
            <a:ext cx="49377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  r10, rcx             ; syscall 会毁掉 rcx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  eax, 0x0F000000 + i  ; 入口在表里的下标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syscall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jnc  done                 ; 进位标志：出错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  rcx, gs:[0]          ; 线程块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  [rcx + errno], eax   ; 按 C 的方式写 errno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   rax, -1              ; 返回 -1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done: ret</a:t>
            </a:r>
            <a:endParaRPr lang="zh-CN" sz="1000" dirty="0"/>
          </a:p>
        </p:txBody>
      </p:sp>
      <p:sp>
        <p:nvSpPr>
          <p:cNvPr id="45" name="Text 43"/>
          <p:cNvSpPr/>
          <p:nvPr/>
        </p:nvSpPr>
        <p:spPr>
          <a:xfrm>
            <a:off x="6355080" y="4261104"/>
            <a:ext cx="4739335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Darwin 的 C 调用约定与陷入约定只差 rcx，所以比 Windows 的那段短</a:t>
            </a:r>
            <a:endParaRPr lang="zh-CN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号从 0x0F000000 起：Darwin 自己的号高位只用 1 到 4 作类别，不会相撞</a:t>
            </a:r>
            <a:endParaRPr lang="zh-CN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表按官方 CPython 3.14 的绑定列出：342 个入口，8 个变量（environ、stderr 等）</a:t>
            </a:r>
            <a:endParaRPr lang="zh-CN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启动前绑完：缺一个符号就拒绝加载，不会跑到一半才失败</a:t>
            </a:r>
            <a:endParaRPr lang="zh-CN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04 架构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加载器的接口：格式自己注册，内核按文件头分发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760720" cy="3154680"/>
          </a:xfrm>
          <a:prstGeom prst="roundRect">
            <a:avLst>
              <a:gd name="adj" fmla="val 289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53035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2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 trait ImageFormat: Sync {</a:t>
            </a:r>
            <a:endParaRPr lang="zh-CN" sz="12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2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fn abi(&amp;self) -&gt; Abi;</a:t>
            </a:r>
            <a:endParaRPr lang="zh-CN" sz="12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2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fn recognizes(&amp;self, image: &amp;[u8]) -&gt; bool;</a:t>
            </a:r>
            <a:endParaRPr lang="zh-CN" sz="12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2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fn load(&amp;self, req: &amp;LoadRequest,</a:t>
            </a:r>
            <a:endParaRPr lang="zh-CN" sz="12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2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env: &amp;mut dyn LoadEnv) -&gt; AbiResult&lt;Loaded&gt;;</a:t>
            </a:r>
            <a:endParaRPr lang="zh-CN" sz="12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2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zh-CN" sz="1200" dirty="0"/>
          </a:p>
          <a:p>
            <a:pPr indent="0" marL="0">
              <a:spcAft>
                <a:spcPts val="200"/>
              </a:spcAft>
              <a:buNone/>
            </a:pPr>
            <a:endParaRPr lang="zh-CN" sz="12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2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 struct Loaded {</a:t>
            </a:r>
            <a:endParaRPr lang="zh-CN" sz="12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2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pub entry: u64,           // 第一条用户指令</a:t>
            </a:r>
            <a:endParaRPr lang="zh-CN" sz="12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2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pub stack: u64,           // 初始栈指针</a:t>
            </a:r>
            <a:endParaRPr lang="zh-CN" sz="12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2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pub thread_pointer: u64,  // Windows 的 TEB</a:t>
            </a:r>
            <a:endParaRPr lang="zh-CN" sz="12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2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zh-CN" sz="1200" dirty="0"/>
          </a:p>
          <a:p>
            <a:pPr indent="0" marL="0">
              <a:spcAft>
                <a:spcPts val="200"/>
              </a:spcAft>
              <a:buNone/>
            </a:pPr>
            <a:endParaRPr lang="zh-CN" sz="12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2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register_binfmt!(windows_format);</a:t>
            </a:r>
            <a:endParaRPr lang="zh-CN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5760720" cy="1051560"/>
          </a:xfrm>
          <a:prstGeom prst="roundRect">
            <a:avLst>
              <a:gd name="adj" fmla="val 10435"/>
            </a:avLst>
          </a:prstGeom>
          <a:solidFill>
            <a:srgbClr val="FBE9C4"/>
          </a:solidFill>
          <a:ln w="12700">
            <a:solidFill>
              <a:srgbClr val="FBE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084064"/>
            <a:ext cx="53583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5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内核一侧只有一步：dispatch_image(head) 取第一个认领的格式，相当于 Linux 的 search_binary_handler。格式链接进来就在表里，没有人维护列表。</a:t>
            </a:r>
            <a:endParaRPr lang="zh-CN" sz="1350" dirty="0"/>
          </a:p>
        </p:txBody>
      </p:sp>
      <p:sp>
        <p:nvSpPr>
          <p:cNvPr id="10" name="Shape 8"/>
          <p:cNvSpPr/>
          <p:nvPr/>
        </p:nvSpPr>
        <p:spPr>
          <a:xfrm>
            <a:off x="6766560" y="1737360"/>
            <a:ext cx="2724912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73736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格式向内核要的能力：LoadEnv</a:t>
            </a:r>
            <a:endParaRPr lang="zh-CN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2212848"/>
            <a:ext cx="4785055" cy="475488"/>
          </a:xfrm>
          <a:prstGeom prst="roundRect">
            <a:avLst>
              <a:gd name="adj" fmla="val 15385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21284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map_image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2212848"/>
            <a:ext cx="32305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从文件映射，写时复制，页面用到才读</a:t>
            </a:r>
            <a:endParaRPr lang="zh-CN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2761488"/>
            <a:ext cx="4785055" cy="475488"/>
          </a:xfrm>
          <a:prstGeom prst="roundRect">
            <a:avLst>
              <a:gd name="adj" fmla="val 15385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276148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map_region</a:t>
            </a:r>
            <a:endParaRPr lang="zh-CN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2761488"/>
            <a:ext cx="32305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匿名映射，可带初始内容</a:t>
            </a:r>
            <a:endParaRPr lang="zh-CN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3310128"/>
            <a:ext cx="4785055" cy="475488"/>
          </a:xfrm>
          <a:prstGeom prst="roundRect">
            <a:avLst>
              <a:gd name="adj" fmla="val 15385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31012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read_image</a:t>
            </a:r>
            <a:endParaRPr lang="zh-CN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3310128"/>
            <a:ext cx="32305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不映射，只读头与表</a:t>
            </a:r>
            <a:endParaRPr lang="zh-CN" sz="1300" dirty="0"/>
          </a:p>
        </p:txBody>
      </p:sp>
      <p:sp>
        <p:nvSpPr>
          <p:cNvPr id="21" name="Shape 19"/>
          <p:cNvSpPr/>
          <p:nvPr/>
        </p:nvSpPr>
        <p:spPr>
          <a:xfrm>
            <a:off x="6766560" y="3858768"/>
            <a:ext cx="4785055" cy="475488"/>
          </a:xfrm>
          <a:prstGeom prst="roundRect">
            <a:avLst>
              <a:gd name="adj" fmla="val 15385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385876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3858768"/>
            <a:ext cx="32305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做重定位、排初始栈</a:t>
            </a:r>
            <a:endParaRPr lang="zh-CN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4407408"/>
            <a:ext cx="4785055" cy="475488"/>
          </a:xfrm>
          <a:prstGeom prst="roundRect">
            <a:avLst>
              <a:gd name="adj" fmla="val 15385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440740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interpret</a:t>
            </a:r>
            <a:endParaRPr lang="zh-CN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4407408"/>
            <a:ext cx="32305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换成文件点名的解释器继续，ELF 用</a:t>
            </a:r>
            <a:endParaRPr lang="zh-CN" sz="1300" dirty="0"/>
          </a:p>
        </p:txBody>
      </p:sp>
      <p:sp>
        <p:nvSpPr>
          <p:cNvPr id="27" name="Shape 25"/>
          <p:cNvSpPr/>
          <p:nvPr/>
        </p:nvSpPr>
        <p:spPr>
          <a:xfrm>
            <a:off x="6766560" y="4956048"/>
            <a:ext cx="4785055" cy="475488"/>
          </a:xfrm>
          <a:prstGeom prst="roundRect">
            <a:avLst>
              <a:gd name="adj" fmla="val 15385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495604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reset</a:t>
            </a:r>
            <a:endParaRPr lang="zh-CN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4956048"/>
            <a:ext cx="32305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清掉旧映射，exec 用</a:t>
            </a:r>
            <a:endParaRPr lang="zh-CN" sz="1300" dirty="0"/>
          </a:p>
        </p:txBody>
      </p:sp>
      <p:sp>
        <p:nvSpPr>
          <p:cNvPr id="30" name="Shape 28"/>
          <p:cNvSpPr/>
          <p:nvPr/>
        </p:nvSpPr>
        <p:spPr>
          <a:xfrm>
            <a:off x="6766560" y="5504688"/>
            <a:ext cx="4785055" cy="475488"/>
          </a:xfrm>
          <a:prstGeom prst="roundRect">
            <a:avLst>
              <a:gd name="adj" fmla="val 15385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550468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trace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5504688"/>
            <a:ext cx="32305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加载不了时把原因记进内核日志</a:t>
            </a:r>
            <a:endParaRPr lang="zh-CN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04 架构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三种二进制：文件里各写了什么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</a:t>
            </a:r>
            <a:endParaRPr lang="zh-CN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200400"/>
                <a:gridCol w="28620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ELF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PE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Mach-O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魔数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\x7fELF</a:t>
                      </a:r>
                      <a:endParaRPr lang="zh-CN" sz="1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MZ … PE\0\0</a:t>
                      </a:r>
                      <a:endParaRPr lang="zh-CN" sz="1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0xfeedfacf，胖包 0xcafebabe</a:t>
                      </a:r>
                      <a:endParaRPr lang="zh-CN" sz="1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映射单位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PT_LOAD 段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节，按 SectionAlignment 对齐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LC_SEGMENT_64 段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重定位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重定位表，ld.so 处理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.reloc 基址重定位表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rebase 操作码流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导入怎么写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DT_NEEDED 加符号表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导入表：库名加函数名或序号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bind 操作码流：库序号加符号名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原生由谁做动态链接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PT_INTERP 点名的解释器，是普通用户程序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ntdll 里的加载器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dyld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这里由谁做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还是 ld.so，内核只映射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ax-abi-windows 的加载器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ax-abi-darwin 的加载器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入口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e_entry，有解释器时取解释器的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AddressOfEntryPoint，之前先跑各 DLL 的入口与 TLS 回调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LC_MAIN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b="1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启动时交给程序的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栈上：argc、argv、envp、auxv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TEB、PEB、进程参数块，gs 指向 TEB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50" dirty="0">
                          <a:solidFill>
                            <a:srgbClr val="1B2340"/>
                          </a:solidFill>
                          <a:latin typeface="HarmonyOS Sans SC" pitchFamily="34" charset="0"/>
                          <a:ea typeface="HarmonyOS Sans SC" pitchFamily="34" charset="-122"/>
                          <a:cs typeface="HarmonyOS Sans SC" pitchFamily="34" charset="-120"/>
                        </a:rPr>
                        <a:t>栈上：argc、argv、envp、apple</a:t>
                      </a:r>
                      <a:endParaRPr lang="zh-CN" sz="1250" dirty="0">
                        <a:latin typeface="HarmonyOS Sans SC" charset="0"/>
                        <a:ea typeface="HarmonyOS Sans SC" charset="0"/>
                        <a:cs typeface="HarmonyOS Sans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998464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ELF 把动态链接交给文件里点名的解释器，内核只管映射。PE 与 Mach-O 的动态链接器是系统的一部分，系统库也不随程序发布，所以加载、重定位、绑定都由包来做。</a:t>
            </a:r>
            <a:endParaRPr lang="zh-CN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04 架构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三种二进制是如何加载的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977481" cy="566928"/>
          </a:xfrm>
          <a:prstGeom prst="roundRect">
            <a:avLst>
              <a:gd name="adj" fmla="val 19355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19774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读文件头 4096 字节</a:t>
            </a:r>
            <a:endParaRPr lang="zh-CN" sz="1300" dirty="0"/>
          </a:p>
        </p:txBody>
      </p:sp>
      <p:sp>
        <p:nvSpPr>
          <p:cNvPr id="8" name="Shape 6"/>
          <p:cNvSpPr/>
          <p:nvPr/>
        </p:nvSpPr>
        <p:spPr>
          <a:xfrm>
            <a:off x="2654137" y="1929384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73593" y="1737360"/>
            <a:ext cx="1977481" cy="566928"/>
          </a:xfrm>
          <a:prstGeom prst="roundRect">
            <a:avLst>
              <a:gd name="adj" fmla="val 19355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73593" y="1737360"/>
            <a:ext cx="19774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是 #! 就换成解释器</a:t>
            </a:r>
            <a:endParaRPr lang="zh-CN" sz="1300" dirty="0"/>
          </a:p>
        </p:txBody>
      </p:sp>
      <p:sp>
        <p:nvSpPr>
          <p:cNvPr id="11" name="Shape 9"/>
          <p:cNvSpPr/>
          <p:nvPr/>
        </p:nvSpPr>
        <p:spPr>
          <a:xfrm>
            <a:off x="4887651" y="1929384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07107" y="1737360"/>
            <a:ext cx="1977481" cy="566928"/>
          </a:xfrm>
          <a:prstGeom prst="roundRect">
            <a:avLst>
              <a:gd name="adj" fmla="val 19355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7107" y="1737360"/>
            <a:ext cx="19774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按魔数认格式</a:t>
            </a:r>
            <a:endParaRPr lang="zh-CN" sz="1300" dirty="0"/>
          </a:p>
        </p:txBody>
      </p:sp>
      <p:sp>
        <p:nvSpPr>
          <p:cNvPr id="14" name="Shape 12"/>
          <p:cNvSpPr/>
          <p:nvPr/>
        </p:nvSpPr>
        <p:spPr>
          <a:xfrm>
            <a:off x="7121164" y="1929384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40620" y="1737360"/>
            <a:ext cx="1977481" cy="566928"/>
          </a:xfrm>
          <a:prstGeom prst="roundRect">
            <a:avLst>
              <a:gd name="adj" fmla="val 19355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0620" y="1737360"/>
            <a:ext cx="19774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交给认领的包加载</a:t>
            </a:r>
            <a:endParaRPr lang="zh-CN" sz="1300" dirty="0"/>
          </a:p>
        </p:txBody>
      </p:sp>
      <p:sp>
        <p:nvSpPr>
          <p:cNvPr id="17" name="Shape 15"/>
          <p:cNvSpPr/>
          <p:nvPr/>
        </p:nvSpPr>
        <p:spPr>
          <a:xfrm>
            <a:off x="9354678" y="1929384"/>
            <a:ext cx="182880" cy="182880"/>
          </a:xfrm>
          <a:prstGeom prst="rightArrow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74134" y="1737360"/>
            <a:ext cx="1977481" cy="566928"/>
          </a:xfrm>
          <a:prstGeom prst="roundRect">
            <a:avLst>
              <a:gd name="adj" fmla="val 19355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74134" y="1737360"/>
            <a:ext cx="19774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记下 abi_slot</a:t>
            </a:r>
            <a:endParaRPr lang="zh-CN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560320"/>
            <a:ext cx="3454298" cy="3429000"/>
          </a:xfrm>
          <a:prstGeom prst="roundRect">
            <a:avLst>
              <a:gd name="adj" fmla="val 32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ELF</a:t>
            </a:r>
            <a:endParaRPr lang="zh-CN" sz="1900" dirty="0"/>
          </a:p>
        </p:txBody>
      </p:sp>
      <p:sp>
        <p:nvSpPr>
          <p:cNvPr id="22" name="Text 20"/>
          <p:cNvSpPr/>
          <p:nvPr/>
        </p:nvSpPr>
        <p:spPr>
          <a:xfrm>
            <a:off x="2194560" y="2697480"/>
            <a:ext cx="1671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\x7fELF</a:t>
            </a:r>
            <a:endParaRPr lang="zh-CN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246120"/>
            <a:ext cx="299709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映射 PT_LOAD 各段：文件背衬，写时复制</a:t>
            </a:r>
            <a:endParaRPr lang="zh-CN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PT_INTERP 指向的解释器再加载一次</a:t>
            </a:r>
            <a:endParaRPr lang="zh-CN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在栈上排好 argc、argv、envp、auxv</a:t>
            </a:r>
            <a:endParaRPr lang="zh-CN" sz="1400" dirty="0"/>
          </a:p>
        </p:txBody>
      </p:sp>
      <p:sp>
        <p:nvSpPr>
          <p:cNvPr id="24" name="Shape 22"/>
          <p:cNvSpPr/>
          <p:nvPr/>
        </p:nvSpPr>
        <p:spPr>
          <a:xfrm>
            <a:off x="4368698" y="2560320"/>
            <a:ext cx="3454298" cy="3429000"/>
          </a:xfrm>
          <a:prstGeom prst="roundRect">
            <a:avLst>
              <a:gd name="adj" fmla="val 32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7298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PE</a:t>
            </a:r>
            <a:endParaRPr lang="zh-CN" sz="1900" dirty="0"/>
          </a:p>
        </p:txBody>
      </p:sp>
      <p:sp>
        <p:nvSpPr>
          <p:cNvPr id="26" name="Text 24"/>
          <p:cNvSpPr/>
          <p:nvPr/>
        </p:nvSpPr>
        <p:spPr>
          <a:xfrm>
            <a:off x="5923178" y="2697480"/>
            <a:ext cx="1671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MZ … PE\0\0</a:t>
            </a:r>
            <a:endParaRPr lang="zh-CN" sz="1300" dirty="0"/>
          </a:p>
        </p:txBody>
      </p:sp>
      <p:sp>
        <p:nvSpPr>
          <p:cNvPr id="27" name="Text 25"/>
          <p:cNvSpPr/>
          <p:nvPr/>
        </p:nvSpPr>
        <p:spPr>
          <a:xfrm>
            <a:off x="4597298" y="3246120"/>
            <a:ext cx="299709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映射头与各节，做基址重定位</a:t>
            </a:r>
            <a:endParaRPr lang="zh-CN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系统库不是文件：每个导入绑到一小段合成指令，执行即陷入</a:t>
            </a:r>
            <a:endParaRPr lang="zh-CN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其余 DLL 从程序目录与 system32 找到后照样映射</a:t>
            </a:r>
            <a:endParaRPr lang="zh-CN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建 TEB 与 PEB，gs 指向 TEB</a:t>
            </a:r>
            <a:endParaRPr lang="zh-CN" sz="1400" dirty="0"/>
          </a:p>
        </p:txBody>
      </p:sp>
      <p:sp>
        <p:nvSpPr>
          <p:cNvPr id="28" name="Shape 26"/>
          <p:cNvSpPr/>
          <p:nvPr/>
        </p:nvSpPr>
        <p:spPr>
          <a:xfrm>
            <a:off x="8097317" y="2560320"/>
            <a:ext cx="3454298" cy="3429000"/>
          </a:xfrm>
          <a:prstGeom prst="roundRect">
            <a:avLst>
              <a:gd name="adj" fmla="val 32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5917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Mach-O</a:t>
            </a:r>
            <a:endParaRPr lang="zh-CN" sz="1900" dirty="0"/>
          </a:p>
        </p:txBody>
      </p:sp>
      <p:sp>
        <p:nvSpPr>
          <p:cNvPr id="30" name="Text 28"/>
          <p:cNvSpPr/>
          <p:nvPr/>
        </p:nvSpPr>
        <p:spPr>
          <a:xfrm>
            <a:off x="9651797" y="2697480"/>
            <a:ext cx="1671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0xfeedfacf</a:t>
            </a:r>
            <a:endParaRPr lang="zh-CN" sz="1300" dirty="0"/>
          </a:p>
        </p:txBody>
      </p:sp>
      <p:sp>
        <p:nvSpPr>
          <p:cNvPr id="31" name="Text 29"/>
          <p:cNvSpPr/>
          <p:nvPr/>
        </p:nvSpPr>
        <p:spPr>
          <a:xfrm>
            <a:off x="8325917" y="3246120"/>
            <a:ext cx="299709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胖包按 CPU 类型挑出一片</a:t>
            </a:r>
            <a:endParaRPr lang="zh-CN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按 LC_SEGMENT_64 原地映射，入口取 LC_MAIN</a:t>
            </a:r>
            <a:endParaRPr lang="zh-CN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读 LC_DYLD_INFO_ONLY 的 bind 操作码流</a:t>
            </a:r>
            <a:endParaRPr lang="zh-CN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符号绑到合成的 libSystem 入口</a:t>
            </a:r>
            <a:endParaRPr lang="zh-CN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三者的「文件偏移加长度」同构，走同一个映射操作。</a:t>
            </a:r>
            <a:endParaRPr lang="zh-CN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188720"/>
            <a:ext cx="1371600" cy="137160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2743200"/>
            <a:ext cx="457200" cy="457200"/>
          </a:xfrm>
          <a:prstGeom prst="star4">
            <a:avLst/>
          </a:prstGeom>
          <a:solidFill>
            <a:srgbClr val="C9D2EA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3108960"/>
            <a:ext cx="274320" cy="274320"/>
          </a:xfrm>
          <a:prstGeom prst="star4">
            <a:avLst/>
          </a:prstGeom>
          <a:solidFill>
            <a:srgbClr val="C9D2EA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600" b="1" dirty="0">
                <a:solidFill>
                  <a:srgbClr val="F2B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zh-CN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溯源</a:t>
            </a:r>
            <a:endParaRPr lang="zh-CN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每个内核补丁对到 Linux 源码的具体行与 man 原文</a:t>
            </a:r>
            <a:endParaRPr lang="zh-CN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05 溯源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68 个内核补丁，全部完成溯源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556434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11096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溯源文件</a:t>
            </a:r>
            <a:endParaRPr lang="zh-CN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03704"/>
            <a:ext cx="21906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FA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68</a:t>
            </a:r>
            <a:endParaRPr lang="zh-CN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2825496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已合入 65，审查中 3</a:t>
            </a:r>
            <a:endParaRPr lang="zh-CN" sz="1200" dirty="0"/>
          </a:p>
        </p:txBody>
      </p:sp>
      <p:sp>
        <p:nvSpPr>
          <p:cNvPr id="10" name="Shape 8"/>
          <p:cNvSpPr/>
          <p:nvPr/>
        </p:nvSpPr>
        <p:spPr>
          <a:xfrm>
            <a:off x="3425114" y="1783080"/>
            <a:ext cx="2556434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7994" y="1911096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源码链接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3607994" y="2203704"/>
            <a:ext cx="21906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746</a:t>
            </a:r>
            <a:endParaRPr lang="zh-CN" sz="3000" dirty="0"/>
          </a:p>
        </p:txBody>
      </p:sp>
      <p:sp>
        <p:nvSpPr>
          <p:cNvPr id="13" name="Text 11"/>
          <p:cNvSpPr/>
          <p:nvPr/>
        </p:nvSpPr>
        <p:spPr>
          <a:xfrm>
            <a:off x="3607994" y="2825496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固定到同一提交的具体行</a:t>
            </a:r>
            <a:endParaRPr lang="zh-CN" sz="1200" dirty="0"/>
          </a:p>
        </p:txBody>
      </p:sp>
      <p:sp>
        <p:nvSpPr>
          <p:cNvPr id="14" name="Shape 12"/>
          <p:cNvSpPr/>
          <p:nvPr/>
        </p:nvSpPr>
        <p:spPr>
          <a:xfrm>
            <a:off x="6210148" y="1783080"/>
            <a:ext cx="2556434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3028" y="1911096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man 引文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6393028" y="2203704"/>
            <a:ext cx="21906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207</a:t>
            </a:r>
            <a:endParaRPr lang="zh-CN" sz="3000" dirty="0"/>
          </a:p>
        </p:txBody>
      </p:sp>
      <p:sp>
        <p:nvSpPr>
          <p:cNvPr id="17" name="Text 15"/>
          <p:cNvSpPr/>
          <p:nvPr/>
        </p:nvSpPr>
        <p:spPr>
          <a:xfrm>
            <a:off x="6393028" y="2825496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与 6.19 版原文逐字相同</a:t>
            </a:r>
            <a:endParaRPr lang="zh-CN" sz="1200" dirty="0"/>
          </a:p>
        </p:txBody>
      </p:sp>
      <p:sp>
        <p:nvSpPr>
          <p:cNvPr id="18" name="Shape 16"/>
          <p:cNvSpPr/>
          <p:nvPr/>
        </p:nvSpPr>
        <p:spPr>
          <a:xfrm>
            <a:off x="8995181" y="1783080"/>
            <a:ext cx="2556434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8061" y="1911096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带复核发现</a:t>
            </a:r>
            <a:endParaRPr lang="zh-CN" sz="1200" dirty="0"/>
          </a:p>
        </p:txBody>
      </p:sp>
      <p:sp>
        <p:nvSpPr>
          <p:cNvPr id="20" name="Text 18"/>
          <p:cNvSpPr/>
          <p:nvPr/>
        </p:nvSpPr>
        <p:spPr>
          <a:xfrm>
            <a:off x="9178061" y="2203704"/>
            <a:ext cx="21906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E260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</a:t>
            </a:r>
            <a:endParaRPr lang="zh-CN" sz="3000" dirty="0"/>
          </a:p>
        </p:txBody>
      </p:sp>
      <p:sp>
        <p:nvSpPr>
          <p:cNvPr id="21" name="Text 19"/>
          <p:cNvSpPr/>
          <p:nvPr/>
        </p:nvSpPr>
        <p:spPr>
          <a:xfrm>
            <a:off x="9178061" y="2825496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份</a:t>
            </a:r>
            <a:endParaRPr lang="zh-CN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520440"/>
            <a:ext cx="5272888" cy="2240280"/>
          </a:xfrm>
          <a:prstGeom prst="roundRect">
            <a:avLst>
              <a:gd name="adj" fmla="val 4898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70332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0332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每份文件写什么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4178808"/>
            <a:ext cx="481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问题与原因；改动与影响范围</a:t>
            </a:r>
            <a:endParaRPr lang="zh-CN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依据：函数与行；man 原文</a:t>
            </a:r>
            <a:endParaRPr lang="zh-CN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这处改动在当前 dev 上还在不在、在哪</a:t>
            </a:r>
            <a:endParaRPr lang="zh-CN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引用由脚本逐条核对，零错误</a:t>
            </a:r>
            <a:endParaRPr lang="zh-CN" sz="1500" dirty="0"/>
          </a:p>
        </p:txBody>
      </p:sp>
      <p:sp>
        <p:nvSpPr>
          <p:cNvPr id="26" name="Shape 24"/>
          <p:cNvSpPr/>
          <p:nvPr/>
        </p:nvSpPr>
        <p:spPr>
          <a:xfrm>
            <a:off x="6278728" y="3520440"/>
            <a:ext cx="5272888" cy="2240280"/>
          </a:xfrm>
          <a:prstGeom prst="roundRect">
            <a:avLst>
              <a:gd name="adj" fmla="val 4898"/>
            </a:avLst>
          </a:prstGeom>
          <a:solidFill>
            <a:srgbClr val="FBE9C4"/>
          </a:solidFill>
          <a:ln w="12700">
            <a:solidFill>
              <a:srgbClr val="FBE9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07328" y="3703320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7328" y="37033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发现分四类</a:t>
            </a:r>
            <a:endParaRPr lang="zh-CN" sz="1200" dirty="0"/>
          </a:p>
        </p:txBody>
      </p:sp>
      <p:sp>
        <p:nvSpPr>
          <p:cNvPr id="29" name="Text 27"/>
          <p:cNvSpPr/>
          <p:nvPr/>
        </p:nvSpPr>
        <p:spPr>
          <a:xfrm>
            <a:off x="6507328" y="4178808"/>
            <a:ext cx="481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补丁的行为与 Linux 仍有出入</a:t>
            </a:r>
            <a:endParaRPr lang="zh-CN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正文与合入的 diff 不符</a:t>
            </a:r>
            <a:endParaRPr lang="zh-CN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回归用例拦不住回归</a:t>
            </a:r>
            <a:endParaRPr lang="zh-CN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zh-CN" altLang="en-US" sz="150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改动已被后续提交取代</a:t>
            </a:r>
            <a:endParaRPr lang="zh-CN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05 溯源 · 源码对照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mprotect 范围内的空洞（#918）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85953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合入前</a:t>
            </a:r>
            <a:endParaRPr lang="zh-CN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sys_mprotect 只查起始地址所在的映射</a:t>
            </a:r>
            <a:endParaRPr lang="zh-CN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8214055" cy="1005840"/>
          </a:xfrm>
          <a:prstGeom prst="roundRect">
            <a:avLst>
              <a:gd name="adj" fmla="val 9091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828800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 start_addr = VirtAddr::from(addr);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aspace.find_area(start_addr).is_none() {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Err(AxError::NoMemory);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zh-CN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1175004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52928"/>
            <a:ext cx="11750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7.1</a:t>
            </a:r>
            <a:endParaRPr lang="zh-CN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3697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mm/mprotect.c 第 909 至 918 行、第 977 至 978 行</a:t>
            </a:r>
            <a:endParaRPr lang="zh-CN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2807208"/>
            <a:ext cx="8214055" cy="2103120"/>
          </a:xfrm>
          <a:prstGeom prst="roundRect">
            <a:avLst>
              <a:gd name="adj" fmla="val 4348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944368"/>
            <a:ext cx="77568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for_each_vma_range(vmi, vma, end) {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// ...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(vma-&gt;vm_start != tmp) {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error = -ENOMEM;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break;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// ...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(!error &amp;&amp; tmp &lt; end)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error = -ENOMEM;</a:t>
            </a:r>
            <a:endParaRPr lang="zh-CN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5065776"/>
            <a:ext cx="859536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065776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合入后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498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修改之前先检查整段是否连续覆盖</a:t>
            </a:r>
            <a:endParaRPr lang="zh-CN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5020056"/>
            <a:ext cx="8214055" cy="822960"/>
          </a:xfrm>
          <a:prstGeom prst="roundRect">
            <a:avLst>
              <a:gd name="adj" fmla="val 11111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5157216"/>
            <a:ext cx="7756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!aspace.can_access_range(start_addr, length, MappingFlags::empty()) {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Err(AxError::NoMemory);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zh-CN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10819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复核：Linux 遇到空洞时，空洞之前的部分已经生效；当前 dev 已由 #2261 改成同样的逐段提交。</a:t>
            </a:r>
            <a:endParaRPr lang="zh-CN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05 溯源 · 源码对照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VMA 区间查找（#2302）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859536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合入前</a:t>
            </a:r>
            <a:endParaRPr lang="zh-CN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iter() 先把整棵树展开成向量，再丢掉不相交的项</a:t>
            </a:r>
            <a:endParaRPr lang="zh-CN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8214055" cy="1188720"/>
          </a:xfrm>
          <a:prstGeom prst="roundRect">
            <a:avLst>
              <a:gd name="adj" fmla="val 7692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828800"/>
            <a:ext cx="7756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 fn lookup_range(&amp;self, range: VirtAddrRange) -&gt; Vec&lt;Arc&lt;VmaSnapshot&gt;&gt; {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self.iter()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.filter(|vma| vma.range.overlaps(range))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.collect()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zh-CN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035808"/>
            <a:ext cx="1175004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35808"/>
            <a:ext cx="11750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7.1</a:t>
            </a:r>
            <a:endParaRPr lang="zh-CN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1985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find_vma_intersection()，mm/mmap.c 第 888 至 891 行</a:t>
            </a:r>
            <a:endParaRPr lang="zh-CN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2990088"/>
            <a:ext cx="8214055" cy="1005840"/>
          </a:xfrm>
          <a:prstGeom prst="roundRect">
            <a:avLst>
              <a:gd name="adj" fmla="val 9091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127248"/>
            <a:ext cx="7756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unsigned long index = start_addr;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mmap_assert_locked(mm);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 mt_find(&amp;mm-&gt;mm_mt, &amp;index, end_addr - 1);</a:t>
            </a:r>
            <a:endParaRPr lang="zh-CN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151376"/>
            <a:ext cx="859536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51376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合入后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5354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沿树下降，只访问与区间相交的节点</a:t>
            </a:r>
            <a:endParaRPr lang="zh-CN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4105656"/>
            <a:ext cx="8214055" cy="1920240"/>
          </a:xfrm>
          <a:prstGeom prst="roundRect">
            <a:avLst>
              <a:gd name="adj" fmla="val 4762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4242816"/>
            <a:ext cx="77568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 vma = current.entry.snapshot.range;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range.start &lt; vma.start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&amp;&amp; !Self::visit_overlapping(&amp;current.left, range, visited, visit)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false;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vma.overlaps(range) &amp;&amp; !visit(&amp;current.entry) {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false;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zh-CN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10819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256 个 VMA 的树里查 1 个：访问的节点数从 256 降到搜索路径的长度。</a:t>
            </a:r>
            <a:endParaRPr lang="zh-CN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05 溯源 · 源码对照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FIFO 的非阻塞写打开（#720）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781812" cy="310896"/>
          </a:xfrm>
          <a:prstGeom prst="roundRect">
            <a:avLst>
              <a:gd name="adj" fmla="val 23529"/>
            </a:avLst>
          </a:prstGeom>
          <a:solidFill>
            <a:srgbClr val="E2604F"/>
          </a:solidFill>
          <a:ln w="12700">
            <a:solidFill>
              <a:srgbClr val="E26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7818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本 PR</a:t>
            </a:r>
            <a:endParaRPr lang="zh-CN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2026-05 合入：不看有没有读端，一律返回 ENXIO</a:t>
            </a:r>
            <a:endParaRPr lang="zh-CN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8214055" cy="1737360"/>
          </a:xfrm>
          <a:prstGeom prst="roundRect">
            <a:avLst>
              <a:gd name="adj" fmla="val 5263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828800"/>
            <a:ext cx="7756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flags &amp; O_NONBLOCK != 0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&amp;&amp; flags &amp; 0b11 == O_WRONLY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&amp;&amp; let OpenResult::File(ref f) = result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&amp;&amp; let Ok(meta) = f.location().metadata()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&amp;&amp; meta.node_type == NodeType::Fifo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Err(AxError::NoSuchDeviceOrAddress);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zh-CN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584448"/>
            <a:ext cx="1175004" cy="310896"/>
          </a:xfrm>
          <a:prstGeom prst="roundRect">
            <a:avLst>
              <a:gd name="adj" fmla="val 235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84448"/>
            <a:ext cx="11750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Linux 7.1</a:t>
            </a:r>
            <a:endParaRPr lang="zh-CN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684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fs/pipe.c 第 1188 至 1190 行</a:t>
            </a:r>
            <a:endParaRPr lang="zh-CN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3538728"/>
            <a:ext cx="8214055" cy="822960"/>
          </a:xfrm>
          <a:prstGeom prst="roundRect">
            <a:avLst>
              <a:gd name="adj" fmla="val 11111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675888"/>
            <a:ext cx="7756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 = -ENXIO;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(!is_pipe &amp;&amp; (filp-&gt;f_flags &amp; O_NONBLOCK) &amp;&amp; !pipe-&gt;readers)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goto err;</a:t>
            </a:r>
            <a:endParaRPr lang="zh-CN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517136"/>
            <a:ext cx="1060704" cy="310896"/>
          </a:xfrm>
          <a:prstGeom prst="roundRect">
            <a:avLst>
              <a:gd name="adj" fmla="val 23529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1713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当前 dev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9011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file/pipe/named.rs：按读端计数</a:t>
            </a:r>
            <a:endParaRPr lang="zh-CN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4471416"/>
            <a:ext cx="8214055" cy="822960"/>
          </a:xfrm>
          <a:prstGeom prst="roundRect">
            <a:avLst>
              <a:gd name="adj" fmla="val 11111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4608576"/>
            <a:ext cx="7756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access == PipeAccess::Write &amp;&amp; nonblocking &amp;&amp; state.readers == 0 {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Err(StarryError::NoSuchDeviceOrAddress);</a:t>
            </a:r>
            <a:endParaRPr lang="zh-CN" sz="10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zh-CN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10819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溯源查出的问题：有读端时，补丁仍返回 ENXIO，与 Linux 不符；当前 dev 已改对。</a:t>
            </a:r>
            <a:endParaRPr lang="zh-CN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1168" cy="201168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402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演示</a:t>
            </a:r>
            <a:endParaRPr lang="zh-CN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四条命令，都在 PowerShell 里敲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7A85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</a:t>
            </a:r>
            <a:endParaRPr lang="zh-CN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92224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FA896"/>
          </a:solidFill>
          <a:ln w="12700">
            <a:solidFill>
              <a:srgbClr val="1F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92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G 侧浏览器</a:t>
            </a:r>
            <a:endParaRPr lang="zh-CN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1737360"/>
            <a:ext cx="8899855" cy="475488"/>
          </a:xfrm>
          <a:prstGeom prst="roundRect">
            <a:avLst>
              <a:gd name="adj" fmla="val 19231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874520"/>
            <a:ext cx="8442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wsl -d Ubuntu-26.04 -- bash /home/heke/rcore/demo/g-browser.sh</a:t>
            </a:r>
            <a:endParaRPr lang="zh-CN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2249424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弹出 QEMU 窗口，约 80 秒出 4399 页面；Weston 与 Firefox 经 virgl 画</a:t>
            </a:r>
            <a:endParaRPr lang="zh-CN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24912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249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C 侧浏览器</a:t>
            </a:r>
            <a:endParaRPr lang="zh-CN" sz="1300" dirty="0"/>
          </a:p>
        </p:txBody>
      </p:sp>
      <p:sp>
        <p:nvSpPr>
          <p:cNvPr id="13" name="Shape 11"/>
          <p:cNvSpPr/>
          <p:nvPr/>
        </p:nvSpPr>
        <p:spPr>
          <a:xfrm>
            <a:off x="2651760" y="2670048"/>
            <a:ext cx="8899855" cy="475488"/>
          </a:xfrm>
          <a:prstGeom prst="roundRect">
            <a:avLst>
              <a:gd name="adj" fmla="val 19231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2807208"/>
            <a:ext cx="8442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wsl -d Ubuntu-26.04 -- bash /home/heke/rcore/demo/c-browser.sh</a:t>
            </a:r>
            <a:endParaRPr lang="zh-CN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3182112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同一个内核、同一份根盘，软件渲染；同样约 80 秒出页面</a:t>
            </a:r>
            <a:endParaRPr lang="zh-CN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0B143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Windows 版 Python</a:t>
            </a:r>
            <a:endParaRPr lang="zh-CN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3602736"/>
            <a:ext cx="8899855" cy="475488"/>
          </a:xfrm>
          <a:prstGeom prst="roundRect">
            <a:avLst>
              <a:gd name="adj" fmla="val 19231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3739896"/>
            <a:ext cx="8442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wsl -d Ubuntu-26.04 -- bash /home/heke/rcore/demo/win-py.sh</a:t>
            </a:r>
            <a:endParaRPr lang="zh-CN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4114800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3 秒进系统，直接到 &gt;&gt;&gt;；platform.platform() 得 Windows-10-10.0.19041-SP0</a:t>
            </a:r>
            <a:endParaRPr lang="zh-CN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590288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7A859C"/>
          </a:solidFill>
          <a:ln w="12700">
            <a:solidFill>
              <a:srgbClr val="7A85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90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macOS 版 Python</a:t>
            </a:r>
            <a:endParaRPr lang="zh-CN" sz="1300" dirty="0"/>
          </a:p>
        </p:txBody>
      </p:sp>
      <p:sp>
        <p:nvSpPr>
          <p:cNvPr id="23" name="Shape 21"/>
          <p:cNvSpPr/>
          <p:nvPr/>
        </p:nvSpPr>
        <p:spPr>
          <a:xfrm>
            <a:off x="2651760" y="4535424"/>
            <a:ext cx="8899855" cy="475488"/>
          </a:xfrm>
          <a:prstGeom prst="roundRect">
            <a:avLst>
              <a:gd name="adj" fmla="val 19231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4672584"/>
            <a:ext cx="8442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300" dirty="0">
                <a:solidFill>
                  <a:srgbClr val="E6E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wsl -d Ubuntu-26.04 -- bash /home/heke/rcore/demo/mac-py.sh</a:t>
            </a:r>
            <a:endParaRPr lang="zh-CN" sz="1300" dirty="0"/>
          </a:p>
        </p:txBody>
      </p:sp>
      <p:sp>
        <p:nvSpPr>
          <p:cNvPr id="25" name="Text 23"/>
          <p:cNvSpPr/>
          <p:nvPr/>
        </p:nvSpPr>
        <p:spPr>
          <a:xfrm>
            <a:off x="2651760" y="5047488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7A859C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进行中：官方 macOS 版 CPython 已加载并进入初始化，libSystem 的函数体还在补</a:t>
            </a:r>
            <a:endParaRPr lang="zh-CN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10911535" cy="749808"/>
          </a:xfrm>
          <a:prstGeom prst="roundRect">
            <a:avLst>
              <a:gd name="adj" fmla="val 14634"/>
            </a:avLst>
          </a:prstGeom>
          <a:solidFill>
            <a:srgbClr val="FBE9C4"/>
          </a:solidFill>
          <a:ln w="12700">
            <a:solidFill>
              <a:srgbClr val="FBE9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522976"/>
            <a:ext cx="1050919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25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内核与根盘事先构建好，放在 ~/rcore/demo/，启动不经 cargo。一次只跑一个，新的会先结束上一个。</a:t>
            </a:r>
            <a:endParaRPr lang="zh-CN" sz="125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250" dirty="0">
                <a:solidFill>
                  <a:srgbClr val="1B2340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结束：浏览器按 Ctrl-C；Python 按 Ctrl-D 回到 shell，Ctrl-A 再按 X 退出。全部收尾：把文件名换成 stop.sh。</a:t>
            </a:r>
            <a:endParaRPr lang="zh-CN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914400"/>
            <a:ext cx="1463040" cy="1463040"/>
          </a:xfrm>
          <a:prstGeom prst="star4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2651760"/>
            <a:ext cx="457200" cy="457200"/>
          </a:xfrm>
          <a:prstGeom prst="star4">
            <a:avLst/>
          </a:prstGeom>
          <a:solidFill>
            <a:srgbClr val="C9D2EA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2926080"/>
            <a:ext cx="274320" cy="274320"/>
          </a:xfrm>
          <a:prstGeom prst="star4">
            <a:avLst/>
          </a:prstGeom>
          <a:solidFill>
            <a:srgbClr val="C9D2EA"/>
          </a:solidFill>
          <a:ln w="12700">
            <a:solidFill>
              <a:srgbClr val="C9D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之后</a:t>
            </a:r>
            <a:endParaRPr lang="zh-CN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816352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163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0B143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个人</a:t>
            </a:r>
            <a:endParaRPr lang="zh-CN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274320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闭关一段时间，消化现有的知识存量。</a:t>
            </a:r>
            <a:endParaRPr lang="zh-CN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3913632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1363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0B143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项目</a:t>
            </a:r>
            <a:endParaRPr lang="zh-CN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384048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完成深度学习库的测试；继续修缮系统调用的抽象包。</a:t>
            </a:r>
            <a:endParaRPr lang="zh-CN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C9D2E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谢谢</a:t>
            </a:r>
            <a:endParaRPr lang="zh-CN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StarryOS 实习总结</dc:title>
  <dc:subject>PptxGenJS Presentation</dc:subject>
  <dc:creator>程柯雷</dc:creator>
  <cp:lastModifiedBy>程柯雷</cp:lastModifiedBy>
  <cp:revision>1</cp:revision>
  <dcterms:created xsi:type="dcterms:W3CDTF">2026-10-04T04:19:15Z</dcterms:created>
  <dcterms:modified xsi:type="dcterms:W3CDTF">2026-10-04T04:19:15Z</dcterms:modified>
</cp:coreProperties>
</file>