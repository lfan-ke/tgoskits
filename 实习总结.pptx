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单次往返（µs）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415.7</c:v>
                </c:pt>
                <c:pt idx="1">
                  <c:v>129.9</c:v>
                </c:pt>
                <c:pt idx="2">
                  <c:v>34.3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单次等待（µs）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499.9</c:v>
                </c:pt>
                <c:pt idx="1">
                  <c:v>37</c:v>
                </c:pt>
                <c:pt idx="2">
                  <c:v>0.56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fork（ms）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84.5</c:v>
                </c:pt>
                <c:pt idx="1">
                  <c:v>14</c:v>
                </c:pt>
                <c:pt idx="2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open 加 close（µs）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3.2</c:v>
                </c:pt>
                <c:pt idx="2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mmap（µs）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246.1</c:v>
                </c:pt>
                <c:pt idx="1">
                  <c:v>207.3</c:v>
                </c:pt>
                <c:pt idx="2">
                  <c:v>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启动到导航（秒，3 轮均值）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09.16</c:v>
                  </c:pt>
                  <c:pt idx="1">
                    <c:v>09.28</c:v>
                  </c:pt>
                  <c:pt idx="2">
                    <c:v>Linux 6.12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59.2</c:v>
                </c:pt>
                <c:pt idx="1">
                  <c:v>42.4</c:v>
                </c:pt>
                <c:pt idx="2">
                  <c:v>22.5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05840"/>
            <a:ext cx="2011680" cy="20116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2926080"/>
            <a:ext cx="640080" cy="64008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3291840"/>
            <a:ext cx="365760" cy="36576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4206240"/>
            <a:ext cx="274320" cy="27432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实习总结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 · 浏览器对照 Linux · Personality · 溯源</a:t>
            </a:r>
            <a:endParaRPr lang="zh-CN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程柯雷　2026.07.07 – 2026.10</a:t>
            </a:r>
            <a:endParaRPr lang="zh-CN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概览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三个月，三段工作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提交的 PR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4800" dirty="0"/>
          </a:p>
        </p:txBody>
      </p:sp>
      <p:sp>
        <p:nvSpPr>
          <p:cNvPr id="9" name="Text 7"/>
          <p:cNvSpPr/>
          <p:nvPr/>
        </p:nvSpPr>
        <p:spPr>
          <a:xfrm>
            <a:off x="24688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</a:t>
            </a:r>
            <a:endParaRPr lang="zh-CN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4800" dirty="0"/>
          </a:p>
        </p:txBody>
      </p:sp>
      <p:sp>
        <p:nvSpPr>
          <p:cNvPr id="11" name="Text 9"/>
          <p:cNvSpPr/>
          <p:nvPr/>
        </p:nvSpPr>
        <p:spPr>
          <a:xfrm>
            <a:off x="42976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评审中</a:t>
            </a:r>
            <a:endParaRPr lang="zh-CN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745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只讲 07.07 实习开始后提交的工作。其余多为计算与渲染用例，不验证内核语义，已撤下。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 月</a:t>
            </a:r>
            <a:endParaRPr lang="zh-CN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真实软件装进镜像跑，跑不通就对照 Linux 补内核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2858963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41843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1843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3041843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图形栈到浏览器</a:t>
            </a:r>
            <a:endParaRPr lang="zh-CN" sz="1700" dirty="0"/>
          </a:p>
        </p:txBody>
      </p:sp>
      <p:sp>
        <p:nvSpPr>
          <p:cNvPr id="22" name="Text 20"/>
          <p:cNvSpPr/>
          <p:nvPr/>
        </p:nvSpPr>
        <p:spPr>
          <a:xfrm>
            <a:off x="3041843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NetSurf、Firefox 经 Weston 出画面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5077846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0726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60726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月底</a:t>
            </a:r>
            <a:endParaRPr lang="zh-CN" sz="1100" dirty="0"/>
          </a:p>
        </p:txBody>
      </p:sp>
      <p:sp>
        <p:nvSpPr>
          <p:cNvPr id="26" name="Text 24"/>
          <p:cNvSpPr/>
          <p:nvPr/>
        </p:nvSpPr>
        <p:spPr>
          <a:xfrm>
            <a:off x="5260726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1700" dirty="0"/>
          </a:p>
        </p:txBody>
      </p:sp>
      <p:sp>
        <p:nvSpPr>
          <p:cNvPr id="27" name="Text 25"/>
          <p:cNvSpPr/>
          <p:nvPr/>
        </p:nvSpPr>
        <p:spPr>
          <a:xfrm>
            <a:off x="5260726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系统调用从内核拆成可替换的包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7296729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9609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9609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9 月</a:t>
            </a:r>
            <a:endParaRPr lang="zh-CN" sz="1100" dirty="0"/>
          </a:p>
        </p:txBody>
      </p:sp>
      <p:sp>
        <p:nvSpPr>
          <p:cNvPr id="31" name="Text 29"/>
          <p:cNvSpPr/>
          <p:nvPr/>
        </p:nvSpPr>
        <p:spPr>
          <a:xfrm>
            <a:off x="7479609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提速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7479609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同环境只换内核，逐项量差距再修</a:t>
            </a:r>
            <a:endParaRPr lang="zh-CN" sz="1300" dirty="0"/>
          </a:p>
        </p:txBody>
      </p:sp>
      <p:sp>
        <p:nvSpPr>
          <p:cNvPr id="33" name="Shape 31"/>
          <p:cNvSpPr/>
          <p:nvPr/>
        </p:nvSpPr>
        <p:spPr>
          <a:xfrm>
            <a:off x="9515612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8492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8492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 月</a:t>
            </a:r>
            <a:endParaRPr lang="zh-CN" sz="1100" dirty="0"/>
          </a:p>
        </p:txBody>
      </p:sp>
      <p:sp>
        <p:nvSpPr>
          <p:cNvPr id="36" name="Text 34"/>
          <p:cNvSpPr/>
          <p:nvPr/>
        </p:nvSpPr>
        <p:spPr>
          <a:xfrm>
            <a:off x="9698492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698492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个内核补丁全部对到 Linux 源码的具体行与 man 原文</a:t>
            </a:r>
            <a:endParaRPr lang="zh-CN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真实应用当负载，跑不通就补内核，补完留回归用例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装进镜像的应用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dropbear</a:t>
            </a:r>
            <a:endParaRPr lang="zh-CN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SSH 登录、密钥、端口转发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425114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6282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00602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dnsmasq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3626282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DNS、DHCP、TFTP 传文件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1316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5636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监控栈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6411316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glances、node_exporter 读 /proc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8995181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96349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70669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科学计算与机器学习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9196349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SciPy、SymPy、Numba、scikit-learn</a:t>
            </a:r>
            <a:endParaRPr lang="zh-CN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多媒体与流媒体</a:t>
            </a:r>
            <a:endParaRPr lang="zh-CN" sz="1700" dirty="0"/>
          </a:p>
        </p:txBody>
      </p:sp>
      <p:sp>
        <p:nvSpPr>
          <p:cNvPr id="25" name="Text 23"/>
          <p:cNvSpPr/>
          <p:nvPr/>
        </p:nvSpPr>
        <p:spPr>
          <a:xfrm>
            <a:off x="841248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x264、dav1d 等编解码与封装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>
            <a:off x="3425114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26282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02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单核并发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3626282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clone、futex 与调度的确定性对照</a:t>
            </a:r>
            <a:endParaRPr lang="zh-CN" sz="1400" dirty="0"/>
          </a:p>
        </p:txBody>
      </p:sp>
      <p:sp>
        <p:nvSpPr>
          <p:cNvPr id="30" name="Shape 28"/>
          <p:cNvSpPr/>
          <p:nvPr/>
        </p:nvSpPr>
        <p:spPr>
          <a:xfrm>
            <a:off x="6210148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1316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5636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StarryWRT</a:t>
            </a:r>
            <a:endParaRPr lang="zh-CN" sz="1700" dirty="0"/>
          </a:p>
        </p:txBody>
      </p:sp>
      <p:sp>
        <p:nvSpPr>
          <p:cNvPr id="33" name="Text 31"/>
          <p:cNvSpPr/>
          <p:nvPr/>
        </p:nvSpPr>
        <p:spPr>
          <a:xfrm>
            <a:off x="6411316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OpenWrt 用户态：uci、opkg</a:t>
            </a:r>
            <a:endParaRPr lang="zh-CN" sz="1400" dirty="0"/>
          </a:p>
        </p:txBody>
      </p:sp>
      <p:sp>
        <p:nvSpPr>
          <p:cNvPr id="34" name="Shape 32"/>
          <p:cNvSpPr/>
          <p:nvPr/>
        </p:nvSpPr>
        <p:spPr>
          <a:xfrm>
            <a:off x="8995181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96349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0669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196349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POSIX 一致性套件</a:t>
            </a:r>
            <a:endParaRPr lang="zh-CN" sz="1400" dirty="0"/>
          </a:p>
        </p:txBody>
      </p:sp>
      <p:sp>
        <p:nvSpPr>
          <p:cNvPr id="38" name="Text 36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四架构：x86_64、aarch64、riscv64、loongarch64</a:t>
            </a:r>
            <a:endParaRPr lang="zh-C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负载暴露的缺口，补上的子系统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zh-CN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14630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负载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补上的内核缺口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PR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监控栈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/proc/vmstat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#1525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Envoy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/proc/pid/comm 的填充；非阻塞 TCP 部分发送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#1558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dnsmasq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IP_MTU_DISCOVER；UDP 关闭前冲刷；SIOCGIFNAME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#1568 #1707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浏览器前置依赖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一批系统调用对齐 Linux；同步故障信号优先投递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#1569 #1700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每次关机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卸载根文件系统必然失败，改为尽力而为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#1711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783080"/>
            <a:ext cx="3596335" cy="1783080"/>
          </a:xfrm>
          <a:prstGeom prst="roundRect">
            <a:avLst>
              <a:gd name="adj" fmla="val 6154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56448" y="1938528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56448" y="1938528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新实现</a:t>
            </a:r>
            <a:endParaRPr lang="zh-CN" sz="1100" dirty="0"/>
          </a:p>
        </p:txBody>
      </p:sp>
      <p:sp>
        <p:nvSpPr>
          <p:cNvPr id="10" name="Text 7"/>
          <p:cNvSpPr/>
          <p:nvPr/>
        </p:nvSpPr>
        <p:spPr>
          <a:xfrm>
            <a:off x="8156448" y="2395728"/>
            <a:ext cx="31939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　#1564 #1565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TUN/TAP 设备　#1566 #1567</a:t>
            </a:r>
            <a:endParaRPr lang="zh-CN" sz="1500" dirty="0"/>
          </a:p>
        </p:txBody>
      </p:sp>
      <p:sp>
        <p:nvSpPr>
          <p:cNvPr id="11" name="Shape 8"/>
          <p:cNvSpPr/>
          <p:nvPr/>
        </p:nvSpPr>
        <p:spPr>
          <a:xfrm>
            <a:off x="7955280" y="3749040"/>
            <a:ext cx="3596335" cy="2093976"/>
          </a:xfrm>
          <a:prstGeom prst="roundRect">
            <a:avLst>
              <a:gd name="adj" fmla="val 524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56448" y="3904488"/>
            <a:ext cx="171450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56448" y="3904488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改正</a:t>
            </a:r>
            <a:endParaRPr lang="zh-CN" sz="1100" dirty="0"/>
          </a:p>
        </p:txBody>
      </p:sp>
      <p:sp>
        <p:nvSpPr>
          <p:cNvPr id="14" name="Text 11"/>
          <p:cNvSpPr/>
          <p:nvPr/>
        </p:nvSpPr>
        <p:spPr>
          <a:xfrm>
            <a:off x="8156448" y="4361688"/>
            <a:ext cx="319399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times、select、arch_prctl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#2263 #2260 #2259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setns 与 id 映射的特权只认初始 user namespace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#2266</a:t>
            </a:r>
            <a:endParaRPr lang="zh-CN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浏览器启动与优化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 Firefox 跑起来，再与 Linux 逐项对照</a:t>
            </a:r>
            <a:endParaRPr lang="zh-CN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从出图到打开真实站点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</a:t>
            </a:r>
            <a:endParaRPr lang="zh-CN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四架构出图；只到 CSS 2.1，撑不起现代站点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660904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1216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</a:t>
            </a:r>
            <a:endParaRPr lang="zh-CN" sz="1700" dirty="0"/>
          </a:p>
        </p:txBody>
      </p:sp>
      <p:sp>
        <p:nvSpPr>
          <p:cNvPr id="12" name="Text 10"/>
          <p:cNvSpPr/>
          <p:nvPr/>
        </p:nvSpPr>
        <p:spPr>
          <a:xfrm>
            <a:off x="3035808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 Weston 显示到 virtio-gpu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02352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6944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HTTPS</a:t>
            </a:r>
            <a:endParaRPr lang="zh-CN" sz="1700" dirty="0"/>
          </a:p>
        </p:txBody>
      </p:sp>
      <p:sp>
        <p:nvSpPr>
          <p:cNvPr id="16" name="Text 14"/>
          <p:cNvSpPr/>
          <p:nvPr/>
        </p:nvSpPr>
        <p:spPr>
          <a:xfrm>
            <a:off x="5266944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经宿主代理从 4399 的服务器取回页面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7123176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软件与 virgl</a:t>
            </a:r>
            <a:endParaRPr lang="zh-CN" sz="1700" dirty="0"/>
          </a:p>
        </p:txBody>
      </p:sp>
      <p:sp>
        <p:nvSpPr>
          <p:cNvPr id="20" name="Text 18"/>
          <p:cNvSpPr/>
          <p:nvPr/>
        </p:nvSpPr>
        <p:spPr>
          <a:xfrm>
            <a:off x="7498080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同一个应用两路渲染，#2323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9354312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4624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9216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</a:t>
            </a:r>
            <a:endParaRPr lang="zh-CN" sz="1700" dirty="0"/>
          </a:p>
        </p:txBody>
      </p:sp>
      <p:sp>
        <p:nvSpPr>
          <p:cNvPr id="24" name="Text 22"/>
          <p:cNvSpPr/>
          <p:nvPr/>
        </p:nvSpPr>
        <p:spPr>
          <a:xfrm>
            <a:off x="9729216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</a:t>
            </a:r>
            <a:endParaRPr lang="zh-CN" sz="1300" dirty="0"/>
          </a:p>
        </p:txBody>
      </p:sp>
      <p:pic>
        <p:nvPicPr>
          <p:cNvPr id="25" name="Image 0" descr="C:\Users\heke\AppData\Local\Temp\claude\C--Users-heke-AllProjects-TempFolder-rcore\1c6e91ee-4f87-4550-9a26-b0faa3d92502\scratchpad\deck2\img\4399-c-sta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20440"/>
            <a:ext cx="2621280" cy="19659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StarryOS</a:t>
            </a:r>
            <a:endParaRPr lang="zh-CN" sz="1200" dirty="0"/>
          </a:p>
        </p:txBody>
      </p:sp>
      <p:pic>
        <p:nvPicPr>
          <p:cNvPr id="27" name="Image 1" descr="C:\Users\heke\AppData\Local\Temp\claude\C--Users-heke-AllProjects-TempFolder-rcore\1c6e91ee-4f87-4550-9a26-b0faa3d92502\scratchpad\deck2\img\4399-c-linu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936" y="3520440"/>
            <a:ext cx="2621280" cy="1965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566936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Linux 6.12</a:t>
            </a:r>
            <a:endParaRPr lang="zh-CN" sz="1200" dirty="0"/>
          </a:p>
        </p:txBody>
      </p:sp>
      <p:pic>
        <p:nvPicPr>
          <p:cNvPr id="29" name="Image 2" descr="C:\Users\heke\AppData\Local\Temp\claude\C--Users-heke-AllProjects-TempFolder-rcore\1c6e91ee-4f87-4550-9a26-b0faa3d92502\scratchpad\deck2\img\4399-g-sta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791" y="3520440"/>
            <a:ext cx="2376124" cy="19659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937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StarryOS</a:t>
            </a:r>
            <a:endParaRPr lang="zh-CN" sz="1200" dirty="0"/>
          </a:p>
        </p:txBody>
      </p:sp>
      <p:pic>
        <p:nvPicPr>
          <p:cNvPr id="31" name="Image 3" descr="C:\Users\heke\AppData\Local\Temp\claude\C--Users-heke-AllProjects-TempFolder-rcore\1c6e91ee-4f87-4550-9a26-b0faa3d92502\scratchpad\deck2\img\4399-g-linu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491" y="3520440"/>
            <a:ext cx="2376124" cy="19659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754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Linux 6.12</a:t>
            </a:r>
            <a:endParaRPr lang="zh-CN" sz="1200" dirty="0"/>
          </a:p>
        </p:txBody>
      </p:sp>
      <p:sp>
        <p:nvSpPr>
          <p:cNvPr id="33" name="Text 27"/>
          <p:cNvSpPr/>
          <p:nvPr/>
        </p:nvSpPr>
        <p:spPr>
          <a:xfrm>
            <a:off x="64008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同一份根盘、同一个 Firefox，经 HTTPS 打开 4399；四格都完整渲染。</a:t>
            </a:r>
            <a:endParaRPr lang="zh-CN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对照方法：只换内核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65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QEMU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q35，4 核，6 GB，KVM</a:t>
            </a:r>
            <a:endParaRPr lang="zh-CN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05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根盘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4688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同一份镜像，两侧逐字节相同</a:t>
            </a:r>
            <a:endParaRPr lang="zh-CN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6.12-virt</a:t>
            </a:r>
            <a:endParaRPr lang="zh-CN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856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控制项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纯用户态循环两侧比值 1.00</a:t>
            </a:r>
            <a:endParaRPr lang="zh-CN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817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判据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随压力放大而 Linux 平坦，才算缺陷线索。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057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zh-CN" sz="3600" dirty="0"/>
          </a:p>
        </p:txBody>
      </p:sp>
      <p:sp>
        <p:nvSpPr>
          <p:cNvPr id="22" name="Text 20"/>
          <p:cNvSpPr/>
          <p:nvPr/>
        </p:nvSpPr>
        <p:spPr>
          <a:xfrm>
            <a:off x="6949440" y="19476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</a:t>
            </a:r>
            <a:endParaRPr lang="zh-CN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23408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启动、导航、取资源的耗时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6700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回答：整体差多少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6035040" y="32004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34290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3600" dirty="0"/>
          </a:p>
        </p:txBody>
      </p:sp>
      <p:sp>
        <p:nvSpPr>
          <p:cNvPr id="27" name="Text 25"/>
          <p:cNvSpPr/>
          <p:nvPr/>
        </p:nvSpPr>
        <p:spPr>
          <a:xfrm>
            <a:off x="6949440" y="33192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压力基准</a:t>
            </a:r>
            <a:endParaRPr lang="zh-CN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37124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18 个环节，各三档压力</a:t>
            </a:r>
            <a:endParaRPr lang="zh-CN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40416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回答：差在哪个环节，是否随规模放大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035040" y="45720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3600" dirty="0"/>
          </a:p>
        </p:txBody>
      </p:sp>
      <p:sp>
        <p:nvSpPr>
          <p:cNvPr id="32" name="Text 30"/>
          <p:cNvSpPr/>
          <p:nvPr/>
        </p:nvSpPr>
        <p:spPr>
          <a:xfrm>
            <a:off x="6949440" y="46908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</a:t>
            </a:r>
            <a:endParaRPr lang="zh-CN" sz="1800" dirty="0"/>
          </a:p>
        </p:txBody>
      </p:sp>
      <p:sp>
        <p:nvSpPr>
          <p:cNvPr id="33" name="Text 31"/>
          <p:cNvSpPr/>
          <p:nvPr/>
        </p:nvSpPr>
        <p:spPr>
          <a:xfrm>
            <a:off x="6949440" y="50840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负载运行时定时取全部线程的栈</a:t>
            </a:r>
            <a:endParaRPr lang="zh-CN" sz="1400" dirty="0"/>
          </a:p>
        </p:txBody>
      </p:sp>
      <p:sp>
        <p:nvSpPr>
          <p:cNvPr id="34" name="Text 32"/>
          <p:cNvSpPr/>
          <p:nvPr/>
        </p:nvSpPr>
        <p:spPr>
          <a:xfrm>
            <a:off x="6949440" y="54132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回答：时间花在哪个函数</a:t>
            </a:r>
            <a:endParaRPr lang="zh-CN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回环 TCP 往返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跨核唤醒要发 IPI。每次发送都重建 APIC 句柄，构造时读 CPUID；在虚拟机里，每次 CPUID 是一回退出。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#2432：句柄建一次后复用；写 ICR 前按 Linux 加串行化屏障。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415.7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129.9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同一处还带动：线程创建 891.3 → 646.9 µs，futex 往返 58.8 → 28.2 µs。</a:t>
            </a:r>
            <a:endParaRPr lang="zh-CN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2/10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每次 epoll_wait 把全部 fd 重新登记一遍，代价随 fd 数线性上涨。Linux 只看就绪链表，与注册数无关。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#2302：扫描收窄到调用者需要的范围。</a:t>
            </a:r>
            <a:endParaRPr lang="zh-CN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#2433：租约仍武装就不重新登记。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499.9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0.56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的倍数：891 → 66。等待路径仍遍历全部 fd，待改为只处理脏集合。</a:t>
            </a:r>
            <a:endParaRPr lang="zh-CN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3/10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fork（已触碰 64 MiB）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给子进程发布页表项时，逐页在数组里查重，是平方级：16384 页约 1.34 亿次比较。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perf/fork-owner-dedup：换成一次「严格升序且不相交」的检查，同时能查出大页与小页重叠。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84.5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0.17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剩余差距在每页一条反向映射记录，属结构性问题，未动。</a:t>
            </a:r>
            <a:endParaRPr lang="zh-CN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4/10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close（持有 512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 为了判断要不要释放 flock，遍历全系统每个任务的每个 fd。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fix/flock-release-at-last-reference：flock 在打开文件描述的最后一个引用消失时释放，与 Linux 最后一次 fput 一致；扫描随之去掉。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19.8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顺带改正：SCM_RIGHTS 报文在途时 flock 不再被提前释放，用例 5 过 2 挂 → 7 项全过。</a:t>
            </a:r>
            <a:endParaRPr lang="zh-CN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5/10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mmap（已有 1024 个映射）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查找、合并、找空闲区都先把整棵 VMA 树展开成数组，一次 mmap 加 munmap 走 11 遍全树。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 与 perf/vma-interval-queries：改成按区间访问。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246.1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207.3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收益不显著，仍是 Linux 的 47 倍，没有追平。</a:t>
            </a:r>
            <a:endParaRPr lang="zh-CN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6/10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内核栈采样：slab 分配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浏览器负载下采样，栈顶最多的是分配对象时遍历整条 full slab 链表，去找跨 CPU 的释放；这种释放很少，几乎每次空手而回。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#2301：跨 CPU 释放时登记一下，登记过才遍历。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2701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发现方式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栈采样</a:t>
            </a:r>
            <a:endParaRPr lang="zh-CN" sz="2400" dirty="0"/>
          </a:p>
        </p:txBody>
      </p:sp>
      <p:sp>
        <p:nvSpPr>
          <p:cNvPr id="23" name="Shape 21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512 次分配遍历的 full slab 节点数。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采样方法：经 QEMU 的 gdb 接口定时取全部线程的栈。40 次采样里只有 1 次落在用户态，慢的是内核。</a:t>
            </a:r>
            <a:endParaRPr lang="zh-CN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7/10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发 CONNECT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TCP 半关闭后，连接状态不再发布，poll 一直读到旧状态。nc 等满 16 秒失败，同目标的 wget 正常。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fix/tcp-half-close-reply：状态改在守卫析构时发布；poll 的挂断事件对齐 Linux。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秒后失败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回归用例：22 过 8 挂 → 30 项全过，宿主 Linux 同为 30 项。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16 秒恰是 SYN 重传 1+2+4+8 的和，起初误判为连接没建成。</a:t>
            </a:r>
            <a:endParaRPr lang="zh-CN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8/10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冷启动段错误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netlink 错误回复按请求长度原样回显，不补齐，长 37 字节。读取方按 4 字节对齐走到 40，越界。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fix/netlink-message-padding：回复补齐到 NLMSG_ALIGNTO，与 Linux 的 40 字节一致。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5/12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次冷启动段错误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0/12</a:t>
            </a:r>
            <a:endParaRPr lang="zh-CN" sz="3000" dirty="0"/>
          </a:p>
        </p:txBody>
      </p:sp>
      <p:sp>
        <p:nvSpPr>
          <p:cNvPr id="19" name="Shape 17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2" name="Shape 20"/>
          <p:cNvSpPr/>
          <p:nvPr/>
        </p:nvSpPr>
        <p:spPr>
          <a:xfrm>
            <a:off x="6492240" y="342900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584448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同一次对照里，导航尝试次数从 1.7 降到 1。</a:t>
            </a:r>
            <a:endParaRPr lang="zh-CN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9/10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远程桌面里起 xterm（tty）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五处偏差：打开 tty 不设控制终端；从端重开后主端仍读到挂断；devpts 下标不回收；命名空间内 tcgetpgrp 与 getpgrp 不一致；会话首进程 setpgid 返回 0。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#2426：五处合成一个提交，逐条对照 Linux 的 tty_open 等路径。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起不来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五个用例的通过数与宿主 Linux 相同：18、21、15、3、9。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分组套件 520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10/10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鼠标久置后不跟随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外层 epoll 监听内层 epoll。内层已返回的等待没有撤销登记，新的唤醒被这些旧项吃掉，外层等满超时。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dev 已从结构上改掉；补回归用例 #2378，防止以后退回去。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不跟随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同类：unix stream 两端共用一个等待集，发送方把自己也唤醒，边沿触发的事件循环单核空转。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#2194：21 过 3 挂 → 24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端到端：Firefox 启动到导航完成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zh-CN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78308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2.65 倍</a:t>
            </a:r>
            <a:pPr indent="0" marL="0">
              <a:buNone/>
            </a:pPr>
            <a:r>
              <a:rPr lang="zh-CN" altLang="en-US" sz="20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　→　</a:t>
            </a:r>
            <a:pPr indent="0" marL="0">
              <a:buNone/>
            </a:pPr>
            <a:r>
              <a:rPr lang="zh-CN" altLang="en-US" sz="3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1.88 倍</a:t>
            </a:r>
            <a:endParaRPr lang="zh-CN" sz="3400" dirty="0"/>
          </a:p>
        </p:txBody>
      </p:sp>
      <p:sp>
        <p:nvSpPr>
          <p:cNvPr id="8" name="Text 5"/>
          <p:cNvSpPr/>
          <p:nvPr/>
        </p:nvSpPr>
        <p:spPr>
          <a:xfrm>
            <a:off x="6766560" y="25146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</a:t>
            </a:r>
            <a:endParaRPr lang="zh-CN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017520"/>
          <a:ext cx="4785055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914400"/>
                <a:gridCol w="896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指标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09.16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09.28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导航尝试次数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1.7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nc 发 CONNECT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16 秒后失败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 内核态占比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92.3%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83.3%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39%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稳定时资源数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113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208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766560" y="544068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资源数仍只有一半：主文档到手后派发子资源慢，时间耗在内核态。</a:t>
            </a:r>
            <a:endParaRPr lang="zh-CN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追平了哪些，还差哪些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追平或接近</a:t>
            </a:r>
            <a:endParaRPr lang="zh-CN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空系统调用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4129888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0.58×</a:t>
            </a:r>
            <a:endParaRPr lang="zh-CN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管道往返</a:t>
            </a:r>
            <a:endParaRPr lang="zh-CN" sz="1600" dirty="0"/>
          </a:p>
        </p:txBody>
      </p:sp>
      <p:sp>
        <p:nvSpPr>
          <p:cNvPr id="12" name="Text 10"/>
          <p:cNvSpPr/>
          <p:nvPr/>
        </p:nvSpPr>
        <p:spPr>
          <a:xfrm>
            <a:off x="4129888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0.44×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stat</a:t>
            </a:r>
            <a:endParaRPr lang="zh-CN" sz="1600" dirty="0"/>
          </a:p>
        </p:txBody>
      </p:sp>
      <p:sp>
        <p:nvSpPr>
          <p:cNvPr id="14" name="Text 12"/>
          <p:cNvSpPr/>
          <p:nvPr/>
        </p:nvSpPr>
        <p:spPr>
          <a:xfrm>
            <a:off x="4129888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0.80×</a:t>
            </a:r>
            <a:endParaRPr lang="zh-CN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unix socket 往返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4129888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1.16×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写文件（1024 页）</a:t>
            </a:r>
            <a:endParaRPr lang="zh-CN" sz="1600" dirty="0"/>
          </a:p>
        </p:txBody>
      </p:sp>
      <p:sp>
        <p:nvSpPr>
          <p:cNvPr id="18" name="Text 16"/>
          <p:cNvSpPr/>
          <p:nvPr/>
        </p:nvSpPr>
        <p:spPr>
          <a:xfrm>
            <a:off x="4129888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0.30×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</a:t>
            </a:r>
            <a:endParaRPr lang="zh-CN" sz="1600" dirty="0"/>
          </a:p>
        </p:txBody>
      </p:sp>
      <p:sp>
        <p:nvSpPr>
          <p:cNvPr id="20" name="Text 18"/>
          <p:cNvSpPr/>
          <p:nvPr/>
        </p:nvSpPr>
        <p:spPr>
          <a:xfrm>
            <a:off x="4129888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1.4×</a:t>
            </a:r>
            <a:endParaRPr lang="zh-CN" sz="1700" dirty="0"/>
          </a:p>
        </p:txBody>
      </p:sp>
      <p:sp>
        <p:nvSpPr>
          <p:cNvPr id="21" name="Shape 19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7328" y="196596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7328" y="19659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还没追平</a:t>
            </a:r>
            <a:endParaRPr lang="zh-CN" sz="1100" dirty="0"/>
          </a:p>
        </p:txBody>
      </p:sp>
      <p:sp>
        <p:nvSpPr>
          <p:cNvPr id="24" name="Text 22"/>
          <p:cNvSpPr/>
          <p:nvPr/>
        </p:nvSpPr>
        <p:spPr>
          <a:xfrm>
            <a:off x="6507328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解除映射</a:t>
            </a:r>
            <a:endParaRPr lang="zh-CN" sz="1600" dirty="0"/>
          </a:p>
        </p:txBody>
      </p:sp>
      <p:sp>
        <p:nvSpPr>
          <p:cNvPr id="25" name="Text 23"/>
          <p:cNvSpPr/>
          <p:nvPr/>
        </p:nvSpPr>
        <p:spPr>
          <a:xfrm>
            <a:off x="9768535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50–110×</a:t>
            </a:r>
            <a:endParaRPr lang="zh-CN" sz="1700" dirty="0"/>
          </a:p>
        </p:txBody>
      </p:sp>
      <p:sp>
        <p:nvSpPr>
          <p:cNvPr id="26" name="Text 24"/>
          <p:cNvSpPr/>
          <p:nvPr/>
        </p:nvSpPr>
        <p:spPr>
          <a:xfrm>
            <a:off x="6507328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fork（64 MiB）</a:t>
            </a:r>
            <a:endParaRPr lang="zh-CN" sz="1600" dirty="0"/>
          </a:p>
        </p:txBody>
      </p:sp>
      <p:sp>
        <p:nvSpPr>
          <p:cNvPr id="27" name="Text 25"/>
          <p:cNvSpPr/>
          <p:nvPr/>
        </p:nvSpPr>
        <p:spPr>
          <a:xfrm>
            <a:off x="9768535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82×</a:t>
            </a:r>
            <a:endParaRPr lang="zh-CN" sz="1700" dirty="0"/>
          </a:p>
        </p:txBody>
      </p:sp>
      <p:sp>
        <p:nvSpPr>
          <p:cNvPr id="28" name="Text 26"/>
          <p:cNvSpPr/>
          <p:nvPr/>
        </p:nvSpPr>
        <p:spPr>
          <a:xfrm>
            <a:off x="6507328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1600" dirty="0"/>
          </a:p>
        </p:txBody>
      </p:sp>
      <p:sp>
        <p:nvSpPr>
          <p:cNvPr id="29" name="Text 27"/>
          <p:cNvSpPr/>
          <p:nvPr/>
        </p:nvSpPr>
        <p:spPr>
          <a:xfrm>
            <a:off x="9768535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66×</a:t>
            </a:r>
            <a:endParaRPr lang="zh-CN" sz="1700" dirty="0"/>
          </a:p>
        </p:txBody>
      </p:sp>
      <p:sp>
        <p:nvSpPr>
          <p:cNvPr id="30" name="Text 28"/>
          <p:cNvSpPr/>
          <p:nvPr/>
        </p:nvSpPr>
        <p:spPr>
          <a:xfrm>
            <a:off x="6507328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mmap（1024 个映射）</a:t>
            </a:r>
            <a:endParaRPr lang="zh-CN" sz="1600" dirty="0"/>
          </a:p>
        </p:txBody>
      </p:sp>
      <p:sp>
        <p:nvSpPr>
          <p:cNvPr id="31" name="Text 29"/>
          <p:cNvSpPr/>
          <p:nvPr/>
        </p:nvSpPr>
        <p:spPr>
          <a:xfrm>
            <a:off x="9768535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47×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6507328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信号投递</a:t>
            </a:r>
            <a:endParaRPr lang="zh-CN" sz="1600" dirty="0"/>
          </a:p>
        </p:txBody>
      </p:sp>
      <p:sp>
        <p:nvSpPr>
          <p:cNvPr id="33" name="Text 31"/>
          <p:cNvSpPr/>
          <p:nvPr/>
        </p:nvSpPr>
        <p:spPr>
          <a:xfrm>
            <a:off x="9768535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30×</a:t>
            </a:r>
            <a:endParaRPr lang="zh-CN" sz="1700" dirty="0"/>
          </a:p>
        </p:txBody>
      </p:sp>
      <p:sp>
        <p:nvSpPr>
          <p:cNvPr id="34" name="Text 32"/>
          <p:cNvSpPr/>
          <p:nvPr/>
        </p:nvSpPr>
        <p:spPr>
          <a:xfrm>
            <a:off x="6507328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缺页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9768535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15×</a:t>
            </a:r>
            <a:endParaRPr lang="zh-CN" sz="1700" dirty="0"/>
          </a:p>
        </p:txBody>
      </p:sp>
      <p:sp>
        <p:nvSpPr>
          <p:cNvPr id="36" name="Text 34"/>
          <p:cNvSpPr/>
          <p:nvPr/>
        </p:nvSpPr>
        <p:spPr>
          <a:xfrm>
            <a:off x="640080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StarryOS 耗时除以 Linux 耗时，取修复后的值。</a:t>
            </a:r>
            <a:endParaRPr lang="zh-CN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三套系统调用参考实现，目标是各自跑通对应平台的 CPython 3.14</a:t>
            </a:r>
            <a:endParaRPr lang="zh-CN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 Personality 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905658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5658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23/23</a:t>
            </a:r>
            <a:endParaRPr lang="zh-CN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套件全过</a:t>
            </a:r>
            <a:endParaRPr lang="zh-CN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Alpine 的 CPython 3.14.7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原有的 Linux 系统调用迁入；ELF 加载也归它，内核不再解析 ELF。</a:t>
            </a:r>
            <a:endParaRPr lang="zh-CN" sz="1400" dirty="0"/>
          </a:p>
        </p:txBody>
      </p:sp>
      <p:sp>
        <p:nvSpPr>
          <p:cNvPr id="15" name="Shape 13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7298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634277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4277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100" dirty="0"/>
          </a:p>
        </p:txBody>
      </p:sp>
      <p:sp>
        <p:nvSpPr>
          <p:cNvPr id="19" name="Text 17"/>
          <p:cNvSpPr/>
          <p:nvPr/>
        </p:nvSpPr>
        <p:spPr>
          <a:xfrm>
            <a:off x="4597298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19/23</a:t>
            </a:r>
            <a:endParaRPr lang="zh-CN" sz="4400" dirty="0"/>
          </a:p>
        </p:txBody>
      </p:sp>
      <p:sp>
        <p:nvSpPr>
          <p:cNvPr id="20" name="Text 18"/>
          <p:cNvSpPr/>
          <p:nvPr/>
        </p:nvSpPr>
        <p:spPr>
          <a:xfrm>
            <a:off x="4597298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套件模块通过</a:t>
            </a:r>
            <a:endParaRPr lang="zh-CN" sz="1300" dirty="0"/>
          </a:p>
        </p:txBody>
      </p:sp>
      <p:sp>
        <p:nvSpPr>
          <p:cNvPr id="21" name="Text 19"/>
          <p:cNvSpPr/>
          <p:nvPr/>
        </p:nvSpPr>
        <p:spPr>
          <a:xfrm>
            <a:off x="4597298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4597298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Windows 版 3.14.7</a:t>
            </a:r>
            <a:endParaRPr lang="zh-CN" sz="1500" dirty="0"/>
          </a:p>
        </p:txBody>
      </p:sp>
      <p:sp>
        <p:nvSpPr>
          <p:cNvPr id="23" name="Text 21"/>
          <p:cNvSpPr/>
          <p:nvPr/>
        </p:nvSpPr>
        <p:spPr>
          <a:xfrm>
            <a:off x="4597298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 调用与 Win32；14 个系统库在进程里合成；运行时加载 .pyd；进程、线程、完成端口。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5917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700" dirty="0"/>
          </a:p>
        </p:txBody>
      </p:sp>
      <p:sp>
        <p:nvSpPr>
          <p:cNvPr id="26" name="Shape 24"/>
          <p:cNvSpPr/>
          <p:nvPr/>
        </p:nvSpPr>
        <p:spPr>
          <a:xfrm>
            <a:off x="10362895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62895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100" dirty="0"/>
          </a:p>
        </p:txBody>
      </p:sp>
      <p:sp>
        <p:nvSpPr>
          <p:cNvPr id="28" name="Text 26"/>
          <p:cNvSpPr/>
          <p:nvPr/>
        </p:nvSpPr>
        <p:spPr>
          <a:xfrm>
            <a:off x="8325917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main</a:t>
            </a:r>
            <a:endParaRPr lang="zh-CN" sz="4400" dirty="0"/>
          </a:p>
        </p:txBody>
      </p:sp>
      <p:sp>
        <p:nvSpPr>
          <p:cNvPr id="29" name="Text 27"/>
          <p:cNvSpPr/>
          <p:nvPr/>
        </p:nvSpPr>
        <p:spPr>
          <a:xfrm>
            <a:off x="8325917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加载、绑定、进到 main 已通</a:t>
            </a:r>
            <a:endParaRPr lang="zh-CN" sz="1300" dirty="0"/>
          </a:p>
        </p:txBody>
      </p:sp>
      <p:sp>
        <p:nvSpPr>
          <p:cNvPr id="30" name="Text 28"/>
          <p:cNvSpPr/>
          <p:nvPr/>
        </p:nvSpPr>
        <p:spPr>
          <a:xfrm>
            <a:off x="8325917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8325917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自制 Mach-O，形状同真实程序</a:t>
            </a:r>
            <a:endParaRPr lang="zh-CN" sz="1500" dirty="0"/>
          </a:p>
        </p:txBody>
      </p:sp>
      <p:sp>
        <p:nvSpPr>
          <p:cNvPr id="32" name="Text 30"/>
          <p:cNvSpPr/>
          <p:nvPr/>
        </p:nvSpPr>
        <p:spPr>
          <a:xfrm>
            <a:off x="8325917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BSD 调用；读 dyld 的操作码流；libSystem 的入口在进程里合成。官方 macOS 版 CPython 还没跑起来。</a:t>
            </a:r>
            <a:endParaRPr lang="zh-CN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套件共 23 个模块：语言与标准库、线程、多进程、网络与设备。不套用现成的用户态实现。</a:t>
            </a:r>
            <a:endParaRPr lang="zh-CN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同一个内核：ELF 的 shell 里起 PE 的 python.exe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zh-CN" sz="1000" dirty="0"/>
          </a:p>
        </p:txBody>
      </p:sp>
      <p:pic>
        <p:nvPicPr>
          <p:cNvPr id="6" name="Image 0" descr="C:\Users\heke\AppData\Local\Temp\claude\C--Users-heke-AllProjects-TempFolder-rcore\1c6e91ee-4f87-4550-9a26-b0faa3d92502\scratchpad\deck2\img\p2202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0911535" cy="19072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0" name="Text 7"/>
          <p:cNvSpPr/>
          <p:nvPr/>
        </p:nvSpPr>
        <p:spPr>
          <a:xfrm>
            <a:off x="841248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python.exe、python314.dll、vcruntime140.dll、ucrtbase.dll 逐个映射，日志来自内核里的适配器</a:t>
            </a:r>
            <a:endParaRPr lang="zh-CN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9866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69866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4569866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入口落到 ax-abi-windows；ELF 的 shell 仍走 ax-abi-linux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8097317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98485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98485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结果</a:t>
            </a:r>
            <a:endParaRPr lang="zh-CN" sz="1200" dirty="0"/>
          </a:p>
        </p:txBody>
      </p:sp>
      <p:sp>
        <p:nvSpPr>
          <p:cNvPr id="18" name="Text 15"/>
          <p:cNvSpPr/>
          <p:nvPr/>
        </p:nvSpPr>
        <p:spPr>
          <a:xfrm>
            <a:off x="8298485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解释器报 Python 3.14.7 … on win32，进入交互</a:t>
            </a:r>
            <a:endParaRPr lang="zh-CN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579342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内核多开一个 abi-win，ELF 与 PE 同时可跑。</a:t>
            </a:r>
            <a:endParaRPr lang="zh-CN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920240"/>
            <a:ext cx="844265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1920240"/>
            <a:ext cx="8296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feature 选哪几套进链接，给出默认分发策略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10911535" cy="1188720"/>
          </a:xfrm>
          <a:prstGeom prst="roundRect">
            <a:avLst>
              <a:gd name="adj" fmla="val 923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8803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系统调用参考实现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2926080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4651187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4339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6376294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9446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8101401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74553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ax-abi-embedded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向量表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9826508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9660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ax-abi-custom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保留号段的扩展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0624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0624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框架</a:t>
            </a:r>
            <a:endParaRPr lang="zh-CN" sz="1500" dirty="0"/>
          </a:p>
        </p:txBody>
      </p:sp>
      <p:sp>
        <p:nvSpPr>
          <p:cNvPr id="24" name="Shape 22"/>
          <p:cNvSpPr/>
          <p:nvPr/>
        </p:nvSpPr>
        <p:spPr>
          <a:xfrm>
            <a:off x="2926080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9232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登记与分发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5801258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4410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识别与加载格式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676437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49589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30352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303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</a:t>
            </a:r>
            <a:endParaRPr lang="zh-CN" sz="1500" dirty="0"/>
          </a:p>
        </p:txBody>
      </p:sp>
      <p:sp>
        <p:nvSpPr>
          <p:cNvPr id="32" name="Shape 30"/>
          <p:cNvSpPr/>
          <p:nvPr/>
        </p:nvSpPr>
        <p:spPr>
          <a:xfrm>
            <a:off x="2926080" y="5440680"/>
            <a:ext cx="844265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5440680"/>
            <a:ext cx="8296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StarryOS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fd 表、地址空间、线程、时钟：端口只实现一遍</a:t>
            </a:r>
            <a:endParaRPr lang="zh-CN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架构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系统调用为什么能拆出来，拆出来之后怎么接回去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硬件还是硬件，软件还是软件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应用程序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sys_read</a:t>
            </a:r>
            <a:endParaRPr lang="zh-CN" sz="1700" dirty="0"/>
          </a:p>
        </p:txBody>
      </p:sp>
      <p:sp>
        <p:nvSpPr>
          <p:cNvPr id="11" name="Shape 9"/>
          <p:cNvSpPr/>
          <p:nvPr/>
        </p:nvSpPr>
        <p:spPr>
          <a:xfrm>
            <a:off x="283464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NtReadFile</a:t>
            </a:r>
            <a:endParaRPr lang="zh-CN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BSD read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297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同一项能力：读文件</a:t>
            </a:r>
            <a:endParaRPr lang="zh-CN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7498080" y="1783080"/>
            <a:ext cx="4053535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中间的操作系统，只是用不同的规范组织同一批能力。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系统调用是把能力接到应用上的那张表，像中断向量表。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把它与内核解耦：能力按 feature 注册，注册的排列组合成当前的 syscall。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Linux、Windows、macOS 三种样式作为参考实现。</a:t>
            </a:r>
            <a:endParaRPr lang="zh-CN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拆之前，拆之后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之前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加载器只认 ELF。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handle_syscall 是一张按 Linux 调用号写死的表。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错误只会编码成负 errno。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想跑别的 ABI，只能改内核。</a:t>
            </a:r>
            <a:endParaRPr lang="zh-CN" sz="1800" dirty="0"/>
          </a:p>
        </p:txBody>
      </p:sp>
      <p:sp>
        <p:nvSpPr>
          <p:cNvPr id="10" name="Shape 8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507328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内核只留能力端口，实现一遍。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每套参考实现是一个包，链接进来就自己注册。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返回值由实现自己写回：负 errno、NTSTATUS、errno 加进位标志。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摘掉一个包，内核不用改。</a:t>
            </a:r>
            <a:endParaRPr lang="zh-CN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两种用法：直接依赖对应的包，或用分发包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77393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直接依赖对应的包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  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分发策略自己写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 TrapDispatch for Mine { .. }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只要其中一套，或者要自己的分发顺序时用。依赖哪个包，哪个包就在；策略由宿主实现。</a:t>
            </a:r>
            <a:endParaRPr lang="zh-CN" sz="1500" dirty="0"/>
          </a:p>
        </p:txBody>
      </p:sp>
      <p:sp>
        <p:nvSpPr>
          <p:cNvPr id="11" name="Shape 9"/>
          <p:cNvSpPr/>
          <p:nvPr/>
        </p:nvSpPr>
        <p:spPr>
          <a:xfrm>
            <a:off x="6278728" y="178308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8728" y="178308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用分发包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7328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 = { workspace = true, features = [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"linux", "linux-elf", "auto-dispatch",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]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[features]            # StarryOS 内核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abi-win = ["ax-abi/win"]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abi-mac = ["ax-abi/mac"]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6278728" y="4937760"/>
            <a:ext cx="5090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一个依赖拿全。feature 只决定哪些包进链接，进来的自己注册。分发包不做运行时选择，只给默认策略：按 abi_slot 取实现，没人认领的号交给扩展。</a:t>
            </a:r>
            <a:endParaRPr lang="zh-CN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进程控制块的改造：记下任务属于哪套 ABI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ProcessData {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..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所属实现在登记表里的位置，加一；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零表示还没定。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abi_slot: AtomicU32,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148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为什么要记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调用号在不同 ABI 之间相撞：NT 的 WriteFile 与 Linux 的 write 在 x86-64 上都是 1。只按号分发会分错。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8424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842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exec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89280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加载器认出镜像格式，查到对应实现的位置，写进 abi_slot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slot_of(format.abi())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20040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340156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4015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7498080" y="331012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子进程照抄父进程的值；再 exec 时按新镜像重置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7498080" y="40233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child.abi_slot = parent.abi_slot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61772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81888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8188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472744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读出 abi_slot，按下标直接取实现；不搜索，不比较</a:t>
            </a:r>
            <a:endParaRPr lang="zh-CN" sz="1500" dirty="0"/>
          </a:p>
        </p:txBody>
      </p:sp>
      <p:sp>
        <p:nvSpPr>
          <p:cNvPr id="24" name="Text 22"/>
          <p:cNvSpPr/>
          <p:nvPr/>
        </p:nvSpPr>
        <p:spPr>
          <a:xfrm>
            <a:off x="7498080" y="544068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dispatch_at(slot, env)</a:t>
            </a:r>
            <a:endParaRPr lang="zh-CN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一次陷入怎么走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用户态陷入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syscall 指令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290572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96312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9464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handle_syscall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内核入口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146804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TrapDispatch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4462272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分发包的策略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6003036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8776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6318504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abi_slot 取实现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7859268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65008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8174736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校验参数，决定语义与错误码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9715500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9439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400" dirty="0"/>
          </a:p>
        </p:txBody>
      </p:sp>
      <p:sp>
        <p:nvSpPr>
          <p:cNvPr id="28" name="Text 26"/>
          <p:cNvSpPr/>
          <p:nvPr/>
        </p:nvSpPr>
        <p:spPr>
          <a:xfrm>
            <a:off x="1003096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读写 fd 表、地址空间、线程</a:t>
            </a:r>
            <a:endParaRPr lang="zh-CN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返回值由认领的实现自己写回陷入帧</a:t>
            </a:r>
            <a:endParaRPr lang="zh-CN" sz="1700" dirty="0"/>
          </a:p>
        </p:txBody>
      </p:sp>
      <p:sp>
        <p:nvSpPr>
          <p:cNvPr id="30" name="Shape 28"/>
          <p:cNvSpPr/>
          <p:nvPr/>
        </p:nvSpPr>
        <p:spPr>
          <a:xfrm>
            <a:off x="640080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32" name="Text 30"/>
          <p:cNvSpPr/>
          <p:nvPr/>
        </p:nvSpPr>
        <p:spPr>
          <a:xfrm>
            <a:off x="2057400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 errno</a:t>
            </a:r>
            <a:endParaRPr lang="zh-CN" sz="1500" dirty="0"/>
          </a:p>
        </p:txBody>
      </p:sp>
      <p:sp>
        <p:nvSpPr>
          <p:cNvPr id="33" name="Shape 31"/>
          <p:cNvSpPr/>
          <p:nvPr/>
        </p:nvSpPr>
        <p:spPr>
          <a:xfrm>
            <a:off x="4353458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82058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5770778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NTSTATUS</a:t>
            </a:r>
            <a:endParaRPr lang="zh-CN" sz="1500" dirty="0"/>
          </a:p>
        </p:txBody>
      </p:sp>
      <p:sp>
        <p:nvSpPr>
          <p:cNvPr id="36" name="Shape 34"/>
          <p:cNvSpPr/>
          <p:nvPr/>
        </p:nvSpPr>
        <p:spPr>
          <a:xfrm>
            <a:off x="8066837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95437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</a:t>
            </a:r>
            <a:endParaRPr lang="zh-CN" sz="1600" dirty="0"/>
          </a:p>
        </p:txBody>
      </p:sp>
      <p:sp>
        <p:nvSpPr>
          <p:cNvPr id="38" name="Text 36"/>
          <p:cNvSpPr/>
          <p:nvPr/>
        </p:nvSpPr>
        <p:spPr>
          <a:xfrm>
            <a:off x="9484157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errno，并抬起进位标志</a:t>
            </a:r>
            <a:endParaRPr lang="zh-CN" sz="1500" dirty="0"/>
          </a:p>
        </p:txBody>
      </p:sp>
      <p:sp>
        <p:nvSpPr>
          <p:cNvPr id="39" name="Text 37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参考实现只依赖端口，不依赖内核类型；用模拟端口就能在宿主机上做单元测试。</a:t>
            </a:r>
            <a:endParaRPr lang="zh-CN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三种二进制是如何加载的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读文件头 4096 字节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2654137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3593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3593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是 #! 就换成解释器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4887651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7107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7107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按魔数认格式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7121164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4062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062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交给认领的包加载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9354678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74134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74134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记下 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900" dirty="0"/>
          </a:p>
        </p:txBody>
      </p:sp>
      <p:sp>
        <p:nvSpPr>
          <p:cNvPr id="22" name="Text 20"/>
          <p:cNvSpPr/>
          <p:nvPr/>
        </p:nvSpPr>
        <p:spPr>
          <a:xfrm>
            <a:off x="2194560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\x7fELF</a:t>
            </a:r>
            <a:endParaRPr lang="zh-CN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 PT_LOAD 各段：文件背衬，写时复制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PT_INTERP 指向的解释器再加载一次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在栈上排好 argc、argv、envp、auxv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368698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7298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900" dirty="0"/>
          </a:p>
        </p:txBody>
      </p:sp>
      <p:sp>
        <p:nvSpPr>
          <p:cNvPr id="26" name="Text 24"/>
          <p:cNvSpPr/>
          <p:nvPr/>
        </p:nvSpPr>
        <p:spPr>
          <a:xfrm>
            <a:off x="5923178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MZ … PE\0\0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4597298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映射头与各节，做基址重定位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系统库不是文件：每个导入绑到一小段合成指令，执行即陷入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其余 DLL 从程序目录与 system32 找到后照样映射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</a:t>
            </a:r>
            <a:endParaRPr lang="zh-CN" sz="1400" dirty="0"/>
          </a:p>
        </p:txBody>
      </p:sp>
      <p:sp>
        <p:nvSpPr>
          <p:cNvPr id="28" name="Shape 26"/>
          <p:cNvSpPr/>
          <p:nvPr/>
        </p:nvSpPr>
        <p:spPr>
          <a:xfrm>
            <a:off x="8097317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5917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900" dirty="0"/>
          </a:p>
        </p:txBody>
      </p:sp>
      <p:sp>
        <p:nvSpPr>
          <p:cNvPr id="30" name="Text 28"/>
          <p:cNvSpPr/>
          <p:nvPr/>
        </p:nvSpPr>
        <p:spPr>
          <a:xfrm>
            <a:off x="9651797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0xfeedfacf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8325917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胖包按 CPU 类型挑出一片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LC_SEGMENT_64 原地映射，入口取 LC_MAIN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LC_DYLD_INFO_ONLY 的 bind 操作码流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符号绑到合成的 libSystem 入口</a:t>
            </a:r>
            <a:endParaRPr lang="zh-CN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三者的「文件偏移加长度」同构，走同一个映射操作。</a:t>
            </a:r>
            <a:endParaRPr lang="zh-CN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每个内核补丁对到 Linux 源码的具体行与 man 原文</a:t>
            </a:r>
            <a:endParaRPr lang="zh-CN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个内核补丁，全部完成溯源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溯源文件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68</a:t>
            </a:r>
            <a:endParaRPr lang="zh-CN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 65，审查中 3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3425114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994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源码链接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3607994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746</a:t>
            </a:r>
            <a:endParaRPr lang="zh-CN" sz="3000" dirty="0"/>
          </a:p>
        </p:txBody>
      </p:sp>
      <p:sp>
        <p:nvSpPr>
          <p:cNvPr id="13" name="Text 11"/>
          <p:cNvSpPr/>
          <p:nvPr/>
        </p:nvSpPr>
        <p:spPr>
          <a:xfrm>
            <a:off x="3607994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固定到同一提交的具体行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6210148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028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man 引文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6393028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</a:t>
            </a:r>
            <a:endParaRPr lang="zh-CN" sz="3000" dirty="0"/>
          </a:p>
        </p:txBody>
      </p:sp>
      <p:sp>
        <p:nvSpPr>
          <p:cNvPr id="17" name="Text 15"/>
          <p:cNvSpPr/>
          <p:nvPr/>
        </p:nvSpPr>
        <p:spPr>
          <a:xfrm>
            <a:off x="6393028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与 6.19 版原文逐字相同</a:t>
            </a:r>
            <a:endParaRPr lang="zh-CN" sz="1200" dirty="0"/>
          </a:p>
        </p:txBody>
      </p:sp>
      <p:sp>
        <p:nvSpPr>
          <p:cNvPr id="18" name="Shape 16"/>
          <p:cNvSpPr/>
          <p:nvPr/>
        </p:nvSpPr>
        <p:spPr>
          <a:xfrm>
            <a:off x="8995181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8061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带复核发现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9178061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zh-CN" sz="3000" dirty="0"/>
          </a:p>
        </p:txBody>
      </p:sp>
      <p:sp>
        <p:nvSpPr>
          <p:cNvPr id="21" name="Text 19"/>
          <p:cNvSpPr/>
          <p:nvPr/>
        </p:nvSpPr>
        <p:spPr>
          <a:xfrm>
            <a:off x="9178061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份</a:t>
            </a:r>
            <a:endParaRPr lang="zh-CN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3703320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70332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每份文件写什么</a:t>
            </a:r>
            <a:endParaRPr lang="zh-CN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问题与原因；改动与影响范围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依据：函数与行；man 原文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这处改动在当前 dev 上还在不在、在哪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引用由脚本逐条核对，零错误</a:t>
            </a:r>
            <a:endParaRPr lang="zh-CN" sz="1500" dirty="0"/>
          </a:p>
        </p:txBody>
      </p:sp>
      <p:sp>
        <p:nvSpPr>
          <p:cNvPr id="26" name="Shape 24"/>
          <p:cNvSpPr/>
          <p:nvPr/>
        </p:nvSpPr>
        <p:spPr>
          <a:xfrm>
            <a:off x="6278728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70332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07328" y="37033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发现分四类</a:t>
            </a:r>
            <a:endParaRPr lang="zh-CN" sz="1200" dirty="0"/>
          </a:p>
        </p:txBody>
      </p:sp>
      <p:sp>
        <p:nvSpPr>
          <p:cNvPr id="29" name="Text 27"/>
          <p:cNvSpPr/>
          <p:nvPr/>
        </p:nvSpPr>
        <p:spPr>
          <a:xfrm>
            <a:off x="6507328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补丁的行为与 Linux 仍有出入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正文与合入的 diff 不符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回归用例拦不住回归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改动已被后续提交取代</a:t>
            </a:r>
            <a:endParaRPr lang="zh-CN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mprotect 范围内的空洞（#918）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sys_mprotect 只查起始地址所在的映射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start_addr = VirtAddr::from(addr);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aspace.find_area(start_addr).is_none()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5292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3697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mm/mprotect.c 第 909 至 918 行、第 977 至 978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807208"/>
            <a:ext cx="8214055" cy="2103120"/>
          </a:xfrm>
          <a:prstGeom prst="roundRect">
            <a:avLst>
              <a:gd name="adj" fmla="val 4348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944368"/>
            <a:ext cx="77568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for_each_vma_range(vmi, vma, end)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if (vma-&gt;vm_start != tmp)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error = -ENOMEM;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break;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(!error &amp;&amp; tmp &lt; end)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error = -ENOMEM;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50657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657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498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修改之前先检查整段是否连续覆盖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502005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515721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!aspace.can_access_range(start_addr, length, MappingFlags::empty())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复核：Linux 遇到空洞时，空洞之前的部分已经生效；当前 dev 已由 #2261 改成同样的逐段提交。</a:t>
            </a:r>
            <a:endParaRPr lang="zh-CN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VMA 区间查找（#2302）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iter() 先把整棵树展开成向量，再丢掉不相交的项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188720"/>
          </a:xfrm>
          <a:prstGeom prst="roundRect">
            <a:avLst>
              <a:gd name="adj" fmla="val 769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fn lookup_range(&amp;self, range: VirtAddrRange) -&gt; Vec&lt;Arc&lt;VmaSnapshot&gt;&gt;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self.iter()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.filter(|vma| vma.range.overlaps(range))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.collect()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03580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3580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41985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find_vma_intersection()，mm/mmap.c 第 888 至 891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990088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127248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unsigned long index = start_addr;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mmap_assert_locked(mm);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mt_find(&amp;mm-&gt;mm_mt, &amp;index, end_addr - 1);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513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54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沿树下降，只访问与区间相交的节点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105656"/>
            <a:ext cx="8214055" cy="1920240"/>
          </a:xfrm>
          <a:prstGeom prst="roundRect">
            <a:avLst>
              <a:gd name="adj" fmla="val 476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242816"/>
            <a:ext cx="7756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vma = current.entry.snapshot.range;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range.start &lt; vma.start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!Self::visit_overlapping(&amp;current.left, range, visited, visit)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vma.overlaps(range) &amp;&amp; !visit(&amp;current.entry)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256 个 VMA 的树里查 1 个：访问的节点数从 256 降到搜索路径的长度。</a:t>
            </a:r>
            <a:endParaRPr lang="zh-CN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FIFO 的非阻塞写打开（#720）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781812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781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本 PR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2026-05 合入：不看有没有读端，一律返回 ENXIO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737360"/>
          </a:xfrm>
          <a:prstGeom prst="roundRect">
            <a:avLst>
              <a:gd name="adj" fmla="val 5263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flags &amp; O_NONBLOCK != 0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flags &amp; 0b11 == O_WRONLY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OpenResult::File(ref f) = result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Ok(meta) = f.location().metadata()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meta.node_type == NodeType::Fifo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Err(AxError::NoSuchDeviceOrAddress);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8444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9684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fs/pipe.c 第 1188 至 1190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3538728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675888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 = -ENXIO;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(!is_pipe &amp;&amp; (filp-&gt;f_flags &amp; O_NONBLOCK) &amp;&amp; !pipe-&gt;readers)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goto err;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1060704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1713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当前 dev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011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file/pipe/named.rs：按读端计数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47141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60857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access == PipeAccess::Write &amp;&amp; nonblocking &amp;&amp; state.readers == 0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Err(StarryError::NoSuchDeviceOrAddress);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溯源查出的偏差：有读端时补丁仍返回 ENXIO，与 Linux 不符；当前 dev 已改对。</a:t>
            </a:r>
            <a:endParaRPr lang="zh-CN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1463040" cy="146304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65176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92608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281635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163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个人</a:t>
            </a:r>
            <a:endParaRPr lang="zh-CN" sz="1300" dirty="0"/>
          </a:p>
        </p:txBody>
      </p:sp>
      <p:sp>
        <p:nvSpPr>
          <p:cNvPr id="8" name="Text 6"/>
          <p:cNvSpPr/>
          <p:nvPr/>
        </p:nvSpPr>
        <p:spPr>
          <a:xfrm>
            <a:off x="1783080" y="27432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闭关一段时间，消化现有的知识存量。</a:t>
            </a:r>
            <a:endParaRPr lang="zh-CN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91363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136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项目</a:t>
            </a:r>
            <a:endParaRPr lang="zh-CN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384048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完成深度学习库的测试；继续修缮系统调用的抽象包。</a:t>
            </a:r>
            <a:endParaRPr lang="zh-CN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谢谢</a:t>
            </a:r>
            <a:endParaRPr lang="zh-CN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StarryOS 实习总结</dc:title>
  <dc:subject>PptxGenJS Presentation</dc:subject>
  <dc:creator>程柯雷</dc:creator>
  <cp:lastModifiedBy>程柯雷</cp:lastModifiedBy>
  <cp:revision>1</cp:revision>
  <dcterms:created xsi:type="dcterms:W3CDTF">2026-10-03T21:29:08Z</dcterms:created>
  <dcterms:modified xsi:type="dcterms:W3CDTF">2026-10-03T21:29:08Z</dcterms:modified>
</cp:coreProperties>
</file>